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88" r:id="rId2"/>
    <p:sldId id="289" r:id="rId3"/>
    <p:sldId id="290" r:id="rId4"/>
    <p:sldId id="300" r:id="rId19"/>
    <p:sldId id="291" r:id="rId5"/>
    <p:sldId id="301" r:id="rId20"/>
    <p:sldId id="292" r:id="rId6"/>
    <p:sldId id="293" r:id="rId7"/>
    <p:sldId id="294" r:id="rId8"/>
    <p:sldId id="302" r:id="rId21"/>
    <p:sldId id="295" r:id="rId9"/>
    <p:sldId id="296" r:id="rId10"/>
    <p:sldId id="303" r:id="rId22"/>
    <p:sldId id="297" r:id="rId11"/>
    <p:sldId id="304" r:id="rId23"/>
    <p:sldId id="305" r:id="rId24"/>
    <p:sldId id="298" r:id="rId12"/>
    <p:sldId id="299" r:id="rId13"/>
    <p:sldId id="306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 snapToObjects="1">
      <p:cViewPr>
        <p:scale>
          <a:sx n="1" d="1"/>
          <a:sy n="1" d="1"/>
        </p:scale>
        <p:origin x="0" y="0"/>
      </p:cViewPr>
      <p:guideLst/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Perintah: npm run typecheck; npm run build. Fungsi: verifikasi tipe dan bundel produksi. Cara kerja: tsc memeriksa TypeScript, Next menyusun App Router. Hasil: keduanya exit 0; /api/ready tercantum. Screenshot ringkas berasal dari output aktual screenshots/21_build_aktual.txt.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Command: npm ci. Fungsi: memasang paket dari package-lock.json. Cara kerja: npm membangun ulang node_modules. Hasil: 37 paket, 0 vulnerability, exit 0. Output lengkap screenshots/13_npm_ci.txt.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Command: rg -n 'use client|fetch|LOCAL_API_URL|export async function' src/app/page.tsx src/app/api/notes/route.ts. Fungsi: menelusuri kode. Cara kerja: rg membaca source. Hasil: halaman adalah Client Component, Route Handler memegang URL API privat. Output lengkap screenshots/15_source_tour.txt.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Command: docker compose stop api; probe /api/health, /api/ready, /api/notes; docker compose start api; probe lagi. Fungsi: membedakan liveness dan readiness serta memastikan data pulih. Cara kerja: Next tetap hidup ketika API mati; PostgreSQL tidak dihentikan. Hasil: outage 200/503/503, pulih 200/200 dan catatan lama ditemukan. Output lengkap screenshots/18_outage_probe.txt dan 19_pemulihan.txt.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Command: Invoke-WebRequest POST /api/notes dengan title/content, lalu GET /api/notes. Fungsi: membuktikan tulis/baca dan korelasi log. Cara kerja: Next meneruskan ke API Lab 06; PostgreSQL menyimpan. Hasil: HTTP 201, header X-Request-ID, GET 200. ID cocok dengan event notes_proxy di terminal Next. Output lengkap screenshots/16_post_request_id.txt.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Command: dua POST /api/notes dengan payload tidak valid. Fungsi: memisahkan kesalahan pengguna dari outage. Cara kerja: Route Handler memvalidasi sebelum proxy. Hasil: HTTP 400 dengan pesan judul wajib dan JSON tidak valid. Output lengkap screenshots/17_validasi_aktual.txt.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Command: npm run check:local. Fungsi: menguji liveness, readiness, validasi, POST, GET, dan header request ID. Cara kerja: tests/challenge.mjs memanggil Next dan menyimpan catatan uji. Hasil: 9 PASS, 0 FAIL. Ini output aktual yang ditata ulang.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Command: git status --short; git check-ignore -v .env.local node_modules .next; git diff --cached --check. Fungsi: mencegah secret dan hasil build ikut commit. Cara kerja: .gitignore menyaring tiga path. Hasil: ketiganya diabaikan; contoh belum membuktikan push mahasiswa. Output lengkap screenshots/20_git_aman.txt.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5.png"/><Relationship Id="rId13" Type="http://schemas.openxmlformats.org/officeDocument/2006/relationships/image" Target="../media/image1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17.png"/><Relationship Id="rId5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18.png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19.png"/><Relationship Id="rId5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20.png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21.png"/><Relationship Id="rId5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22.png"/><Relationship Id="rId5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23.png"/><Relationship Id="rId5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 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228600"/>
            <a:ext cx="914400" cy="603504"/>
          </a:xfrm>
          <a:prstGeom prst="rect">
            <a:avLst/>
          </a:prstGeom>
        </p:spPr>
      </p:pic>
      <p:pic>
        <p:nvPicPr>
          <p:cNvPr id="15" name="Image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246888"/>
            <a:ext cx="1005840" cy="512064"/>
          </a:xfrm>
          <a:prstGeom prst="rect">
            <a:avLst/>
          </a:prstGeom>
        </p:spPr>
      </p:pic>
      <p:sp>
        <p:nvSpPr>
          <p:cNvPr id="4" name="Text 0">
            <a:extLst>
              <a:ext uri="{FF2B5EF4-FFF2-40B4-BE49-F238E27FC236}">
                <a16:creationId xmlns:a16="http://schemas.microsoft.com/office/drawing/2014/main" id="{9DB4F6C3-7E1E-4165-A7CB-86DF587C1F48}"/>
              </a:ext>
            </a:extLst>
          </p:cNvPr>
          <p:cNvSpPr>
            <a:spLocks noGrp="1"/>
          </p:cNvSpPr>
          <p:nvPr/>
        </p:nvSpPr>
        <p:spPr>
          <a:xfrm>
            <a:off x="457200" y="2468880"/>
            <a:ext cx="1124712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1400" b="1" spc="400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COMP6991031   |   PRAKTIKUM 8   |   100 MENIT</a:t>
            </a:r>
            <a:endParaRPr sz="1400"/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E852BF6E-4D5B-4BF3-974D-627B53ADA0CA}"/>
              </a:ext>
            </a:extLst>
          </p:cNvPr>
          <p:cNvSpPr>
            <a:spLocks noGrp="1"/>
          </p:cNvSpPr>
          <p:nvPr/>
        </p:nvSpPr>
        <p:spPr>
          <a:xfrm>
            <a:off x="457200" y="2788920"/>
            <a:ext cx="11247120" cy="777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4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NEXT.JS + VERCEL</a:t>
            </a:r>
            <a:endParaRPr sz="4400"/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AF43A70F-F5E8-482A-B129-547891546A02}"/>
              </a:ext>
            </a:extLst>
          </p:cNvPr>
          <p:cNvSpPr>
            <a:spLocks noGrp="1"/>
          </p:cNvSpPr>
          <p:nvPr/>
        </p:nvSpPr>
        <p:spPr>
          <a:xfrm>
            <a:off x="457200" y="3611880"/>
            <a:ext cx="1124712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2400" b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CLOUD NOTES FRONTEND</a:t>
            </a:r>
            <a:endParaRPr sz="2400"/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FC707375-F506-4FA6-A856-ADCF27425C12}"/>
              </a:ext>
            </a:extLst>
          </p:cNvPr>
          <p:cNvSpPr>
            <a:spLocks noGrp="1"/>
          </p:cNvSpPr>
          <p:nvPr/>
        </p:nvSpPr>
        <p:spPr>
          <a:xfrm>
            <a:off x="457200" y="4251960"/>
            <a:ext cx="1124712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6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Browser → Route Handler → API Compose → PostgreSQL</a:t>
            </a:r>
            <a:endParaRPr sz="1600"/>
          </a:p>
        </p:txBody>
      </p:sp>
      <p:sp>
        <p:nvSpPr>
          <p:cNvPr id="8" name="Shape 4">
            <a:extLst>
              <a:ext uri="{FF2B5EF4-FFF2-40B4-BE49-F238E27FC236}">
                <a16:creationId xmlns:a16="http://schemas.microsoft.com/office/drawing/2014/main" id="{8638E3EC-B711-4552-92CD-A21EE272396B}"/>
              </a:ext>
            </a:extLst>
          </p:cNvPr>
          <p:cNvSpPr>
            <a:spLocks noGrp="1"/>
          </p:cNvSpPr>
          <p:nvPr/>
        </p:nvSpPr>
        <p:spPr>
          <a:xfrm>
            <a:off x="5715000" y="4800600"/>
            <a:ext cx="731520" cy="54864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5F301E98-CA69-4022-A660-1FBC1E6E1DFC}"/>
              </a:ext>
            </a:extLst>
          </p:cNvPr>
          <p:cNvSpPr>
            <a:spLocks noGrp="1"/>
          </p:cNvSpPr>
          <p:nvPr/>
        </p:nvSpPr>
        <p:spPr>
          <a:xfrm>
            <a:off x="457200" y="4937760"/>
            <a:ext cx="1124712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1200" i="1" spc="300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PERTEMUAN 8  |  VERCEL DEEP DIVE</a:t>
            </a:r>
            <a:endParaRPr sz="1200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C8DD2F8E-B770-48C6-86B5-5C7B570362C9}"/>
              </a:ext>
            </a:extLst>
          </p:cNvPr>
          <p:cNvSpPr>
            <a:spLocks noGrp="1"/>
          </p:cNvSpPr>
          <p:nvPr/>
        </p:nvSpPr>
        <p:spPr>
          <a:xfrm>
            <a:off x="457200" y="5943600"/>
            <a:ext cx="1124712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Budi Juarto, S.T., M.Kom.</a:t>
            </a:r>
            <a:endParaRPr sz="1300"/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8F8F0226-45A1-4FDD-BDAB-B38C7A6870EF}"/>
              </a:ext>
            </a:extLst>
          </p:cNvPr>
          <p:cNvSpPr>
            <a:spLocks noGrp="1"/>
          </p:cNvSpPr>
          <p:nvPr/>
        </p:nvSpPr>
        <p:spPr>
          <a:xfrm>
            <a:off x="457200" y="6217920"/>
            <a:ext cx="1124712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1100" i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Departemen Informatika  -  BINUS @Bandung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117335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AB81816-7BA7-4C06-BA88-B5B5DB1C8BC5}"/>
              </a:ext>
            </a:extLst>
          </p:cNvPr>
          <p:cNvSpPr>
            <a:spLocks noGrp="1"/>
          </p:cNvSpPr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8</a:t>
            </a:r>
            <a:endParaRPr sz="9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8C22927-5839-4640-80B1-54E7F7EBDCE8}"/>
              </a:ext>
            </a:extLst>
          </p:cNvPr>
          <p:cNvSpPr>
            <a:spLocks noGrp="1"/>
          </p:cNvSpPr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</a:t>
            </a:r>
            <a:endParaRPr sz="9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FD0B2953-96A7-4962-BC9B-0F7B1B0B998C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43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44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>
            <a:extLst>
              <a:ext uri="{FF2B5EF4-FFF2-40B4-BE49-F238E27FC236}">
                <a16:creationId xmlns:a16="http://schemas.microsoft.com/office/drawing/2014/main" id="{87C91D17-E972-4EA0-B66F-B2B5215D3C81}"/>
              </a:ext>
            </a:extLst>
          </p:cNvPr>
          <p:cNvSpPr>
            <a:spLocks noGrp="1"/>
          </p:cNvSpPr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16B53859-6C65-4388-A6A1-EE95476B8578}"/>
              </a:ext>
            </a:extLst>
          </p:cNvPr>
          <p:cNvSpPr>
            <a:spLocks noGrp="1"/>
          </p:cNvSpPr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Alur praktik Lab 08</a:t>
            </a:r>
            <a:endParaRPr sz="22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1FC4183F-5010-4735-BC70-816E11A49463}"/>
              </a:ext>
            </a:extLst>
          </p:cNvPr>
          <p:cNvSpPr>
            <a:spLocks noGrp="1"/>
          </p:cNvSpPr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sv-SE"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Jalur lokal berjalan tanpa akun; Supabase dan Vercel menjadi perluasan</a:t>
            </a:r>
            <a:endParaRPr sz="120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9986C62F-8BF2-4BB6-9C79-2F0341FCEC87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8ADB6B50-E019-415C-9AE0-A000E45EF250}"/>
              </a:ext>
            </a:extLst>
          </p:cNvPr>
          <p:cNvSpPr>
            <a:spLocks noGrp="1"/>
          </p:cNvSpPr>
          <p:nvPr/>
        </p:nvSpPr>
        <p:spPr>
          <a:xfrm>
            <a:off x="685800" y="160020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 INTI</a:t>
            </a:r>
          </a:p>
          <a:p>
            <a:pPr marL="0" indent="0">
              <a:buNone/>
            </a:pPr>
            <a:endParaRPr lang="en-US" sz="1100" b="1" spc="300">
              <a:solidFill>
                <a:srgbClr val="F37021"/>
              </a:solidFill>
              <a:latin typeface="Calibri"/>
              <a:ea typeface="Calibri"/>
              <a:cs typeface="Calibri"/>
            </a:endParaRPr>
          </a:p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Kode yang tersedia</a:t>
            </a:r>
            <a:endParaRPr sz="1100"/>
          </a:p>
        </p:txBody>
      </p:sp>
      <p:pic>
        <p:nvPicPr>
          <p:cNvPr id="50" name="Imag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2697480"/>
            <a:ext cx="292608" cy="292608"/>
          </a:xfrm>
          <a:prstGeom prst="rect">
            <a:avLst/>
          </a:prstGeom>
        </p:spPr>
      </p:pic>
      <p:sp>
        <p:nvSpPr>
          <p:cNvPr id="13" name="Text 8">
            <a:extLst>
              <a:ext uri="{FF2B5EF4-FFF2-40B4-BE49-F238E27FC236}">
                <a16:creationId xmlns:a16="http://schemas.microsoft.com/office/drawing/2014/main" id="{A539B76C-2A31-4BAF-8066-94CC175FC21E}"/>
              </a:ext>
            </a:extLst>
          </p:cNvPr>
          <p:cNvSpPr>
            <a:spLocks noGrp="1"/>
          </p:cNvSpPr>
          <p:nvPr/>
        </p:nvSpPr>
        <p:spPr>
          <a:xfrm>
            <a:off x="1207008" y="26060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Jalankan API Compose Lab 06</a:t>
            </a:r>
            <a:endParaRPr sz="1600"/>
          </a:p>
        </p:txBody>
      </p:sp>
      <p:pic>
        <p:nvPicPr>
          <p:cNvPr id="52" name="Image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3200400"/>
            <a:ext cx="292608" cy="292608"/>
          </a:xfrm>
          <a:prstGeom prst="rect">
            <a:avLst/>
          </a:prstGeom>
        </p:spPr>
      </p:pic>
      <p:sp>
        <p:nvSpPr>
          <p:cNvPr id="15" name="Text 9">
            <a:extLst>
              <a:ext uri="{FF2B5EF4-FFF2-40B4-BE49-F238E27FC236}">
                <a16:creationId xmlns:a16="http://schemas.microsoft.com/office/drawing/2014/main" id="{156BAE9C-ACBD-4202-93EC-CFDE2AA48E79}"/>
              </a:ext>
            </a:extLst>
          </p:cNvPr>
          <p:cNvSpPr>
            <a:spLocks noGrp="1"/>
          </p:cNvSpPr>
          <p:nvPr/>
        </p:nvSpPr>
        <p:spPr>
          <a:xfrm>
            <a:off x="1207008" y="31089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Install Next.js dari lockfile</a:t>
            </a:r>
            <a:endParaRPr sz="1600"/>
          </a:p>
        </p:txBody>
      </p:sp>
      <p:pic>
        <p:nvPicPr>
          <p:cNvPr id="54" name="Image 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3703320"/>
            <a:ext cx="292608" cy="292608"/>
          </a:xfrm>
          <a:prstGeom prst="rect">
            <a:avLst/>
          </a:prstGeom>
        </p:spPr>
      </p:pic>
      <p:sp>
        <p:nvSpPr>
          <p:cNvPr id="17" name="Text 10">
            <a:extLst>
              <a:ext uri="{FF2B5EF4-FFF2-40B4-BE49-F238E27FC236}">
                <a16:creationId xmlns:a16="http://schemas.microsoft.com/office/drawing/2014/main" id="{62980BB8-E8B8-435B-9D7A-678D1A6158C7}"/>
              </a:ext>
            </a:extLst>
          </p:cNvPr>
          <p:cNvSpPr>
            <a:spLocks noGrp="1"/>
          </p:cNvSpPr>
          <p:nvPr/>
        </p:nvSpPr>
        <p:spPr>
          <a:xfrm>
            <a:off x="1207008" y="361188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Buka UI Cloud Notes di port 3000</a:t>
            </a:r>
            <a:endParaRPr sz="1600"/>
          </a:p>
        </p:txBody>
      </p:sp>
      <p:pic>
        <p:nvPicPr>
          <p:cNvPr id="56" name="Image 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4206240"/>
            <a:ext cx="292608" cy="292608"/>
          </a:xfrm>
          <a:prstGeom prst="rect">
            <a:avLst/>
          </a:prstGeom>
        </p:spPr>
      </p:pic>
      <p:sp>
        <p:nvSpPr>
          <p:cNvPr id="19" name="Text 11">
            <a:extLst>
              <a:ext uri="{FF2B5EF4-FFF2-40B4-BE49-F238E27FC236}">
                <a16:creationId xmlns:a16="http://schemas.microsoft.com/office/drawing/2014/main" id="{91EE37E5-51BF-420B-A442-EBD1F1949E8B}"/>
              </a:ext>
            </a:extLst>
          </p:cNvPr>
          <p:cNvSpPr>
            <a:spLocks noGrp="1"/>
          </p:cNvSpPr>
          <p:nvPr/>
        </p:nvSpPr>
        <p:spPr>
          <a:xfrm>
            <a:off x="1207008" y="411480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Bedakan /health dan /ready</a:t>
            </a:r>
            <a:endParaRPr sz="1600"/>
          </a:p>
        </p:txBody>
      </p:sp>
      <p:pic>
        <p:nvPicPr>
          <p:cNvPr id="58" name="Image 6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240" y="4709160"/>
            <a:ext cx="292608" cy="292608"/>
          </a:xfrm>
          <a:prstGeom prst="rect">
            <a:avLst/>
          </a:prstGeom>
        </p:spPr>
      </p:pic>
      <p:sp>
        <p:nvSpPr>
          <p:cNvPr id="21" name="Text 12">
            <a:extLst>
              <a:ext uri="{FF2B5EF4-FFF2-40B4-BE49-F238E27FC236}">
                <a16:creationId xmlns:a16="http://schemas.microsoft.com/office/drawing/2014/main" id="{21E81F79-D4B8-4E1C-A440-2CB7A25AD114}"/>
              </a:ext>
            </a:extLst>
          </p:cNvPr>
          <p:cNvSpPr>
            <a:spLocks noGrp="1"/>
          </p:cNvSpPr>
          <p:nvPr/>
        </p:nvSpPr>
        <p:spPr>
          <a:xfrm>
            <a:off x="1207008" y="461772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nn-NO"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Uji GET, POST, validasi 400</a:t>
            </a:r>
            <a:endParaRPr sz="1600"/>
          </a:p>
        </p:txBody>
      </p:sp>
      <p:pic>
        <p:nvPicPr>
          <p:cNvPr id="60" name="Image 7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212080"/>
            <a:ext cx="292608" cy="292608"/>
          </a:xfrm>
          <a:prstGeom prst="rect">
            <a:avLst/>
          </a:prstGeom>
        </p:spPr>
      </p:pic>
      <p:sp>
        <p:nvSpPr>
          <p:cNvPr id="23" name="Text 13">
            <a:extLst>
              <a:ext uri="{FF2B5EF4-FFF2-40B4-BE49-F238E27FC236}">
                <a16:creationId xmlns:a16="http://schemas.microsoft.com/office/drawing/2014/main" id="{F903B3A4-909A-424F-B414-E2EF49F8B4C4}"/>
              </a:ext>
            </a:extLst>
          </p:cNvPr>
          <p:cNvSpPr>
            <a:spLocks noGrp="1"/>
          </p:cNvSpPr>
          <p:nvPr/>
        </p:nvSpPr>
        <p:spPr>
          <a:xfrm>
            <a:off x="1207008" y="51206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nl-NL"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Jalankan 9 cek dan build</a:t>
            </a:r>
            <a:endParaRPr sz="1600"/>
          </a:p>
        </p:txBody>
      </p:sp>
      <p:pic>
        <p:nvPicPr>
          <p:cNvPr id="62" name="Image 8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77240" y="5715000"/>
            <a:ext cx="292608" cy="292608"/>
          </a:xfrm>
          <a:prstGeom prst="rect">
            <a:avLst/>
          </a:prstGeom>
        </p:spPr>
      </p:pic>
      <p:sp>
        <p:nvSpPr>
          <p:cNvPr id="25" name="Text 14">
            <a:extLst>
              <a:ext uri="{FF2B5EF4-FFF2-40B4-BE49-F238E27FC236}">
                <a16:creationId xmlns:a16="http://schemas.microsoft.com/office/drawing/2014/main" id="{C804BAC7-FACD-45B3-B994-6EE351246C93}"/>
              </a:ext>
            </a:extLst>
          </p:cNvPr>
          <p:cNvSpPr>
            <a:spLocks noGrp="1"/>
          </p:cNvSpPr>
          <p:nvPr/>
        </p:nvSpPr>
        <p:spPr>
          <a:xfrm>
            <a:off x="1207008" y="56235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Git aman; deploy cloud opsional</a:t>
            </a:r>
            <a:endParaRPr sz="1600"/>
          </a:p>
        </p:txBody>
      </p:sp>
      <p:sp>
        <p:nvSpPr>
          <p:cNvPr id="26" name="Shape 15">
            <a:extLst>
              <a:ext uri="{FF2B5EF4-FFF2-40B4-BE49-F238E27FC236}">
                <a16:creationId xmlns:a16="http://schemas.microsoft.com/office/drawing/2014/main" id="{27DA061B-1E9B-42BE-B9F9-301567526D8C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27" name="Text 16">
            <a:extLst>
              <a:ext uri="{FF2B5EF4-FFF2-40B4-BE49-F238E27FC236}">
                <a16:creationId xmlns:a16="http://schemas.microsoft.com/office/drawing/2014/main" id="{9F562716-5BEA-49B9-B313-CBC9E1812EBE}"/>
              </a:ext>
            </a:extLst>
          </p:cNvPr>
          <p:cNvSpPr>
            <a:spLocks noGrp="1"/>
          </p:cNvSpPr>
          <p:nvPr/>
        </p:nvSpPr>
        <p:spPr>
          <a:xfrm>
            <a:off x="6446520" y="160020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YANG DIKUMPULKAN</a:t>
            </a:r>
          </a:p>
          <a:p>
            <a:pPr marL="0" indent="0">
              <a:buNone/>
            </a:pPr>
            <a:endParaRPr lang="en-US" sz="1100" b="1" spc="300">
              <a:solidFill>
                <a:srgbClr val="F37021"/>
              </a:solidFill>
              <a:latin typeface="Calibri"/>
              <a:ea typeface="Calibri"/>
              <a:cs typeface="Calibri"/>
            </a:endParaRPr>
          </a:p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Hasil mesin sendiri</a:t>
            </a:r>
            <a:endParaRPr sz="1100"/>
          </a:p>
        </p:txBody>
      </p:sp>
      <p:sp>
        <p:nvSpPr>
          <p:cNvPr id="28" name="Text 17">
            <a:extLst>
              <a:ext uri="{FF2B5EF4-FFF2-40B4-BE49-F238E27FC236}">
                <a16:creationId xmlns:a16="http://schemas.microsoft.com/office/drawing/2014/main" id="{E7B48637-95B3-4E6B-95BE-190C028BF00D}"/>
              </a:ext>
            </a:extLst>
          </p:cNvPr>
          <p:cNvSpPr>
            <a:spLocks noGrp="1"/>
          </p:cNvSpPr>
          <p:nvPr/>
        </p:nvSpPr>
        <p:spPr>
          <a:xfrm>
            <a:off x="6446520" y="2606040"/>
            <a:ext cx="5029200" cy="274320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7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1. UI Cloud Notes dan catatan baru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7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2. Bukti /health, /ready, HTTP 400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7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3. 9 PASS dan build Next.js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7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4. Commit tanpa .env.local</a:t>
            </a:r>
            <a:endParaRPr sz="1700"/>
          </a:p>
        </p:txBody>
      </p:sp>
      <p:sp>
        <p:nvSpPr>
          <p:cNvPr id="29" name="Shape 18">
            <a:extLst>
              <a:ext uri="{FF2B5EF4-FFF2-40B4-BE49-F238E27FC236}">
                <a16:creationId xmlns:a16="http://schemas.microsoft.com/office/drawing/2014/main" id="{5FC90F39-0A0C-4C5E-97F0-96A85FB78E30}"/>
              </a:ext>
            </a:extLst>
          </p:cNvPr>
          <p:cNvSpPr>
            <a:spLocks noGrp="1"/>
          </p:cNvSpPr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30" name="Text 19">
            <a:extLst>
              <a:ext uri="{FF2B5EF4-FFF2-40B4-BE49-F238E27FC236}">
                <a16:creationId xmlns:a16="http://schemas.microsoft.com/office/drawing/2014/main" id="{F6BCC018-2BEA-400D-A688-46C42106CB48}"/>
              </a:ext>
            </a:extLst>
          </p:cNvPr>
          <p:cNvSpPr>
            <a:spLocks noGrp="1"/>
          </p:cNvSpPr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6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Ikuti modul mahasiswa untuk perintah lengkap</a:t>
            </a:r>
            <a:endParaRPr sz="1600"/>
          </a:p>
        </p:txBody>
      </p:sp>
    </p:spTree>
    <p:extLst>
      <p:ext uri="{BB962C8B-B14F-4D97-AF65-F5344CB8AC3E}">
        <p14:creationId xmlns:p14="http://schemas.microsoft.com/office/powerpoint/2010/main" val="4844670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6E334D5-F824-4D97-B9F4-B47EA47F13FF}"/>
              </a:ext>
            </a:extLst>
          </p:cNvPr>
          <p:cNvSpPr>
            <a:spLocks noGrp="1"/>
          </p:cNvSpPr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8</a:t>
            </a:r>
            <a:endParaRPr sz="9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7CF2DFF-44A6-461A-BCFC-98BFF0D711A1}"/>
              </a:ext>
            </a:extLst>
          </p:cNvPr>
          <p:cNvSpPr>
            <a:spLocks noGrp="1"/>
          </p:cNvSpPr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</a:t>
            </a:r>
            <a:endParaRPr sz="9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84C6D43-3C0E-4F1C-BC02-9380440ADE91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29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30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>
            <a:extLst>
              <a:ext uri="{FF2B5EF4-FFF2-40B4-BE49-F238E27FC236}">
                <a16:creationId xmlns:a16="http://schemas.microsoft.com/office/drawing/2014/main" id="{5D9E7369-98FF-462D-8B11-502EC7814917}"/>
              </a:ext>
            </a:extLst>
          </p:cNvPr>
          <p:cNvSpPr>
            <a:spLocks noGrp="1"/>
          </p:cNvSpPr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15026655-2B92-41AA-AEEE-89F9A20F94FF}"/>
              </a:ext>
            </a:extLst>
          </p:cNvPr>
          <p:cNvSpPr>
            <a:spLocks noGrp="1"/>
          </p:cNvSpPr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1 | Hidupkan API dan Next.js</a:t>
            </a:r>
            <a:endParaRPr sz="22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885A60BB-A2A9-493D-ADC9-0D0B3D1D0D20}"/>
              </a:ext>
            </a:extLst>
          </p:cNvPr>
          <p:cNvSpPr>
            <a:spLocks noGrp="1"/>
          </p:cNvSpPr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pt-BR"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Dua terminal pada dua repo yang terpisah</a:t>
            </a:r>
            <a:endParaRPr sz="120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5ACA5C2A-D149-4496-8774-9269EE7C0E79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>
              <a:ext uri="{FF2B5EF4-FFF2-40B4-BE49-F238E27FC236}">
                <a16:creationId xmlns:a16="http://schemas.microsoft.com/office/drawing/2014/main" id="{74BBAF80-BEBF-442C-9A6E-2D47EA89BAD7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>
              <a:ext uri="{FF2B5EF4-FFF2-40B4-BE49-F238E27FC236}">
                <a16:creationId xmlns:a16="http://schemas.microsoft.com/office/drawing/2014/main" id="{9B819F41-AC34-4952-ACEE-D9E19EB12D32}"/>
              </a:ext>
            </a:extLst>
          </p:cNvPr>
          <p:cNvSpPr>
            <a:spLocks noGrp="1"/>
          </p:cNvSpPr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81277D82-15D6-47A6-8CBF-975CDB9318CF}"/>
              </a:ext>
            </a:extLst>
          </p:cNvPr>
          <p:cNvSpPr>
            <a:spLocks noGrp="1"/>
          </p:cNvSpPr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3ACB177F-2C8A-4147-A1E1-1A38929A9AEB}"/>
              </a:ext>
            </a:extLst>
          </p:cNvPr>
          <p:cNvSpPr>
            <a:spLocks noGrp="1"/>
          </p:cNvSpPr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A21B1625-EEEE-4DC7-B109-6464E3458089}"/>
              </a:ext>
            </a:extLst>
          </p:cNvPr>
          <p:cNvSpPr>
            <a:spLocks noGrp="1"/>
          </p:cNvSpPr>
          <p:nvPr/>
        </p:nvSpPr>
        <p:spPr>
          <a:xfrm>
            <a:off x="1005840" y="1417320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Terminal A: repo Lab 06</a:t>
            </a:r>
            <a:endParaRPr sz="900"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6E80C728-195D-4DC7-8565-2CDF25AFBF7B}"/>
              </a:ext>
            </a:extLst>
          </p:cNvPr>
          <p:cNvSpPr>
            <a:spLocks noGrp="1"/>
          </p:cNvSpPr>
          <p:nvPr/>
        </p:nvSpPr>
        <p:spPr>
          <a:xfrm>
            <a:off x="594360" y="1783080"/>
            <a:ext cx="5303520" cy="4297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500">
                <a:solidFill>
                  <a:srgbClr val="FFFFFF"/>
                </a:solidFill>
                <a:latin typeface="Consolas" panose="020B0609020204030204" pitchFamily="49" charset="0"/>
                <a:ea typeface="Consolas"/>
                <a:cs typeface="Consolas"/>
              </a:rPr>
              <a:t>docker compose up --build -d
docker compose ps
# API tersedia di 127.0.0.1:8000.</a:t>
            </a:r>
            <a:endParaRPr sz="1500">
              <a:solidFill>
                <a:srgbClr val="FFFFFF"/>
              </a:solidFill>
              <a:latin typeface="Consolas" panose="020B0609020204030204" pitchFamily="49" charset="0"/>
            </a:endParaRPr>
          </a:p>
        </p:txBody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B4BF4DBE-D75E-4C6D-BBD6-31024BCC26DA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608384E9-2866-4166-B00C-7229CAF471A7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5BB387D9-2ED5-4348-824F-54E63CCE000E}"/>
              </a:ext>
            </a:extLst>
          </p:cNvPr>
          <p:cNvSpPr>
            <a:spLocks noGrp="1"/>
          </p:cNvSpPr>
          <p:nvPr/>
        </p:nvSpPr>
        <p:spPr>
          <a:xfrm>
            <a:off x="630936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0" name="Shape 16">
            <a:extLst>
              <a:ext uri="{FF2B5EF4-FFF2-40B4-BE49-F238E27FC236}">
                <a16:creationId xmlns:a16="http://schemas.microsoft.com/office/drawing/2014/main" id="{9BA2D88A-62A5-4AA4-9073-596E688C6E46}"/>
              </a:ext>
            </a:extLst>
          </p:cNvPr>
          <p:cNvSpPr>
            <a:spLocks noGrp="1"/>
          </p:cNvSpPr>
          <p:nvPr/>
        </p:nvSpPr>
        <p:spPr>
          <a:xfrm>
            <a:off x="644652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Shape 17">
            <a:extLst>
              <a:ext uri="{FF2B5EF4-FFF2-40B4-BE49-F238E27FC236}">
                <a16:creationId xmlns:a16="http://schemas.microsoft.com/office/drawing/2014/main" id="{FA4A4A10-7ADB-42BE-9A63-3BD65F824798}"/>
              </a:ext>
            </a:extLst>
          </p:cNvPr>
          <p:cNvSpPr>
            <a:spLocks noGrp="1"/>
          </p:cNvSpPr>
          <p:nvPr/>
        </p:nvSpPr>
        <p:spPr>
          <a:xfrm>
            <a:off x="658368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FE2852AB-8702-4D7E-9B9F-4844D7736CCE}"/>
              </a:ext>
            </a:extLst>
          </p:cNvPr>
          <p:cNvSpPr>
            <a:spLocks noGrp="1"/>
          </p:cNvSpPr>
          <p:nvPr/>
        </p:nvSpPr>
        <p:spPr>
          <a:xfrm>
            <a:off x="6766560" y="1417320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Terminal B: repo Lab 08</a:t>
            </a:r>
            <a:endParaRPr sz="900"/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304ECDAB-EDDF-4B77-B4DE-6905629EF8F5}"/>
              </a:ext>
            </a:extLst>
          </p:cNvPr>
          <p:cNvSpPr>
            <a:spLocks noGrp="1"/>
          </p:cNvSpPr>
          <p:nvPr/>
        </p:nvSpPr>
        <p:spPr>
          <a:xfrm>
            <a:off x="6355080" y="1783080"/>
            <a:ext cx="5212080" cy="4297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600">
                <a:solidFill>
                  <a:srgbClr val="FFFFFF"/>
                </a:solidFill>
                <a:latin typeface="Aptos" panose="020B0004020202020204" pitchFamily="34" charset="0"/>
                <a:ea typeface="Consolas"/>
                <a:cs typeface="Consolas"/>
              </a:rPr>
              <a:t>node --version  # minimal 20.9
npm ci          # versi dari lockfile
Copy-Item .env.example .env.local
npm run dev
# Buka http://localhost:3000.</a:t>
            </a:r>
            <a:endParaRPr sz="160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659403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B86DC9D-6623-4169-8C9C-3145D037D6C7}"/>
              </a:ext>
            </a:extLst>
          </p:cNvPr>
          <p:cNvSpPr>
            <a:spLocks noGrp="1"/>
          </p:cNvSpPr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8</a:t>
            </a:r>
            <a:endParaRPr sz="9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7DEE372-5732-46B2-A5A3-CCDCD1213C21}"/>
              </a:ext>
            </a:extLst>
          </p:cNvPr>
          <p:cNvSpPr>
            <a:spLocks noGrp="1"/>
          </p:cNvSpPr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5</a:t>
            </a:r>
            <a:endParaRPr sz="9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6444FE1B-E38D-44B3-AEA5-6826CCE7CA16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43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44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>
            <a:extLst>
              <a:ext uri="{FF2B5EF4-FFF2-40B4-BE49-F238E27FC236}">
                <a16:creationId xmlns:a16="http://schemas.microsoft.com/office/drawing/2014/main" id="{36B0E2A9-8B0F-4E12-8FC4-67BFE3E2DE48}"/>
              </a:ext>
            </a:extLst>
          </p:cNvPr>
          <p:cNvSpPr>
            <a:spLocks noGrp="1"/>
          </p:cNvSpPr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14FC51D3-657E-4EAF-997E-6D6EBC36EF94}"/>
              </a:ext>
            </a:extLst>
          </p:cNvPr>
          <p:cNvSpPr>
            <a:spLocks noGrp="1"/>
          </p:cNvSpPr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1 | Halaman Cloud Notes</a:t>
            </a:r>
            <a:endParaRPr sz="22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7E594147-411E-4AC6-83CD-7B64DE78AA3C}"/>
              </a:ext>
            </a:extLst>
          </p:cNvPr>
          <p:cNvSpPr>
            <a:spLocks noGrp="1"/>
          </p:cNvSpPr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Tampilan browser aktual setelah Next.js dan API Lab 06 hidup</a:t>
            </a:r>
            <a:endParaRPr sz="120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47D03B39-C6E8-4E2F-A24B-CE84DFAB5C6E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4EB8EF01-535D-434C-9834-F7C0DB32A871}"/>
              </a:ext>
            </a:extLst>
          </p:cNvPr>
          <p:cNvSpPr>
            <a:spLocks noGrp="1"/>
          </p:cNvSpPr>
          <p:nvPr/>
        </p:nvSpPr>
        <p:spPr>
          <a:xfrm>
            <a:off x="685800" y="160020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0" name="Imag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2697480"/>
            <a:ext cx="292608" cy="292608"/>
          </a:xfrm>
          <a:prstGeom prst="rect">
            <a:avLst/>
          </a:prstGeom>
        </p:spPr>
      </p:pic>
      <p:sp>
        <p:nvSpPr>
          <p:cNvPr id="13" name="Text 8">
            <a:extLst>
              <a:ext uri="{FF2B5EF4-FFF2-40B4-BE49-F238E27FC236}">
                <a16:creationId xmlns:a16="http://schemas.microsoft.com/office/drawing/2014/main" id="{BC75C696-B009-4DA0-B6B5-014B03C1C398}"/>
              </a:ext>
            </a:extLst>
          </p:cNvPr>
          <p:cNvSpPr>
            <a:spLocks noGrp="1"/>
          </p:cNvSpPr>
          <p:nvPr/>
        </p:nvSpPr>
        <p:spPr>
          <a:xfrm>
            <a:off x="1207008" y="26060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npm run dev menjalankan Next.js.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2" name="Image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3200400"/>
            <a:ext cx="292608" cy="292608"/>
          </a:xfrm>
          <a:prstGeom prst="rect">
            <a:avLst/>
          </a:prstGeom>
        </p:spPr>
      </p:pic>
      <p:sp>
        <p:nvSpPr>
          <p:cNvPr id="15" name="Text 9">
            <a:extLst>
              <a:ext uri="{FF2B5EF4-FFF2-40B4-BE49-F238E27FC236}">
                <a16:creationId xmlns:a16="http://schemas.microsoft.com/office/drawing/2014/main" id="{E14C470E-4009-4E53-A401-BC9A0E6B2543}"/>
              </a:ext>
            </a:extLst>
          </p:cNvPr>
          <p:cNvSpPr>
            <a:spLocks noGrp="1"/>
          </p:cNvSpPr>
          <p:nvPr/>
        </p:nvSpPr>
        <p:spPr>
          <a:xfrm>
            <a:off x="1207008" y="31089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Browser membuka host port 3000.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4" name="Image 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3703320"/>
            <a:ext cx="292608" cy="292608"/>
          </a:xfrm>
          <a:prstGeom prst="rect">
            <a:avLst/>
          </a:prstGeom>
        </p:spPr>
      </p:pic>
      <p:sp>
        <p:nvSpPr>
          <p:cNvPr id="17" name="Text 10">
            <a:extLst>
              <a:ext uri="{FF2B5EF4-FFF2-40B4-BE49-F238E27FC236}">
                <a16:creationId xmlns:a16="http://schemas.microsoft.com/office/drawing/2014/main" id="{E2F939ED-52DF-40AC-90C9-A5F70ECC71CB}"/>
              </a:ext>
            </a:extLst>
          </p:cNvPr>
          <p:cNvSpPr>
            <a:spLocks noGrp="1"/>
          </p:cNvSpPr>
          <p:nvPr/>
        </p:nvSpPr>
        <p:spPr>
          <a:xfrm>
            <a:off x="1207008" y="361188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Form Judul dan Isi berasal dari page.tsx.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6" name="Image 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4206240"/>
            <a:ext cx="292608" cy="292608"/>
          </a:xfrm>
          <a:prstGeom prst="rect">
            <a:avLst/>
          </a:prstGeom>
        </p:spPr>
      </p:pic>
      <p:sp>
        <p:nvSpPr>
          <p:cNvPr id="19" name="Text 11">
            <a:extLst>
              <a:ext uri="{FF2B5EF4-FFF2-40B4-BE49-F238E27FC236}">
                <a16:creationId xmlns:a16="http://schemas.microsoft.com/office/drawing/2014/main" id="{072F499A-13A1-4C2C-8CF8-C77B53D5C02F}"/>
              </a:ext>
            </a:extLst>
          </p:cNvPr>
          <p:cNvSpPr>
            <a:spLocks noGrp="1"/>
          </p:cNvSpPr>
          <p:nvPr/>
        </p:nvSpPr>
        <p:spPr>
          <a:xfrm>
            <a:off x="1207008" y="411480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Mode API lokal berarti proxy server aktif.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8" name="Image 6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240" y="4709160"/>
            <a:ext cx="292608" cy="292608"/>
          </a:xfrm>
          <a:prstGeom prst="rect">
            <a:avLst/>
          </a:prstGeom>
        </p:spPr>
      </p:pic>
      <p:sp>
        <p:nvSpPr>
          <p:cNvPr id="21" name="Text 12">
            <a:extLst>
              <a:ext uri="{FF2B5EF4-FFF2-40B4-BE49-F238E27FC236}">
                <a16:creationId xmlns:a16="http://schemas.microsoft.com/office/drawing/2014/main" id="{03AB7F58-6076-4C09-A764-280B14D4C56C}"/>
              </a:ext>
            </a:extLst>
          </p:cNvPr>
          <p:cNvSpPr>
            <a:spLocks noGrp="1"/>
          </p:cNvSpPr>
          <p:nvPr/>
        </p:nvSpPr>
        <p:spPr>
          <a:xfrm>
            <a:off x="1207008" y="461772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GET /api/notes mengisi daftar catatan.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60" name="Image 7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212080"/>
            <a:ext cx="292608" cy="292608"/>
          </a:xfrm>
          <a:prstGeom prst="rect">
            <a:avLst/>
          </a:prstGeom>
        </p:spPr>
      </p:pic>
      <p:sp>
        <p:nvSpPr>
          <p:cNvPr id="23" name="Text 13">
            <a:extLst>
              <a:ext uri="{FF2B5EF4-FFF2-40B4-BE49-F238E27FC236}">
                <a16:creationId xmlns:a16="http://schemas.microsoft.com/office/drawing/2014/main" id="{95BE7CB0-A044-427D-BF15-27117D43FFEB}"/>
              </a:ext>
            </a:extLst>
          </p:cNvPr>
          <p:cNvSpPr>
            <a:spLocks noGrp="1"/>
          </p:cNvSpPr>
          <p:nvPr/>
        </p:nvSpPr>
        <p:spPr>
          <a:xfrm>
            <a:off x="1207008" y="51206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Jika kosong, cek status Lab 06.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62" name="Image 8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77240" y="5715000"/>
            <a:ext cx="292608" cy="292608"/>
          </a:xfrm>
          <a:prstGeom prst="rect">
            <a:avLst/>
          </a:prstGeom>
        </p:spPr>
      </p:pic>
      <p:sp>
        <p:nvSpPr>
          <p:cNvPr id="25" name="Text 14">
            <a:extLst>
              <a:ext uri="{FF2B5EF4-FFF2-40B4-BE49-F238E27FC236}">
                <a16:creationId xmlns:a16="http://schemas.microsoft.com/office/drawing/2014/main" id="{527C8D15-8536-47E3-A393-186FC376AEAD}"/>
              </a:ext>
            </a:extLst>
          </p:cNvPr>
          <p:cNvSpPr>
            <a:spLocks noGrp="1"/>
          </p:cNvSpPr>
          <p:nvPr/>
        </p:nvSpPr>
        <p:spPr>
          <a:xfrm>
            <a:off x="1207008" y="56235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Jangan masukkan URL DB ke browser.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26" name="Shape 15">
            <a:extLst>
              <a:ext uri="{FF2B5EF4-FFF2-40B4-BE49-F238E27FC236}">
                <a16:creationId xmlns:a16="http://schemas.microsoft.com/office/drawing/2014/main" id="{3672B401-E733-488A-88AB-50E39EE359A7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27" name="Text 16">
            <a:extLst>
              <a:ext uri="{FF2B5EF4-FFF2-40B4-BE49-F238E27FC236}">
                <a16:creationId xmlns:a16="http://schemas.microsoft.com/office/drawing/2014/main" id="{4D1811A4-697E-416C-8C60-E950F6D38512}"/>
              </a:ext>
            </a:extLst>
          </p:cNvPr>
          <p:cNvSpPr>
            <a:spLocks noGrp="1"/>
          </p:cNvSpPr>
          <p:nvPr/>
        </p:nvSpPr>
        <p:spPr>
          <a:xfrm>
            <a:off x="6446520" y="160020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>
              <a:ext uri="{FF2B5EF4-FFF2-40B4-BE49-F238E27FC236}">
                <a16:creationId xmlns:a16="http://schemas.microsoft.com/office/drawing/2014/main" id="{37F9989B-60E8-4723-ACB9-FABB8D6B74F1}"/>
              </a:ext>
            </a:extLst>
          </p:cNvPr>
          <p:cNvSpPr>
            <a:spLocks noGrp="1"/>
          </p:cNvSpPr>
          <p:nvPr/>
        </p:nvSpPr>
        <p:spPr>
          <a:xfrm>
            <a:off x="6446520" y="2606040"/>
            <a:ext cx="5029200" cy="274320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>
              <a:ext uri="{FF2B5EF4-FFF2-40B4-BE49-F238E27FC236}">
                <a16:creationId xmlns:a16="http://schemas.microsoft.com/office/drawing/2014/main" id="{156ACB39-79D1-44EC-9D79-97EF1CD2E57B}"/>
              </a:ext>
            </a:extLst>
          </p:cNvPr>
          <p:cNvSpPr>
            <a:spLocks noGrp="1"/>
          </p:cNvSpPr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30" name="Text 19">
            <a:extLst>
              <a:ext uri="{FF2B5EF4-FFF2-40B4-BE49-F238E27FC236}">
                <a16:creationId xmlns:a16="http://schemas.microsoft.com/office/drawing/2014/main" id="{D775E1C8-95CA-49B0-BEA8-7C560A8E3A79}"/>
              </a:ext>
            </a:extLst>
          </p:cNvPr>
          <p:cNvSpPr>
            <a:spLocks noGrp="1"/>
          </p:cNvSpPr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sv-SE" sz="1500" i="1">
                <a:solidFill>
                  <a:srgbClr val="FFFFFF"/>
                </a:solidFill>
                <a:latin typeface="Aptos" panose="020B0004020202020204" pitchFamily="34" charset="0"/>
                <a:ea typeface="Calibri"/>
                <a:cs typeface="Calibri"/>
              </a:rPr>
              <a:t>Form dan daftar catatan tampil di browser.</a:t>
            </a:r>
            <a:endParaRPr sz="150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27C4808-AC66-AF3E-A0D5-CDA98B0ACEC6}"/>
              </a:ext>
            </a:extLst>
          </p:cNvPr>
          <p:cNvPicPr>
            <a:picLocks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8716" y="2057400"/>
            <a:ext cx="4684808" cy="3090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23806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6E334D5-F824-4D97-B9F4-B47EA47F13FF}"/>
              </a:ext>
            </a:extLst>
          </p:cNvPr>
          <p:cNvSpPr>
            <a:spLocks noGrp="1"/>
          </p:cNvSpPr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8</a:t>
            </a:r>
            <a:endParaRPr sz="9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7CF2DFF-44A6-461A-BCFC-98BFF0D711A1}"/>
              </a:ext>
            </a:extLst>
          </p:cNvPr>
          <p:cNvSpPr>
            <a:spLocks noGrp="1"/>
          </p:cNvSpPr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7</a:t>
            </a:r>
            <a:endParaRPr sz="9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84C6D43-3C0E-4F1C-BC02-9380440ADE91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29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30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>
            <a:extLst>
              <a:ext uri="{FF2B5EF4-FFF2-40B4-BE49-F238E27FC236}">
                <a16:creationId xmlns:a16="http://schemas.microsoft.com/office/drawing/2014/main" id="{5D9E7369-98FF-462D-8B11-502EC7814917}"/>
              </a:ext>
            </a:extLst>
          </p:cNvPr>
          <p:cNvSpPr>
            <a:spLocks noGrp="1"/>
          </p:cNvSpPr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15026655-2B92-41AA-AEEE-89F9A20F94FF}"/>
              </a:ext>
            </a:extLst>
          </p:cNvPr>
          <p:cNvSpPr>
            <a:spLocks noGrp="1"/>
          </p:cNvSpPr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2 | Bedakan liveness dan readiness</a:t>
            </a:r>
            <a:endParaRPr sz="22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885A60BB-A2A9-493D-ADC9-0D0B3D1D0D20}"/>
              </a:ext>
            </a:extLst>
          </p:cNvPr>
          <p:cNvSpPr>
            <a:spLocks noGrp="1"/>
          </p:cNvSpPr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Route Handler berjalan di server Next.js</a:t>
            </a:r>
            <a:endParaRPr sz="120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5ACA5C2A-D149-4496-8774-9269EE7C0E79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>
              <a:ext uri="{FF2B5EF4-FFF2-40B4-BE49-F238E27FC236}">
                <a16:creationId xmlns:a16="http://schemas.microsoft.com/office/drawing/2014/main" id="{74BBAF80-BEBF-442C-9A6E-2D47EA89BAD7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>
              <a:ext uri="{FF2B5EF4-FFF2-40B4-BE49-F238E27FC236}">
                <a16:creationId xmlns:a16="http://schemas.microsoft.com/office/drawing/2014/main" id="{9B819F41-AC34-4952-ACEE-D9E19EB12D32}"/>
              </a:ext>
            </a:extLst>
          </p:cNvPr>
          <p:cNvSpPr>
            <a:spLocks noGrp="1"/>
          </p:cNvSpPr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81277D82-15D6-47A6-8CBF-975CDB9318CF}"/>
              </a:ext>
            </a:extLst>
          </p:cNvPr>
          <p:cNvSpPr>
            <a:spLocks noGrp="1"/>
          </p:cNvSpPr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3ACB177F-2C8A-4147-A1E1-1A38929A9AEB}"/>
              </a:ext>
            </a:extLst>
          </p:cNvPr>
          <p:cNvSpPr>
            <a:spLocks noGrp="1"/>
          </p:cNvSpPr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A21B1625-EEEE-4DC7-B109-6464E3458089}"/>
              </a:ext>
            </a:extLst>
          </p:cNvPr>
          <p:cNvSpPr>
            <a:spLocks noGrp="1"/>
          </p:cNvSpPr>
          <p:nvPr/>
        </p:nvSpPr>
        <p:spPr>
          <a:xfrm>
            <a:off x="1005840" y="1417320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PowerShell: panggil endpoint</a:t>
            </a:r>
            <a:endParaRPr sz="900"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6E80C728-195D-4DC7-8565-2CDF25AFBF7B}"/>
              </a:ext>
            </a:extLst>
          </p:cNvPr>
          <p:cNvSpPr>
            <a:spLocks noGrp="1"/>
          </p:cNvSpPr>
          <p:nvPr/>
        </p:nvSpPr>
        <p:spPr>
          <a:xfrm>
            <a:off x="594360" y="1783080"/>
            <a:ext cx="5303520" cy="4297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500">
                <a:solidFill>
                  <a:srgbClr val="FFFFFF"/>
                </a:solidFill>
                <a:latin typeface="Consolas" panose="020B0609020204030204" pitchFamily="49" charset="0"/>
                <a:ea typeface="Consolas"/>
                <a:cs typeface="Consolas"/>
              </a:rPr>
              <a:t>Invoke-RestMethod http://127.0.0.1:3000/api/health
Invoke-RestMethod http://127.0.0.1:3000/api/ready
# Hentikan API Lab 06, lalu panggil /ready.
# Hidupkan kembali untuk langkah berikutnya.</a:t>
            </a:r>
            <a:endParaRPr sz="1500">
              <a:solidFill>
                <a:srgbClr val="FFFFFF"/>
              </a:solidFill>
              <a:latin typeface="Consolas" panose="020B0609020204030204" pitchFamily="49" charset="0"/>
            </a:endParaRPr>
          </a:p>
        </p:txBody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B4BF4DBE-D75E-4C6D-BBD6-31024BCC26DA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608384E9-2866-4166-B00C-7229CAF471A7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5BB387D9-2ED5-4348-824F-54E63CCE000E}"/>
              </a:ext>
            </a:extLst>
          </p:cNvPr>
          <p:cNvSpPr>
            <a:spLocks noGrp="1"/>
          </p:cNvSpPr>
          <p:nvPr/>
        </p:nvSpPr>
        <p:spPr>
          <a:xfrm>
            <a:off x="630936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0" name="Shape 16">
            <a:extLst>
              <a:ext uri="{FF2B5EF4-FFF2-40B4-BE49-F238E27FC236}">
                <a16:creationId xmlns:a16="http://schemas.microsoft.com/office/drawing/2014/main" id="{9BA2D88A-62A5-4AA4-9073-596E688C6E46}"/>
              </a:ext>
            </a:extLst>
          </p:cNvPr>
          <p:cNvSpPr>
            <a:spLocks noGrp="1"/>
          </p:cNvSpPr>
          <p:nvPr/>
        </p:nvSpPr>
        <p:spPr>
          <a:xfrm>
            <a:off x="644652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Shape 17">
            <a:extLst>
              <a:ext uri="{FF2B5EF4-FFF2-40B4-BE49-F238E27FC236}">
                <a16:creationId xmlns:a16="http://schemas.microsoft.com/office/drawing/2014/main" id="{FA4A4A10-7ADB-42BE-9A63-3BD65F824798}"/>
              </a:ext>
            </a:extLst>
          </p:cNvPr>
          <p:cNvSpPr>
            <a:spLocks noGrp="1"/>
          </p:cNvSpPr>
          <p:nvPr/>
        </p:nvSpPr>
        <p:spPr>
          <a:xfrm>
            <a:off x="658368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FE2852AB-8702-4D7E-9B9F-4844D7736CCE}"/>
              </a:ext>
            </a:extLst>
          </p:cNvPr>
          <p:cNvSpPr>
            <a:spLocks noGrp="1"/>
          </p:cNvSpPr>
          <p:nvPr/>
        </p:nvSpPr>
        <p:spPr>
          <a:xfrm>
            <a:off x="6766560" y="1417320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Kunci konsep route.ts</a:t>
            </a:r>
            <a:endParaRPr sz="900"/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304ECDAB-EDDF-4B77-B4DE-6905629EF8F5}"/>
              </a:ext>
            </a:extLst>
          </p:cNvPr>
          <p:cNvSpPr>
            <a:spLocks noGrp="1"/>
          </p:cNvSpPr>
          <p:nvPr/>
        </p:nvSpPr>
        <p:spPr>
          <a:xfrm>
            <a:off x="6355080" y="1783080"/>
            <a:ext cx="5212080" cy="4297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600">
                <a:solidFill>
                  <a:srgbClr val="FFFFFF"/>
                </a:solidFill>
                <a:latin typeface="Aptos" panose="020B0004020202020204" pitchFamily="34" charset="0"/>
                <a:ea typeface="Consolas"/>
                <a:cs typeface="Consolas"/>
              </a:rPr>
              <a:t>/health = proses Next.js merespons.
/ready = GET ke API Lab 06 /health.
Sukses: 200, status=ready.
Upstream mati: 503, status=unavailable.
AbortSignal.timeout(3000) membatasi tunggu.
Liveness sehat belum tentu siap melayani.</a:t>
            </a:r>
            <a:endParaRPr sz="160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74521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B86DC9D-6623-4169-8C9C-3145D037D6C7}"/>
              </a:ext>
            </a:extLst>
          </p:cNvPr>
          <p:cNvSpPr>
            <a:spLocks noGrp="1"/>
          </p:cNvSpPr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8</a:t>
            </a:r>
            <a:endParaRPr sz="9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7DEE372-5732-46B2-A5A3-CCDCD1213C21}"/>
              </a:ext>
            </a:extLst>
          </p:cNvPr>
          <p:cNvSpPr>
            <a:spLocks noGrp="1"/>
          </p:cNvSpPr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8</a:t>
            </a:r>
            <a:endParaRPr sz="9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6444FE1B-E38D-44B3-AEA5-6826CCE7CA16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43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44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>
            <a:extLst>
              <a:ext uri="{FF2B5EF4-FFF2-40B4-BE49-F238E27FC236}">
                <a16:creationId xmlns:a16="http://schemas.microsoft.com/office/drawing/2014/main" id="{36B0E2A9-8B0F-4E12-8FC4-67BFE3E2DE48}"/>
              </a:ext>
            </a:extLst>
          </p:cNvPr>
          <p:cNvSpPr>
            <a:spLocks noGrp="1"/>
          </p:cNvSpPr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14FC51D3-657E-4EAF-997E-6D6EBC36EF94}"/>
              </a:ext>
            </a:extLst>
          </p:cNvPr>
          <p:cNvSpPr>
            <a:spLocks noGrp="1"/>
          </p:cNvSpPr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2 | Readiness ketika dependensi hidup</a:t>
            </a:r>
            <a:endParaRPr sz="22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7E594147-411E-4AC6-83CD-7B64DE78AA3C}"/>
              </a:ext>
            </a:extLst>
          </p:cNvPr>
          <p:cNvSpPr>
            <a:spLocks noGrp="1"/>
          </p:cNvSpPr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GET /api/ready memeriksa API Lab 06 dari server Next.js</a:t>
            </a:r>
            <a:endParaRPr sz="120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47D03B39-C6E8-4E2F-A24B-CE84DFAB5C6E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4EB8EF01-535D-434C-9834-F7C0DB32A871}"/>
              </a:ext>
            </a:extLst>
          </p:cNvPr>
          <p:cNvSpPr>
            <a:spLocks noGrp="1"/>
          </p:cNvSpPr>
          <p:nvPr/>
        </p:nvSpPr>
        <p:spPr>
          <a:xfrm>
            <a:off x="685800" y="160020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0" name="Imag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2697480"/>
            <a:ext cx="292608" cy="292608"/>
          </a:xfrm>
          <a:prstGeom prst="rect">
            <a:avLst/>
          </a:prstGeom>
        </p:spPr>
      </p:pic>
      <p:sp>
        <p:nvSpPr>
          <p:cNvPr id="13" name="Text 8">
            <a:extLst>
              <a:ext uri="{FF2B5EF4-FFF2-40B4-BE49-F238E27FC236}">
                <a16:creationId xmlns:a16="http://schemas.microsoft.com/office/drawing/2014/main" id="{BC75C696-B009-4DA0-B6B5-014B03C1C398}"/>
              </a:ext>
            </a:extLst>
          </p:cNvPr>
          <p:cNvSpPr>
            <a:spLocks noGrp="1"/>
          </p:cNvSpPr>
          <p:nvPr/>
        </p:nvSpPr>
        <p:spPr>
          <a:xfrm>
            <a:off x="1207008" y="26060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Route membaca LOCAL_API_URL di server.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2" name="Image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3200400"/>
            <a:ext cx="292608" cy="292608"/>
          </a:xfrm>
          <a:prstGeom prst="rect">
            <a:avLst/>
          </a:prstGeom>
        </p:spPr>
      </p:pic>
      <p:sp>
        <p:nvSpPr>
          <p:cNvPr id="15" name="Text 9">
            <a:extLst>
              <a:ext uri="{FF2B5EF4-FFF2-40B4-BE49-F238E27FC236}">
                <a16:creationId xmlns:a16="http://schemas.microsoft.com/office/drawing/2014/main" id="{E14C470E-4009-4E53-A401-BC9A0E6B2543}"/>
              </a:ext>
            </a:extLst>
          </p:cNvPr>
          <p:cNvSpPr>
            <a:spLocks noGrp="1"/>
          </p:cNvSpPr>
          <p:nvPr/>
        </p:nvSpPr>
        <p:spPr>
          <a:xfrm>
            <a:off x="1207008" y="31089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Server memanggil Lab 06 /health.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4" name="Image 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3703320"/>
            <a:ext cx="292608" cy="292608"/>
          </a:xfrm>
          <a:prstGeom prst="rect">
            <a:avLst/>
          </a:prstGeom>
        </p:spPr>
      </p:pic>
      <p:sp>
        <p:nvSpPr>
          <p:cNvPr id="17" name="Text 10">
            <a:extLst>
              <a:ext uri="{FF2B5EF4-FFF2-40B4-BE49-F238E27FC236}">
                <a16:creationId xmlns:a16="http://schemas.microsoft.com/office/drawing/2014/main" id="{E2F939ED-52DF-40AC-90C9-A5F70ECC71CB}"/>
              </a:ext>
            </a:extLst>
          </p:cNvPr>
          <p:cNvSpPr>
            <a:spLocks noGrp="1"/>
          </p:cNvSpPr>
          <p:nvPr/>
        </p:nvSpPr>
        <p:spPr>
          <a:xfrm>
            <a:off x="1207008" y="361188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it-IT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HTTP 200 berarti dependensi tersedia.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6" name="Image 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4206240"/>
            <a:ext cx="292608" cy="292608"/>
          </a:xfrm>
          <a:prstGeom prst="rect">
            <a:avLst/>
          </a:prstGeom>
        </p:spPr>
      </p:pic>
      <p:sp>
        <p:nvSpPr>
          <p:cNvPr id="19" name="Text 11">
            <a:extLst>
              <a:ext uri="{FF2B5EF4-FFF2-40B4-BE49-F238E27FC236}">
                <a16:creationId xmlns:a16="http://schemas.microsoft.com/office/drawing/2014/main" id="{072F499A-13A1-4C2C-8CF8-C77B53D5C02F}"/>
              </a:ext>
            </a:extLst>
          </p:cNvPr>
          <p:cNvSpPr>
            <a:spLocks noGrp="1"/>
          </p:cNvSpPr>
          <p:nvPr/>
        </p:nvSpPr>
        <p:spPr>
          <a:xfrm>
            <a:off x="1207008" y="411480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Respons berisi dependency=lab06-api.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8" name="Image 6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240" y="4709160"/>
            <a:ext cx="292608" cy="292608"/>
          </a:xfrm>
          <a:prstGeom prst="rect">
            <a:avLst/>
          </a:prstGeom>
        </p:spPr>
      </p:pic>
      <p:sp>
        <p:nvSpPr>
          <p:cNvPr id="21" name="Text 12">
            <a:extLst>
              <a:ext uri="{FF2B5EF4-FFF2-40B4-BE49-F238E27FC236}">
                <a16:creationId xmlns:a16="http://schemas.microsoft.com/office/drawing/2014/main" id="{03AB7F58-6076-4C09-A764-280B14D4C56C}"/>
              </a:ext>
            </a:extLst>
          </p:cNvPr>
          <p:cNvSpPr>
            <a:spLocks noGrp="1"/>
          </p:cNvSpPr>
          <p:nvPr/>
        </p:nvSpPr>
        <p:spPr>
          <a:xfrm>
            <a:off x="1207008" y="461772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Browser hanya melihat status ringkas.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60" name="Image 7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212080"/>
            <a:ext cx="292608" cy="292608"/>
          </a:xfrm>
          <a:prstGeom prst="rect">
            <a:avLst/>
          </a:prstGeom>
        </p:spPr>
      </p:pic>
      <p:sp>
        <p:nvSpPr>
          <p:cNvPr id="23" name="Text 13">
            <a:extLst>
              <a:ext uri="{FF2B5EF4-FFF2-40B4-BE49-F238E27FC236}">
                <a16:creationId xmlns:a16="http://schemas.microsoft.com/office/drawing/2014/main" id="{95BE7CB0-A044-427D-BF15-27117D43FFEB}"/>
              </a:ext>
            </a:extLst>
          </p:cNvPr>
          <p:cNvSpPr>
            <a:spLocks noGrp="1"/>
          </p:cNvSpPr>
          <p:nvPr/>
        </p:nvSpPr>
        <p:spPr>
          <a:xfrm>
            <a:off x="1207008" y="51206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Jangan gunakan localhost Lab 06 di Vercel.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62" name="Image 8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77240" y="5715000"/>
            <a:ext cx="292608" cy="292608"/>
          </a:xfrm>
          <a:prstGeom prst="rect">
            <a:avLst/>
          </a:prstGeom>
        </p:spPr>
      </p:pic>
      <p:sp>
        <p:nvSpPr>
          <p:cNvPr id="25" name="Text 14">
            <a:extLst>
              <a:ext uri="{FF2B5EF4-FFF2-40B4-BE49-F238E27FC236}">
                <a16:creationId xmlns:a16="http://schemas.microsoft.com/office/drawing/2014/main" id="{527C8D15-8536-47E3-A393-186FC376AEAD}"/>
              </a:ext>
            </a:extLst>
          </p:cNvPr>
          <p:cNvSpPr>
            <a:spLocks noGrp="1"/>
          </p:cNvSpPr>
          <p:nvPr/>
        </p:nvSpPr>
        <p:spPr>
          <a:xfrm>
            <a:off x="1207008" y="56235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Cloud butuh backend yang dapat dijangkau.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26" name="Shape 15">
            <a:extLst>
              <a:ext uri="{FF2B5EF4-FFF2-40B4-BE49-F238E27FC236}">
                <a16:creationId xmlns:a16="http://schemas.microsoft.com/office/drawing/2014/main" id="{3672B401-E733-488A-88AB-50E39EE359A7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27" name="Text 16">
            <a:extLst>
              <a:ext uri="{FF2B5EF4-FFF2-40B4-BE49-F238E27FC236}">
                <a16:creationId xmlns:a16="http://schemas.microsoft.com/office/drawing/2014/main" id="{4D1811A4-697E-416C-8C60-E950F6D38512}"/>
              </a:ext>
            </a:extLst>
          </p:cNvPr>
          <p:cNvSpPr>
            <a:spLocks noGrp="1"/>
          </p:cNvSpPr>
          <p:nvPr/>
        </p:nvSpPr>
        <p:spPr>
          <a:xfrm>
            <a:off x="6446520" y="160020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>
              <a:ext uri="{FF2B5EF4-FFF2-40B4-BE49-F238E27FC236}">
                <a16:creationId xmlns:a16="http://schemas.microsoft.com/office/drawing/2014/main" id="{37F9989B-60E8-4723-ACB9-FABB8D6B74F1}"/>
              </a:ext>
            </a:extLst>
          </p:cNvPr>
          <p:cNvSpPr>
            <a:spLocks noGrp="1"/>
          </p:cNvSpPr>
          <p:nvPr/>
        </p:nvSpPr>
        <p:spPr>
          <a:xfrm>
            <a:off x="6446520" y="2606040"/>
            <a:ext cx="5029200" cy="274320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>
              <a:ext uri="{FF2B5EF4-FFF2-40B4-BE49-F238E27FC236}">
                <a16:creationId xmlns:a16="http://schemas.microsoft.com/office/drawing/2014/main" id="{156ACB39-79D1-44EC-9D79-97EF1CD2E57B}"/>
              </a:ext>
            </a:extLst>
          </p:cNvPr>
          <p:cNvSpPr>
            <a:spLocks noGrp="1"/>
          </p:cNvSpPr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30" name="Text 19">
            <a:extLst>
              <a:ext uri="{FF2B5EF4-FFF2-40B4-BE49-F238E27FC236}">
                <a16:creationId xmlns:a16="http://schemas.microsoft.com/office/drawing/2014/main" id="{D775E1C8-95CA-49B0-BEA8-7C560A8E3A79}"/>
              </a:ext>
            </a:extLst>
          </p:cNvPr>
          <p:cNvSpPr>
            <a:spLocks noGrp="1"/>
          </p:cNvSpPr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500" i="1">
                <a:solidFill>
                  <a:srgbClr val="FFFFFF"/>
                </a:solidFill>
                <a:latin typeface="Aptos" panose="020B0004020202020204" pitchFamily="34" charset="0"/>
                <a:ea typeface="Calibri"/>
                <a:cs typeface="Calibri"/>
              </a:rPr>
              <a:t>HTTP 200 dan status ready.</a:t>
            </a:r>
            <a:endParaRPr sz="150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F2662F0-577B-8115-1557-F68F930FAF80}"/>
              </a:ext>
            </a:extLst>
          </p:cNvPr>
          <p:cNvPicPr>
            <a:picLocks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8716" y="2057400"/>
            <a:ext cx="4684808" cy="3090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5563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B86DC9D-6623-4169-8C9C-3145D037D6C7}"/>
              </a:ext>
            </a:extLst>
          </p:cNvPr>
          <p:cNvSpPr>
            <a:spLocks noGrp="1"/>
          </p:cNvSpPr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8</a:t>
            </a:r>
            <a:endParaRPr sz="9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7DEE372-5732-46B2-A5A3-CCDCD1213C21}"/>
              </a:ext>
            </a:extLst>
          </p:cNvPr>
          <p:cNvSpPr>
            <a:spLocks noGrp="1"/>
          </p:cNvSpPr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9</a:t>
            </a:r>
            <a:endParaRPr sz="9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6444FE1B-E38D-44B3-AEA5-6826CCE7CA16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43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44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>
            <a:extLst>
              <a:ext uri="{FF2B5EF4-FFF2-40B4-BE49-F238E27FC236}">
                <a16:creationId xmlns:a16="http://schemas.microsoft.com/office/drawing/2014/main" id="{36B0E2A9-8B0F-4E12-8FC4-67BFE3E2DE48}"/>
              </a:ext>
            </a:extLst>
          </p:cNvPr>
          <p:cNvSpPr>
            <a:spLocks noGrp="1"/>
          </p:cNvSpPr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14FC51D3-657E-4EAF-997E-6D6EBC36EF94}"/>
              </a:ext>
            </a:extLst>
          </p:cNvPr>
          <p:cNvSpPr>
            <a:spLocks noGrp="1"/>
          </p:cNvSpPr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3 | Readiness saat API dimatikan</a:t>
            </a:r>
            <a:endParaRPr sz="22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7E594147-411E-4AC6-83CD-7B64DE78AA3C}"/>
              </a:ext>
            </a:extLst>
          </p:cNvPr>
          <p:cNvSpPr>
            <a:spLocks noGrp="1"/>
          </p:cNvSpPr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Simulasi gangguan yang diharapkan, bukan kegagalan Next.js</a:t>
            </a:r>
            <a:endParaRPr sz="120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47D03B39-C6E8-4E2F-A24B-CE84DFAB5C6E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4EB8EF01-535D-434C-9834-F7C0DB32A871}"/>
              </a:ext>
            </a:extLst>
          </p:cNvPr>
          <p:cNvSpPr>
            <a:spLocks noGrp="1"/>
          </p:cNvSpPr>
          <p:nvPr/>
        </p:nvSpPr>
        <p:spPr>
          <a:xfrm>
            <a:off x="685800" y="160020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0" name="Imag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2697480"/>
            <a:ext cx="292608" cy="292608"/>
          </a:xfrm>
          <a:prstGeom prst="rect">
            <a:avLst/>
          </a:prstGeom>
        </p:spPr>
      </p:pic>
      <p:sp>
        <p:nvSpPr>
          <p:cNvPr id="13" name="Text 8">
            <a:extLst>
              <a:ext uri="{FF2B5EF4-FFF2-40B4-BE49-F238E27FC236}">
                <a16:creationId xmlns:a16="http://schemas.microsoft.com/office/drawing/2014/main" id="{BC75C696-B009-4DA0-B6B5-014B03C1C398}"/>
              </a:ext>
            </a:extLst>
          </p:cNvPr>
          <p:cNvSpPr>
            <a:spLocks noGrp="1"/>
          </p:cNvSpPr>
          <p:nvPr/>
        </p:nvSpPr>
        <p:spPr>
          <a:xfrm>
            <a:off x="1207008" y="26060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Matikan hanya API Lab 06.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2" name="Image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3200400"/>
            <a:ext cx="292608" cy="292608"/>
          </a:xfrm>
          <a:prstGeom prst="rect">
            <a:avLst/>
          </a:prstGeom>
        </p:spPr>
      </p:pic>
      <p:sp>
        <p:nvSpPr>
          <p:cNvPr id="15" name="Text 9">
            <a:extLst>
              <a:ext uri="{FF2B5EF4-FFF2-40B4-BE49-F238E27FC236}">
                <a16:creationId xmlns:a16="http://schemas.microsoft.com/office/drawing/2014/main" id="{E14C470E-4009-4E53-A401-BC9A0E6B2543}"/>
              </a:ext>
            </a:extLst>
          </p:cNvPr>
          <p:cNvSpPr>
            <a:spLocks noGrp="1"/>
          </p:cNvSpPr>
          <p:nvPr/>
        </p:nvSpPr>
        <p:spPr>
          <a:xfrm>
            <a:off x="1207008" y="31089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Next.js /health tetap dapat 200.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4" name="Image 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3703320"/>
            <a:ext cx="292608" cy="292608"/>
          </a:xfrm>
          <a:prstGeom prst="rect">
            <a:avLst/>
          </a:prstGeom>
        </p:spPr>
      </p:pic>
      <p:sp>
        <p:nvSpPr>
          <p:cNvPr id="17" name="Text 10">
            <a:extLst>
              <a:ext uri="{FF2B5EF4-FFF2-40B4-BE49-F238E27FC236}">
                <a16:creationId xmlns:a16="http://schemas.microsoft.com/office/drawing/2014/main" id="{E2F939ED-52DF-40AC-90C9-A5F70ECC71CB}"/>
              </a:ext>
            </a:extLst>
          </p:cNvPr>
          <p:cNvSpPr>
            <a:spLocks noGrp="1"/>
          </p:cNvSpPr>
          <p:nvPr/>
        </p:nvSpPr>
        <p:spPr>
          <a:xfrm>
            <a:off x="1207008" y="361188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Next.js /ready kini memberi 503.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6" name="Image 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4206240"/>
            <a:ext cx="292608" cy="292608"/>
          </a:xfrm>
          <a:prstGeom prst="rect">
            <a:avLst/>
          </a:prstGeom>
        </p:spPr>
      </p:pic>
      <p:sp>
        <p:nvSpPr>
          <p:cNvPr id="19" name="Text 11">
            <a:extLst>
              <a:ext uri="{FF2B5EF4-FFF2-40B4-BE49-F238E27FC236}">
                <a16:creationId xmlns:a16="http://schemas.microsoft.com/office/drawing/2014/main" id="{072F499A-13A1-4C2C-8CF8-C77B53D5C02F}"/>
              </a:ext>
            </a:extLst>
          </p:cNvPr>
          <p:cNvSpPr>
            <a:spLocks noGrp="1"/>
          </p:cNvSpPr>
          <p:nvPr/>
        </p:nvSpPr>
        <p:spPr>
          <a:xfrm>
            <a:off x="1207008" y="411480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UI dapat menampilkan pesan API mati.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8" name="Image 6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240" y="4709160"/>
            <a:ext cx="292608" cy="292608"/>
          </a:xfrm>
          <a:prstGeom prst="rect">
            <a:avLst/>
          </a:prstGeom>
        </p:spPr>
      </p:pic>
      <p:sp>
        <p:nvSpPr>
          <p:cNvPr id="21" name="Text 12">
            <a:extLst>
              <a:ext uri="{FF2B5EF4-FFF2-40B4-BE49-F238E27FC236}">
                <a16:creationId xmlns:a16="http://schemas.microsoft.com/office/drawing/2014/main" id="{03AB7F58-6076-4C09-A764-280B14D4C56C}"/>
              </a:ext>
            </a:extLst>
          </p:cNvPr>
          <p:cNvSpPr>
            <a:spLocks noGrp="1"/>
          </p:cNvSpPr>
          <p:nvPr/>
        </p:nvSpPr>
        <p:spPr>
          <a:xfrm>
            <a:off x="1207008" y="461772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it-IT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Hidupkan kembali Compose Lab 06.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60" name="Image 7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212080"/>
            <a:ext cx="292608" cy="292608"/>
          </a:xfrm>
          <a:prstGeom prst="rect">
            <a:avLst/>
          </a:prstGeom>
        </p:spPr>
      </p:pic>
      <p:sp>
        <p:nvSpPr>
          <p:cNvPr id="23" name="Text 13">
            <a:extLst>
              <a:ext uri="{FF2B5EF4-FFF2-40B4-BE49-F238E27FC236}">
                <a16:creationId xmlns:a16="http://schemas.microsoft.com/office/drawing/2014/main" id="{95BE7CB0-A044-427D-BF15-27117D43FFEB}"/>
              </a:ext>
            </a:extLst>
          </p:cNvPr>
          <p:cNvSpPr>
            <a:spLocks noGrp="1"/>
          </p:cNvSpPr>
          <p:nvPr/>
        </p:nvSpPr>
        <p:spPr>
          <a:xfrm>
            <a:off x="1207008" y="51206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Ulangi /ready sampai 200.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62" name="Image 8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77240" y="5715000"/>
            <a:ext cx="292608" cy="292608"/>
          </a:xfrm>
          <a:prstGeom prst="rect">
            <a:avLst/>
          </a:prstGeom>
        </p:spPr>
      </p:pic>
      <p:sp>
        <p:nvSpPr>
          <p:cNvPr id="25" name="Text 14">
            <a:extLst>
              <a:ext uri="{FF2B5EF4-FFF2-40B4-BE49-F238E27FC236}">
                <a16:creationId xmlns:a16="http://schemas.microsoft.com/office/drawing/2014/main" id="{527C8D15-8536-47E3-A393-186FC376AEAD}"/>
              </a:ext>
            </a:extLst>
          </p:cNvPr>
          <p:cNvSpPr>
            <a:spLocks noGrp="1"/>
          </p:cNvSpPr>
          <p:nvPr/>
        </p:nvSpPr>
        <p:spPr>
          <a:xfrm>
            <a:off x="1207008" y="56235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Pisahkan liveness dan readiness.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26" name="Shape 15">
            <a:extLst>
              <a:ext uri="{FF2B5EF4-FFF2-40B4-BE49-F238E27FC236}">
                <a16:creationId xmlns:a16="http://schemas.microsoft.com/office/drawing/2014/main" id="{3672B401-E733-488A-88AB-50E39EE359A7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27" name="Text 16">
            <a:extLst>
              <a:ext uri="{FF2B5EF4-FFF2-40B4-BE49-F238E27FC236}">
                <a16:creationId xmlns:a16="http://schemas.microsoft.com/office/drawing/2014/main" id="{4D1811A4-697E-416C-8C60-E950F6D38512}"/>
              </a:ext>
            </a:extLst>
          </p:cNvPr>
          <p:cNvSpPr>
            <a:spLocks noGrp="1"/>
          </p:cNvSpPr>
          <p:nvPr/>
        </p:nvSpPr>
        <p:spPr>
          <a:xfrm>
            <a:off x="6446520" y="160020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>
              <a:ext uri="{FF2B5EF4-FFF2-40B4-BE49-F238E27FC236}">
                <a16:creationId xmlns:a16="http://schemas.microsoft.com/office/drawing/2014/main" id="{37F9989B-60E8-4723-ACB9-FABB8D6B74F1}"/>
              </a:ext>
            </a:extLst>
          </p:cNvPr>
          <p:cNvSpPr>
            <a:spLocks noGrp="1"/>
          </p:cNvSpPr>
          <p:nvPr/>
        </p:nvSpPr>
        <p:spPr>
          <a:xfrm>
            <a:off x="6446520" y="2606040"/>
            <a:ext cx="5029200" cy="274320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>
              <a:ext uri="{FF2B5EF4-FFF2-40B4-BE49-F238E27FC236}">
                <a16:creationId xmlns:a16="http://schemas.microsoft.com/office/drawing/2014/main" id="{156ACB39-79D1-44EC-9D79-97EF1CD2E57B}"/>
              </a:ext>
            </a:extLst>
          </p:cNvPr>
          <p:cNvSpPr>
            <a:spLocks noGrp="1"/>
          </p:cNvSpPr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30" name="Text 19">
            <a:extLst>
              <a:ext uri="{FF2B5EF4-FFF2-40B4-BE49-F238E27FC236}">
                <a16:creationId xmlns:a16="http://schemas.microsoft.com/office/drawing/2014/main" id="{D775E1C8-95CA-49B0-BEA8-7C560A8E3A79}"/>
              </a:ext>
            </a:extLst>
          </p:cNvPr>
          <p:cNvSpPr>
            <a:spLocks noGrp="1"/>
          </p:cNvSpPr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500" i="1">
                <a:solidFill>
                  <a:srgbClr val="FFFFFF"/>
                </a:solidFill>
                <a:latin typeface="Aptos" panose="020B0004020202020204" pitchFamily="34" charset="0"/>
                <a:ea typeface="Calibri"/>
                <a:cs typeface="Calibri"/>
              </a:rPr>
              <a:t>HTTP 503 mengungkap dependensi yang mati.</a:t>
            </a:r>
            <a:endParaRPr sz="150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C3969D1-550D-3A5B-2316-D6FAFAA25D9F}"/>
              </a:ext>
            </a:extLst>
          </p:cNvPr>
          <p:cNvPicPr>
            <a:picLocks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88582" y="2057400"/>
            <a:ext cx="4945075" cy="3090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43420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6E334D5-F824-4D97-B9F4-B47EA47F13FF}"/>
              </a:ext>
            </a:extLst>
          </p:cNvPr>
          <p:cNvSpPr>
            <a:spLocks noGrp="1"/>
          </p:cNvSpPr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8</a:t>
            </a:r>
            <a:endParaRPr sz="9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7CF2DFF-44A6-461A-BCFC-98BFF0D711A1}"/>
              </a:ext>
            </a:extLst>
          </p:cNvPr>
          <p:cNvSpPr>
            <a:spLocks noGrp="1"/>
          </p:cNvSpPr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11</a:t>
            </a:r>
            <a:endParaRPr sz="9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84C6D43-3C0E-4F1C-BC02-9380440ADE91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29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30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>
            <a:extLst>
              <a:ext uri="{FF2B5EF4-FFF2-40B4-BE49-F238E27FC236}">
                <a16:creationId xmlns:a16="http://schemas.microsoft.com/office/drawing/2014/main" id="{5D9E7369-98FF-462D-8B11-502EC7814917}"/>
              </a:ext>
            </a:extLst>
          </p:cNvPr>
          <p:cNvSpPr>
            <a:spLocks noGrp="1"/>
          </p:cNvSpPr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15026655-2B92-41AA-AEEE-89F9A20F94FF}"/>
              </a:ext>
            </a:extLst>
          </p:cNvPr>
          <p:cNvSpPr>
            <a:spLocks noGrp="1"/>
          </p:cNvSpPr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s-ES"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3 | Buat catatan dan baca hasil</a:t>
            </a:r>
            <a:endParaRPr sz="22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885A60BB-A2A9-493D-ADC9-0D0B3D1D0D20}"/>
              </a:ext>
            </a:extLst>
          </p:cNvPr>
          <p:cNvSpPr>
            <a:spLocks noGrp="1"/>
          </p:cNvSpPr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Browser → /api/notes → API Lab 06 → PostgreSQL</a:t>
            </a:r>
            <a:endParaRPr sz="120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5ACA5C2A-D149-4496-8774-9269EE7C0E79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>
              <a:ext uri="{FF2B5EF4-FFF2-40B4-BE49-F238E27FC236}">
                <a16:creationId xmlns:a16="http://schemas.microsoft.com/office/drawing/2014/main" id="{74BBAF80-BEBF-442C-9A6E-2D47EA89BAD7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>
              <a:ext uri="{FF2B5EF4-FFF2-40B4-BE49-F238E27FC236}">
                <a16:creationId xmlns:a16="http://schemas.microsoft.com/office/drawing/2014/main" id="{9B819F41-AC34-4952-ACEE-D9E19EB12D32}"/>
              </a:ext>
            </a:extLst>
          </p:cNvPr>
          <p:cNvSpPr>
            <a:spLocks noGrp="1"/>
          </p:cNvSpPr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81277D82-15D6-47A6-8CBF-975CDB9318CF}"/>
              </a:ext>
            </a:extLst>
          </p:cNvPr>
          <p:cNvSpPr>
            <a:spLocks noGrp="1"/>
          </p:cNvSpPr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3ACB177F-2C8A-4147-A1E1-1A38929A9AEB}"/>
              </a:ext>
            </a:extLst>
          </p:cNvPr>
          <p:cNvSpPr>
            <a:spLocks noGrp="1"/>
          </p:cNvSpPr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A21B1625-EEEE-4DC7-B109-6464E3458089}"/>
              </a:ext>
            </a:extLst>
          </p:cNvPr>
          <p:cNvSpPr>
            <a:spLocks noGrp="1"/>
          </p:cNvSpPr>
          <p:nvPr/>
        </p:nvSpPr>
        <p:spPr>
          <a:xfrm>
            <a:off x="1005840" y="1417320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PowerShell: HTTP POST</a:t>
            </a:r>
            <a:endParaRPr sz="900"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6E80C728-195D-4DC7-8565-2CDF25AFBF7B}"/>
              </a:ext>
            </a:extLst>
          </p:cNvPr>
          <p:cNvSpPr>
            <a:spLocks noGrp="1"/>
          </p:cNvSpPr>
          <p:nvPr/>
        </p:nvSpPr>
        <p:spPr>
          <a:xfrm>
            <a:off x="594360" y="1783080"/>
            <a:ext cx="5303520" cy="4297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500">
                <a:solidFill>
                  <a:srgbClr val="FFFFFF"/>
                </a:solidFill>
                <a:latin typeface="Consolas" panose="020B0609020204030204" pitchFamily="49" charset="0"/>
                <a:ea typeface="Consolas"/>
                <a:cs typeface="Consolas"/>
              </a:rPr>
              <a:t>$body = '{"title":"Praktik Lab 08","content":"Next.js ke API Lab 06"}'
Invoke-RestMethod `
  http://127.0.0.1:3000/api/notes `
  -Method Post -ContentType application/json `
  -Body $body
Invoke-RestMethod `
  http://127.0.0.1:3000/api/notes</a:t>
            </a:r>
            <a:endParaRPr sz="1500">
              <a:solidFill>
                <a:srgbClr val="FFFFFF"/>
              </a:solidFill>
              <a:latin typeface="Consolas" panose="020B0609020204030204" pitchFamily="49" charset="0"/>
            </a:endParaRPr>
          </a:p>
        </p:txBody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B4BF4DBE-D75E-4C6D-BBD6-31024BCC26DA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608384E9-2866-4166-B00C-7229CAF471A7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5BB387D9-2ED5-4348-824F-54E63CCE000E}"/>
              </a:ext>
            </a:extLst>
          </p:cNvPr>
          <p:cNvSpPr>
            <a:spLocks noGrp="1"/>
          </p:cNvSpPr>
          <p:nvPr/>
        </p:nvSpPr>
        <p:spPr>
          <a:xfrm>
            <a:off x="630936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0" name="Shape 16">
            <a:extLst>
              <a:ext uri="{FF2B5EF4-FFF2-40B4-BE49-F238E27FC236}">
                <a16:creationId xmlns:a16="http://schemas.microsoft.com/office/drawing/2014/main" id="{9BA2D88A-62A5-4AA4-9073-596E688C6E46}"/>
              </a:ext>
            </a:extLst>
          </p:cNvPr>
          <p:cNvSpPr>
            <a:spLocks noGrp="1"/>
          </p:cNvSpPr>
          <p:nvPr/>
        </p:nvSpPr>
        <p:spPr>
          <a:xfrm>
            <a:off x="644652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Shape 17">
            <a:extLst>
              <a:ext uri="{FF2B5EF4-FFF2-40B4-BE49-F238E27FC236}">
                <a16:creationId xmlns:a16="http://schemas.microsoft.com/office/drawing/2014/main" id="{FA4A4A10-7ADB-42BE-9A63-3BD65F824798}"/>
              </a:ext>
            </a:extLst>
          </p:cNvPr>
          <p:cNvSpPr>
            <a:spLocks noGrp="1"/>
          </p:cNvSpPr>
          <p:nvPr/>
        </p:nvSpPr>
        <p:spPr>
          <a:xfrm>
            <a:off x="658368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FE2852AB-8702-4D7E-9B9F-4844D7736CCE}"/>
              </a:ext>
            </a:extLst>
          </p:cNvPr>
          <p:cNvSpPr>
            <a:spLocks noGrp="1"/>
          </p:cNvSpPr>
          <p:nvPr/>
        </p:nvSpPr>
        <p:spPr>
          <a:xfrm>
            <a:off x="6766560" y="1417320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Cara kerja route.ts</a:t>
            </a:r>
            <a:endParaRPr sz="900"/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304ECDAB-EDDF-4B77-B4DE-6905629EF8F5}"/>
              </a:ext>
            </a:extLst>
          </p:cNvPr>
          <p:cNvSpPr>
            <a:spLocks noGrp="1"/>
          </p:cNvSpPr>
          <p:nvPr/>
        </p:nvSpPr>
        <p:spPr>
          <a:xfrm>
            <a:off x="6355080" y="1783080"/>
            <a:ext cx="5212080" cy="4297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600">
                <a:solidFill>
                  <a:srgbClr val="FFFFFF"/>
                </a:solidFill>
                <a:latin typeface="Aptos" panose="020B0004020202020204" pitchFamily="34" charset="0"/>
                <a:ea typeface="Consolas"/>
                <a:cs typeface="Consolas"/>
              </a:rPr>
              <a:t>POST memvalidasi title/content.
Server forward JSON ke API Lab 06.
Status 201 dan body dikembalikan.
X-Request-ID membantu cocokkan log.
GET berikutnya membaca daftar Postgres.
Form browser memakai route yang sama.</a:t>
            </a:r>
            <a:endParaRPr sz="160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686045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B86DC9D-6623-4169-8C9C-3145D037D6C7}"/>
              </a:ext>
            </a:extLst>
          </p:cNvPr>
          <p:cNvSpPr>
            <a:spLocks noGrp="1"/>
          </p:cNvSpPr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8</a:t>
            </a:r>
            <a:endParaRPr sz="9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7DEE372-5732-46B2-A5A3-CCDCD1213C21}"/>
              </a:ext>
            </a:extLst>
          </p:cNvPr>
          <p:cNvSpPr>
            <a:spLocks noGrp="1"/>
          </p:cNvSpPr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12</a:t>
            </a:r>
            <a:endParaRPr sz="9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6444FE1B-E38D-44B3-AEA5-6826CCE7CA16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43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44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>
            <a:extLst>
              <a:ext uri="{FF2B5EF4-FFF2-40B4-BE49-F238E27FC236}">
                <a16:creationId xmlns:a16="http://schemas.microsoft.com/office/drawing/2014/main" id="{36B0E2A9-8B0F-4E12-8FC4-67BFE3E2DE48}"/>
              </a:ext>
            </a:extLst>
          </p:cNvPr>
          <p:cNvSpPr>
            <a:spLocks noGrp="1"/>
          </p:cNvSpPr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14FC51D3-657E-4EAF-997E-6D6EBC36EF94}"/>
              </a:ext>
            </a:extLst>
          </p:cNvPr>
          <p:cNvSpPr>
            <a:spLocks noGrp="1"/>
          </p:cNvSpPr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de-DE"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4 | Form dan daftar terbaru</a:t>
            </a:r>
            <a:endParaRPr sz="22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7E594147-411E-4AC6-83CD-7B64DE78AA3C}"/>
              </a:ext>
            </a:extLst>
          </p:cNvPr>
          <p:cNvSpPr>
            <a:spLocks noGrp="1"/>
          </p:cNvSpPr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Catatan dari UI terlihat melalui Route Handler</a:t>
            </a:r>
            <a:endParaRPr sz="120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47D03B39-C6E8-4E2F-A24B-CE84DFAB5C6E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4EB8EF01-535D-434C-9834-F7C0DB32A871}"/>
              </a:ext>
            </a:extLst>
          </p:cNvPr>
          <p:cNvSpPr>
            <a:spLocks noGrp="1"/>
          </p:cNvSpPr>
          <p:nvPr/>
        </p:nvSpPr>
        <p:spPr>
          <a:xfrm>
            <a:off x="685800" y="160020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0" name="Imag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2697480"/>
            <a:ext cx="292608" cy="292608"/>
          </a:xfrm>
          <a:prstGeom prst="rect">
            <a:avLst/>
          </a:prstGeom>
        </p:spPr>
      </p:pic>
      <p:sp>
        <p:nvSpPr>
          <p:cNvPr id="13" name="Text 8">
            <a:extLst>
              <a:ext uri="{FF2B5EF4-FFF2-40B4-BE49-F238E27FC236}">
                <a16:creationId xmlns:a16="http://schemas.microsoft.com/office/drawing/2014/main" id="{BC75C696-B009-4DA0-B6B5-014B03C1C398}"/>
              </a:ext>
            </a:extLst>
          </p:cNvPr>
          <p:cNvSpPr>
            <a:spLocks noGrp="1"/>
          </p:cNvSpPr>
          <p:nvPr/>
        </p:nvSpPr>
        <p:spPr>
          <a:xfrm>
            <a:off x="1207008" y="26060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fi-FI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Isi judul dan isi, tekan Simpan.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2" name="Image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3200400"/>
            <a:ext cx="292608" cy="292608"/>
          </a:xfrm>
          <a:prstGeom prst="rect">
            <a:avLst/>
          </a:prstGeom>
        </p:spPr>
      </p:pic>
      <p:sp>
        <p:nvSpPr>
          <p:cNvPr id="15" name="Text 9">
            <a:extLst>
              <a:ext uri="{FF2B5EF4-FFF2-40B4-BE49-F238E27FC236}">
                <a16:creationId xmlns:a16="http://schemas.microsoft.com/office/drawing/2014/main" id="{E14C470E-4009-4E53-A401-BC9A0E6B2543}"/>
              </a:ext>
            </a:extLst>
          </p:cNvPr>
          <p:cNvSpPr>
            <a:spLocks noGrp="1"/>
          </p:cNvSpPr>
          <p:nvPr/>
        </p:nvSpPr>
        <p:spPr>
          <a:xfrm>
            <a:off x="1207008" y="31089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fr-FR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POST /api/notes membuat catatan.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4" name="Image 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3703320"/>
            <a:ext cx="292608" cy="292608"/>
          </a:xfrm>
          <a:prstGeom prst="rect">
            <a:avLst/>
          </a:prstGeom>
        </p:spPr>
      </p:pic>
      <p:sp>
        <p:nvSpPr>
          <p:cNvPr id="17" name="Text 10">
            <a:extLst>
              <a:ext uri="{FF2B5EF4-FFF2-40B4-BE49-F238E27FC236}">
                <a16:creationId xmlns:a16="http://schemas.microsoft.com/office/drawing/2014/main" id="{E2F939ED-52DF-40AC-90C9-A5F70ECC71CB}"/>
              </a:ext>
            </a:extLst>
          </p:cNvPr>
          <p:cNvSpPr>
            <a:spLocks noGrp="1"/>
          </p:cNvSpPr>
          <p:nvPr/>
        </p:nvSpPr>
        <p:spPr>
          <a:xfrm>
            <a:off x="1207008" y="361188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UI memuat daftar sesudah sukses.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6" name="Image 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4206240"/>
            <a:ext cx="292608" cy="292608"/>
          </a:xfrm>
          <a:prstGeom prst="rect">
            <a:avLst/>
          </a:prstGeom>
        </p:spPr>
      </p:pic>
      <p:sp>
        <p:nvSpPr>
          <p:cNvPr id="19" name="Text 11">
            <a:extLst>
              <a:ext uri="{FF2B5EF4-FFF2-40B4-BE49-F238E27FC236}">
                <a16:creationId xmlns:a16="http://schemas.microsoft.com/office/drawing/2014/main" id="{072F499A-13A1-4C2C-8CF8-C77B53D5C02F}"/>
              </a:ext>
            </a:extLst>
          </p:cNvPr>
          <p:cNvSpPr>
            <a:spLocks noGrp="1"/>
          </p:cNvSpPr>
          <p:nvPr/>
        </p:nvSpPr>
        <p:spPr>
          <a:xfrm>
            <a:off x="1207008" y="411480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Judul baru muncul bersama catatan lama.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8" name="Image 6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240" y="4709160"/>
            <a:ext cx="292608" cy="292608"/>
          </a:xfrm>
          <a:prstGeom prst="rect">
            <a:avLst/>
          </a:prstGeom>
        </p:spPr>
      </p:pic>
      <p:sp>
        <p:nvSpPr>
          <p:cNvPr id="21" name="Text 12">
            <a:extLst>
              <a:ext uri="{FF2B5EF4-FFF2-40B4-BE49-F238E27FC236}">
                <a16:creationId xmlns:a16="http://schemas.microsoft.com/office/drawing/2014/main" id="{03AB7F58-6076-4C09-A764-280B14D4C56C}"/>
              </a:ext>
            </a:extLst>
          </p:cNvPr>
          <p:cNvSpPr>
            <a:spLocks noGrp="1"/>
          </p:cNvSpPr>
          <p:nvPr/>
        </p:nvSpPr>
        <p:spPr>
          <a:xfrm>
            <a:off x="1207008" y="461772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it-IT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Lab 06 menyimpan di PostgreSQL.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60" name="Image 7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212080"/>
            <a:ext cx="292608" cy="292608"/>
          </a:xfrm>
          <a:prstGeom prst="rect">
            <a:avLst/>
          </a:prstGeom>
        </p:spPr>
      </p:pic>
      <p:sp>
        <p:nvSpPr>
          <p:cNvPr id="23" name="Text 13">
            <a:extLst>
              <a:ext uri="{FF2B5EF4-FFF2-40B4-BE49-F238E27FC236}">
                <a16:creationId xmlns:a16="http://schemas.microsoft.com/office/drawing/2014/main" id="{95BE7CB0-A044-427D-BF15-27117D43FFEB}"/>
              </a:ext>
            </a:extLst>
          </p:cNvPr>
          <p:cNvSpPr>
            <a:spLocks noGrp="1"/>
          </p:cNvSpPr>
          <p:nvPr/>
        </p:nvSpPr>
        <p:spPr>
          <a:xfrm>
            <a:off x="1207008" y="51206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Refresh browser tetap menampilkan data.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62" name="Image 8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77240" y="5715000"/>
            <a:ext cx="292608" cy="292608"/>
          </a:xfrm>
          <a:prstGeom prst="rect">
            <a:avLst/>
          </a:prstGeom>
        </p:spPr>
      </p:pic>
      <p:sp>
        <p:nvSpPr>
          <p:cNvPr id="25" name="Text 14">
            <a:extLst>
              <a:ext uri="{FF2B5EF4-FFF2-40B4-BE49-F238E27FC236}">
                <a16:creationId xmlns:a16="http://schemas.microsoft.com/office/drawing/2014/main" id="{527C8D15-8536-47E3-A393-186FC376AEAD}"/>
              </a:ext>
            </a:extLst>
          </p:cNvPr>
          <p:cNvSpPr>
            <a:spLocks noGrp="1"/>
          </p:cNvSpPr>
          <p:nvPr/>
        </p:nvSpPr>
        <p:spPr>
          <a:xfrm>
            <a:off x="1207008" y="56235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X-Request-ID terlihat di respons HTTP.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26" name="Shape 15">
            <a:extLst>
              <a:ext uri="{FF2B5EF4-FFF2-40B4-BE49-F238E27FC236}">
                <a16:creationId xmlns:a16="http://schemas.microsoft.com/office/drawing/2014/main" id="{3672B401-E733-488A-88AB-50E39EE359A7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27" name="Text 16">
            <a:extLst>
              <a:ext uri="{FF2B5EF4-FFF2-40B4-BE49-F238E27FC236}">
                <a16:creationId xmlns:a16="http://schemas.microsoft.com/office/drawing/2014/main" id="{4D1811A4-697E-416C-8C60-E950F6D38512}"/>
              </a:ext>
            </a:extLst>
          </p:cNvPr>
          <p:cNvSpPr>
            <a:spLocks noGrp="1"/>
          </p:cNvSpPr>
          <p:nvPr/>
        </p:nvSpPr>
        <p:spPr>
          <a:xfrm>
            <a:off x="6446520" y="160020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>
              <a:ext uri="{FF2B5EF4-FFF2-40B4-BE49-F238E27FC236}">
                <a16:creationId xmlns:a16="http://schemas.microsoft.com/office/drawing/2014/main" id="{37F9989B-60E8-4723-ACB9-FABB8D6B74F1}"/>
              </a:ext>
            </a:extLst>
          </p:cNvPr>
          <p:cNvSpPr>
            <a:spLocks noGrp="1"/>
          </p:cNvSpPr>
          <p:nvPr/>
        </p:nvSpPr>
        <p:spPr>
          <a:xfrm>
            <a:off x="6446520" y="2606040"/>
            <a:ext cx="5029200" cy="274320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>
              <a:ext uri="{FF2B5EF4-FFF2-40B4-BE49-F238E27FC236}">
                <a16:creationId xmlns:a16="http://schemas.microsoft.com/office/drawing/2014/main" id="{156ACB39-79D1-44EC-9D79-97EF1CD2E57B}"/>
              </a:ext>
            </a:extLst>
          </p:cNvPr>
          <p:cNvSpPr>
            <a:spLocks noGrp="1"/>
          </p:cNvSpPr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30" name="Text 19">
            <a:extLst>
              <a:ext uri="{FF2B5EF4-FFF2-40B4-BE49-F238E27FC236}">
                <a16:creationId xmlns:a16="http://schemas.microsoft.com/office/drawing/2014/main" id="{D775E1C8-95CA-49B0-BEA8-7C560A8E3A79}"/>
              </a:ext>
            </a:extLst>
          </p:cNvPr>
          <p:cNvSpPr>
            <a:spLocks noGrp="1"/>
          </p:cNvSpPr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500" i="1">
                <a:solidFill>
                  <a:srgbClr val="FFFFFF"/>
                </a:solidFill>
                <a:latin typeface="Aptos" panose="020B0004020202020204" pitchFamily="34" charset="0"/>
                <a:ea typeface="Calibri"/>
                <a:cs typeface="Calibri"/>
              </a:rPr>
              <a:t>Catatan Praktik Lab 08 muncul dalam daftar.</a:t>
            </a:r>
            <a:endParaRPr sz="150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88C58F8-3468-2152-8916-EE72BE9DEA2B}"/>
              </a:ext>
            </a:extLst>
          </p:cNvPr>
          <p:cNvPicPr>
            <a:picLocks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1377" y="2057400"/>
            <a:ext cx="4459487" cy="3090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49677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6E334D5-F824-4D97-B9F4-B47EA47F13FF}"/>
              </a:ext>
            </a:extLst>
          </p:cNvPr>
          <p:cNvSpPr>
            <a:spLocks noGrp="1"/>
          </p:cNvSpPr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8</a:t>
            </a:r>
            <a:endParaRPr sz="9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7CF2DFF-44A6-461A-BCFC-98BFF0D711A1}"/>
              </a:ext>
            </a:extLst>
          </p:cNvPr>
          <p:cNvSpPr>
            <a:spLocks noGrp="1"/>
          </p:cNvSpPr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14</a:t>
            </a:r>
            <a:endParaRPr sz="9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84C6D43-3C0E-4F1C-BC02-9380440ADE91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29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30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>
            <a:extLst>
              <a:ext uri="{FF2B5EF4-FFF2-40B4-BE49-F238E27FC236}">
                <a16:creationId xmlns:a16="http://schemas.microsoft.com/office/drawing/2014/main" id="{5D9E7369-98FF-462D-8B11-502EC7814917}"/>
              </a:ext>
            </a:extLst>
          </p:cNvPr>
          <p:cNvSpPr>
            <a:spLocks noGrp="1"/>
          </p:cNvSpPr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15026655-2B92-41AA-AEEE-89F9A20F94FF}"/>
              </a:ext>
            </a:extLst>
          </p:cNvPr>
          <p:cNvSpPr>
            <a:spLocks noGrp="1"/>
          </p:cNvSpPr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4 | Kunci validasi dan cek otomatis</a:t>
            </a:r>
            <a:endParaRPr sz="22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885A60BB-A2A9-493D-ADC9-0D0B3D1D0D20}"/>
              </a:ext>
            </a:extLst>
          </p:cNvPr>
          <p:cNvSpPr>
            <a:spLocks noGrp="1"/>
          </p:cNvSpPr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Masukan rusak ditolak sebelum forward ke Lab 06</a:t>
            </a:r>
            <a:endParaRPr sz="120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5ACA5C2A-D149-4496-8774-9269EE7C0E79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>
              <a:ext uri="{FF2B5EF4-FFF2-40B4-BE49-F238E27FC236}">
                <a16:creationId xmlns:a16="http://schemas.microsoft.com/office/drawing/2014/main" id="{74BBAF80-BEBF-442C-9A6E-2D47EA89BAD7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>
              <a:ext uri="{FF2B5EF4-FFF2-40B4-BE49-F238E27FC236}">
                <a16:creationId xmlns:a16="http://schemas.microsoft.com/office/drawing/2014/main" id="{9B819F41-AC34-4952-ACEE-D9E19EB12D32}"/>
              </a:ext>
            </a:extLst>
          </p:cNvPr>
          <p:cNvSpPr>
            <a:spLocks noGrp="1"/>
          </p:cNvSpPr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81277D82-15D6-47A6-8CBF-975CDB9318CF}"/>
              </a:ext>
            </a:extLst>
          </p:cNvPr>
          <p:cNvSpPr>
            <a:spLocks noGrp="1"/>
          </p:cNvSpPr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3ACB177F-2C8A-4147-A1E1-1A38929A9AEB}"/>
              </a:ext>
            </a:extLst>
          </p:cNvPr>
          <p:cNvSpPr>
            <a:spLocks noGrp="1"/>
          </p:cNvSpPr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A21B1625-EEEE-4DC7-B109-6464E3458089}"/>
              </a:ext>
            </a:extLst>
          </p:cNvPr>
          <p:cNvSpPr>
            <a:spLocks noGrp="1"/>
          </p:cNvSpPr>
          <p:nvPr/>
        </p:nvSpPr>
        <p:spPr>
          <a:xfrm>
            <a:off x="1005840" y="1417320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PowerShell dan runner</a:t>
            </a:r>
            <a:endParaRPr sz="900"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6E80C728-195D-4DC7-8565-2CDF25AFBF7B}"/>
              </a:ext>
            </a:extLst>
          </p:cNvPr>
          <p:cNvSpPr>
            <a:spLocks noGrp="1"/>
          </p:cNvSpPr>
          <p:nvPr/>
        </p:nvSpPr>
        <p:spPr>
          <a:xfrm>
            <a:off x="594360" y="1783080"/>
            <a:ext cx="5303520" cy="4297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500">
                <a:solidFill>
                  <a:srgbClr val="FFFFFF"/>
                </a:solidFill>
                <a:latin typeface="Consolas" panose="020B0609020204030204" pitchFamily="49" charset="0"/>
                <a:ea typeface="Consolas"/>
                <a:cs typeface="Consolas"/>
              </a:rPr>
              <a:t>Invoke-WebRequest `
  http://127.0.0.1:3000/api/notes `
  -Method Post -ContentType application/json `
  -Body '{"content":"tanpa judul"}'
# PowerShell menampilkan error HTTP 400.
npm run check:local
npm run typecheck
npm run build</a:t>
            </a:r>
            <a:endParaRPr sz="1500">
              <a:solidFill>
                <a:srgbClr val="FFFFFF"/>
              </a:solidFill>
              <a:latin typeface="Consolas" panose="020B0609020204030204" pitchFamily="49" charset="0"/>
            </a:endParaRPr>
          </a:p>
        </p:txBody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B4BF4DBE-D75E-4C6D-BBD6-31024BCC26DA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608384E9-2866-4166-B00C-7229CAF471A7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5BB387D9-2ED5-4348-824F-54E63CCE000E}"/>
              </a:ext>
            </a:extLst>
          </p:cNvPr>
          <p:cNvSpPr>
            <a:spLocks noGrp="1"/>
          </p:cNvSpPr>
          <p:nvPr/>
        </p:nvSpPr>
        <p:spPr>
          <a:xfrm>
            <a:off x="630936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0" name="Shape 16">
            <a:extLst>
              <a:ext uri="{FF2B5EF4-FFF2-40B4-BE49-F238E27FC236}">
                <a16:creationId xmlns:a16="http://schemas.microsoft.com/office/drawing/2014/main" id="{9BA2D88A-62A5-4AA4-9073-596E688C6E46}"/>
              </a:ext>
            </a:extLst>
          </p:cNvPr>
          <p:cNvSpPr>
            <a:spLocks noGrp="1"/>
          </p:cNvSpPr>
          <p:nvPr/>
        </p:nvSpPr>
        <p:spPr>
          <a:xfrm>
            <a:off x="644652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Shape 17">
            <a:extLst>
              <a:ext uri="{FF2B5EF4-FFF2-40B4-BE49-F238E27FC236}">
                <a16:creationId xmlns:a16="http://schemas.microsoft.com/office/drawing/2014/main" id="{FA4A4A10-7ADB-42BE-9A63-3BD65F824798}"/>
              </a:ext>
            </a:extLst>
          </p:cNvPr>
          <p:cNvSpPr>
            <a:spLocks noGrp="1"/>
          </p:cNvSpPr>
          <p:nvPr/>
        </p:nvSpPr>
        <p:spPr>
          <a:xfrm>
            <a:off x="658368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FE2852AB-8702-4D7E-9B9F-4844D7736CCE}"/>
              </a:ext>
            </a:extLst>
          </p:cNvPr>
          <p:cNvSpPr>
            <a:spLocks noGrp="1"/>
          </p:cNvSpPr>
          <p:nvPr/>
        </p:nvSpPr>
        <p:spPr>
          <a:xfrm>
            <a:off x="6766560" y="1417320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it-IT"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Isi kunci di route.ts</a:t>
            </a:r>
            <a:endParaRPr sz="900"/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304ECDAB-EDDF-4B77-B4DE-6905629EF8F5}"/>
              </a:ext>
            </a:extLst>
          </p:cNvPr>
          <p:cNvSpPr>
            <a:spLocks noGrp="1"/>
          </p:cNvSpPr>
          <p:nvPr/>
        </p:nvSpPr>
        <p:spPr>
          <a:xfrm>
            <a:off x="6355080" y="1783080"/>
            <a:ext cx="5212080" cy="4297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600">
                <a:solidFill>
                  <a:srgbClr val="FFFFFF"/>
                </a:solidFill>
                <a:latin typeface="Aptos" panose="020B0004020202020204" pitchFamily="34" charset="0"/>
                <a:ea typeface="Consolas"/>
                <a:cs typeface="Consolas"/>
              </a:rPr>
              <a:t>request.json() gagal → HTTP 400.
title/content kosong → HTTP 400.
Input sah → forward POST ke upstream.
Runner menguji 9 kontrak end-to-end.
TypeScript dan build harus sukses.
Build membaca environment saat build.</a:t>
            </a:r>
            <a:endParaRPr sz="160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483570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B86DC9D-6623-4169-8C9C-3145D037D6C7}"/>
              </a:ext>
            </a:extLst>
          </p:cNvPr>
          <p:cNvSpPr>
            <a:spLocks noGrp="1"/>
          </p:cNvSpPr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8</a:t>
            </a:r>
            <a:endParaRPr sz="9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7DEE372-5732-46B2-A5A3-CCDCD1213C21}"/>
              </a:ext>
            </a:extLst>
          </p:cNvPr>
          <p:cNvSpPr>
            <a:spLocks noGrp="1"/>
          </p:cNvSpPr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17</a:t>
            </a:r>
            <a:endParaRPr sz="9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6444FE1B-E38D-44B3-AEA5-6826CCE7CA16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43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44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>
            <a:extLst>
              <a:ext uri="{FF2B5EF4-FFF2-40B4-BE49-F238E27FC236}">
                <a16:creationId xmlns:a16="http://schemas.microsoft.com/office/drawing/2014/main" id="{36B0E2A9-8B0F-4E12-8FC4-67BFE3E2DE48}"/>
              </a:ext>
            </a:extLst>
          </p:cNvPr>
          <p:cNvSpPr>
            <a:spLocks noGrp="1"/>
          </p:cNvSpPr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14FC51D3-657E-4EAF-997E-6D6EBC36EF94}"/>
              </a:ext>
            </a:extLst>
          </p:cNvPr>
          <p:cNvSpPr>
            <a:spLocks noGrp="1"/>
          </p:cNvSpPr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5 | Build dan kontrak aplikasi</a:t>
            </a:r>
            <a:endParaRPr sz="22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7E594147-411E-4AC6-83CD-7B64DE78AA3C}"/>
              </a:ext>
            </a:extLst>
          </p:cNvPr>
          <p:cNvSpPr>
            <a:spLocks noGrp="1"/>
          </p:cNvSpPr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Output terbaru: route /api/ready sudah ikut dibangun</a:t>
            </a:r>
            <a:endParaRPr sz="120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47D03B39-C6E8-4E2F-A24B-CE84DFAB5C6E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4EB8EF01-535D-434C-9834-F7C0DB32A871}"/>
              </a:ext>
            </a:extLst>
          </p:cNvPr>
          <p:cNvSpPr>
            <a:spLocks noGrp="1"/>
          </p:cNvSpPr>
          <p:nvPr/>
        </p:nvSpPr>
        <p:spPr>
          <a:xfrm>
            <a:off x="685800" y="160020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0" name="Imag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2697480"/>
            <a:ext cx="292608" cy="292608"/>
          </a:xfrm>
          <a:prstGeom prst="rect">
            <a:avLst/>
          </a:prstGeom>
        </p:spPr>
      </p:pic>
      <p:sp>
        <p:nvSpPr>
          <p:cNvPr id="13" name="Text 8">
            <a:extLst>
              <a:ext uri="{FF2B5EF4-FFF2-40B4-BE49-F238E27FC236}">
                <a16:creationId xmlns:a16="http://schemas.microsoft.com/office/drawing/2014/main" id="{BC75C696-B009-4DA0-B6B5-014B03C1C398}"/>
              </a:ext>
            </a:extLst>
          </p:cNvPr>
          <p:cNvSpPr>
            <a:spLocks noGrp="1"/>
          </p:cNvSpPr>
          <p:nvPr/>
        </p:nvSpPr>
        <p:spPr>
          <a:xfrm>
            <a:off x="1207008" y="26060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npm run typecheck menjalankan tsc.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2" name="Image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3200400"/>
            <a:ext cx="292608" cy="292608"/>
          </a:xfrm>
          <a:prstGeom prst="rect">
            <a:avLst/>
          </a:prstGeom>
        </p:spPr>
      </p:pic>
      <p:sp>
        <p:nvSpPr>
          <p:cNvPr id="15" name="Text 9">
            <a:extLst>
              <a:ext uri="{FF2B5EF4-FFF2-40B4-BE49-F238E27FC236}">
                <a16:creationId xmlns:a16="http://schemas.microsoft.com/office/drawing/2014/main" id="{E14C470E-4009-4E53-A401-BC9A0E6B2543}"/>
              </a:ext>
            </a:extLst>
          </p:cNvPr>
          <p:cNvSpPr>
            <a:spLocks noGrp="1"/>
          </p:cNvSpPr>
          <p:nvPr/>
        </p:nvSpPr>
        <p:spPr>
          <a:xfrm>
            <a:off x="1207008" y="31089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npm run build memproses App Router.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4" name="Image 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3703320"/>
            <a:ext cx="292608" cy="292608"/>
          </a:xfrm>
          <a:prstGeom prst="rect">
            <a:avLst/>
          </a:prstGeom>
        </p:spPr>
      </p:pic>
      <p:sp>
        <p:nvSpPr>
          <p:cNvPr id="17" name="Text 10">
            <a:extLst>
              <a:ext uri="{FF2B5EF4-FFF2-40B4-BE49-F238E27FC236}">
                <a16:creationId xmlns:a16="http://schemas.microsoft.com/office/drawing/2014/main" id="{E2F939ED-52DF-40AC-90C9-A5F70ECC71CB}"/>
              </a:ext>
            </a:extLst>
          </p:cNvPr>
          <p:cNvSpPr>
            <a:spLocks noGrp="1"/>
          </p:cNvSpPr>
          <p:nvPr/>
        </p:nvSpPr>
        <p:spPr>
          <a:xfrm>
            <a:off x="1207008" y="361188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Screenshot berasal dari build terbaru.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6" name="Image 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4206240"/>
            <a:ext cx="292608" cy="292608"/>
          </a:xfrm>
          <a:prstGeom prst="rect">
            <a:avLst/>
          </a:prstGeom>
        </p:spPr>
      </p:pic>
      <p:sp>
        <p:nvSpPr>
          <p:cNvPr id="19" name="Text 11">
            <a:extLst>
              <a:ext uri="{FF2B5EF4-FFF2-40B4-BE49-F238E27FC236}">
                <a16:creationId xmlns:a16="http://schemas.microsoft.com/office/drawing/2014/main" id="{072F499A-13A1-4C2C-8CF8-C77B53D5C02F}"/>
              </a:ext>
            </a:extLst>
          </p:cNvPr>
          <p:cNvSpPr>
            <a:spLocks noGrp="1"/>
          </p:cNvSpPr>
          <p:nvPr/>
        </p:nvSpPr>
        <p:spPr>
          <a:xfrm>
            <a:off x="1207008" y="411480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pl-PL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Daftar route memuat /api/ready.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8" name="Image 6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240" y="4709160"/>
            <a:ext cx="292608" cy="292608"/>
          </a:xfrm>
          <a:prstGeom prst="rect">
            <a:avLst/>
          </a:prstGeom>
        </p:spPr>
      </p:pic>
      <p:sp>
        <p:nvSpPr>
          <p:cNvPr id="21" name="Text 12">
            <a:extLst>
              <a:ext uri="{FF2B5EF4-FFF2-40B4-BE49-F238E27FC236}">
                <a16:creationId xmlns:a16="http://schemas.microsoft.com/office/drawing/2014/main" id="{03AB7F58-6076-4C09-A764-280B14D4C56C}"/>
              </a:ext>
            </a:extLst>
          </p:cNvPr>
          <p:cNvSpPr>
            <a:spLocks noGrp="1"/>
          </p:cNvSpPr>
          <p:nvPr/>
        </p:nvSpPr>
        <p:spPr>
          <a:xfrm>
            <a:off x="1207008" y="461772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fi-FI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Typecheck dan build keluar dengan kode 0.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60" name="Image 7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212080"/>
            <a:ext cx="292608" cy="292608"/>
          </a:xfrm>
          <a:prstGeom prst="rect">
            <a:avLst/>
          </a:prstGeom>
        </p:spPr>
      </p:pic>
      <p:sp>
        <p:nvSpPr>
          <p:cNvPr id="23" name="Text 13">
            <a:extLst>
              <a:ext uri="{FF2B5EF4-FFF2-40B4-BE49-F238E27FC236}">
                <a16:creationId xmlns:a16="http://schemas.microsoft.com/office/drawing/2014/main" id="{95BE7CB0-A044-427D-BF15-27117D43FFEB}"/>
              </a:ext>
            </a:extLst>
          </p:cNvPr>
          <p:cNvSpPr>
            <a:spLocks noGrp="1"/>
          </p:cNvSpPr>
          <p:nvPr/>
        </p:nvSpPr>
        <p:spPr>
          <a:xfrm>
            <a:off x="1207008" y="51206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npm run check:local menuntut API hidup.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62" name="Image 8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77240" y="5715000"/>
            <a:ext cx="292608" cy="292608"/>
          </a:xfrm>
          <a:prstGeom prst="rect">
            <a:avLst/>
          </a:prstGeom>
        </p:spPr>
      </p:pic>
      <p:sp>
        <p:nvSpPr>
          <p:cNvPr id="25" name="Text 14">
            <a:extLst>
              <a:ext uri="{FF2B5EF4-FFF2-40B4-BE49-F238E27FC236}">
                <a16:creationId xmlns:a16="http://schemas.microsoft.com/office/drawing/2014/main" id="{527C8D15-8536-47E3-A393-186FC376AEAD}"/>
              </a:ext>
            </a:extLst>
          </p:cNvPr>
          <p:cNvSpPr>
            <a:spLocks noGrp="1"/>
          </p:cNvSpPr>
          <p:nvPr/>
        </p:nvSpPr>
        <p:spPr>
          <a:xfrm>
            <a:off x="1207008" y="56235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Target runner: 9 PASS, 0 FAIL.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26" name="Shape 15">
            <a:extLst>
              <a:ext uri="{FF2B5EF4-FFF2-40B4-BE49-F238E27FC236}">
                <a16:creationId xmlns:a16="http://schemas.microsoft.com/office/drawing/2014/main" id="{3672B401-E733-488A-88AB-50E39EE359A7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27" name="Text 16">
            <a:extLst>
              <a:ext uri="{FF2B5EF4-FFF2-40B4-BE49-F238E27FC236}">
                <a16:creationId xmlns:a16="http://schemas.microsoft.com/office/drawing/2014/main" id="{4D1811A4-697E-416C-8C60-E950F6D38512}"/>
              </a:ext>
            </a:extLst>
          </p:cNvPr>
          <p:cNvSpPr>
            <a:spLocks noGrp="1"/>
          </p:cNvSpPr>
          <p:nvPr/>
        </p:nvSpPr>
        <p:spPr>
          <a:xfrm>
            <a:off x="6446520" y="160020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>
              <a:ext uri="{FF2B5EF4-FFF2-40B4-BE49-F238E27FC236}">
                <a16:creationId xmlns:a16="http://schemas.microsoft.com/office/drawing/2014/main" id="{37F9989B-60E8-4723-ACB9-FABB8D6B74F1}"/>
              </a:ext>
            </a:extLst>
          </p:cNvPr>
          <p:cNvSpPr>
            <a:spLocks noGrp="1"/>
          </p:cNvSpPr>
          <p:nvPr/>
        </p:nvSpPr>
        <p:spPr>
          <a:xfrm>
            <a:off x="6446520" y="2606040"/>
            <a:ext cx="5029200" cy="274320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>
              <a:ext uri="{FF2B5EF4-FFF2-40B4-BE49-F238E27FC236}">
                <a16:creationId xmlns:a16="http://schemas.microsoft.com/office/drawing/2014/main" id="{156ACB39-79D1-44EC-9D79-97EF1CD2E57B}"/>
              </a:ext>
            </a:extLst>
          </p:cNvPr>
          <p:cNvSpPr>
            <a:spLocks noGrp="1"/>
          </p:cNvSpPr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30" name="Text 19">
            <a:extLst>
              <a:ext uri="{FF2B5EF4-FFF2-40B4-BE49-F238E27FC236}">
                <a16:creationId xmlns:a16="http://schemas.microsoft.com/office/drawing/2014/main" id="{D775E1C8-95CA-49B0-BEA8-7C560A8E3A79}"/>
              </a:ext>
            </a:extLst>
          </p:cNvPr>
          <p:cNvSpPr>
            <a:spLocks noGrp="1"/>
          </p:cNvSpPr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500" i="1">
                <a:solidFill>
                  <a:srgbClr val="FFFFFF"/>
                </a:solidFill>
                <a:latin typeface="Aptos" panose="020B0004020202020204" pitchFamily="34" charset="0"/>
                <a:ea typeface="Calibri"/>
                <a:cs typeface="Calibri"/>
              </a:rPr>
              <a:t>Typecheck dan build lulus pada source terkini.</a:t>
            </a:r>
            <a:endParaRPr sz="150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pic>
        <p:nvPicPr>
          <p:cNvPr id="63" name="Picture 62" descr="21_build_ringkas_ppt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566134" y="2623248"/>
            <a:ext cx="4789971" cy="1958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16918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6E334D5-F824-4D97-B9F4-B47EA47F13FF}"/>
              </a:ext>
            </a:extLst>
          </p:cNvPr>
          <p:cNvSpPr>
            <a:spLocks noGrp="1"/>
          </p:cNvSpPr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8</a:t>
            </a:r>
            <a:endParaRPr sz="9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7CF2DFF-44A6-461A-BCFC-98BFF0D711A1}"/>
              </a:ext>
            </a:extLst>
          </p:cNvPr>
          <p:cNvSpPr>
            <a:spLocks noGrp="1"/>
          </p:cNvSpPr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18</a:t>
            </a:r>
            <a:endParaRPr sz="9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84C6D43-3C0E-4F1C-BC02-9380440ADE91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29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30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>
            <a:extLst>
              <a:ext uri="{FF2B5EF4-FFF2-40B4-BE49-F238E27FC236}">
                <a16:creationId xmlns:a16="http://schemas.microsoft.com/office/drawing/2014/main" id="{5D9E7369-98FF-462D-8B11-502EC7814917}"/>
              </a:ext>
            </a:extLst>
          </p:cNvPr>
          <p:cNvSpPr>
            <a:spLocks noGrp="1"/>
          </p:cNvSpPr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15026655-2B92-41AA-AEEE-89F9A20F94FF}"/>
              </a:ext>
            </a:extLst>
          </p:cNvPr>
          <p:cNvSpPr>
            <a:spLocks noGrp="1"/>
          </p:cNvSpPr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5 | Push source dan opsi deploy</a:t>
            </a:r>
            <a:endParaRPr sz="22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885A60BB-A2A9-493D-ADC9-0D0B3D1D0D20}"/>
              </a:ext>
            </a:extLst>
          </p:cNvPr>
          <p:cNvSpPr>
            <a:spLocks noGrp="1"/>
          </p:cNvSpPr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Repo Lab 08 terpisah; cloud memakai Supabase, bukan localhost</a:t>
            </a:r>
            <a:endParaRPr sz="120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5ACA5C2A-D149-4496-8774-9269EE7C0E79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>
              <a:ext uri="{FF2B5EF4-FFF2-40B4-BE49-F238E27FC236}">
                <a16:creationId xmlns:a16="http://schemas.microsoft.com/office/drawing/2014/main" id="{74BBAF80-BEBF-442C-9A6E-2D47EA89BAD7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>
              <a:ext uri="{FF2B5EF4-FFF2-40B4-BE49-F238E27FC236}">
                <a16:creationId xmlns:a16="http://schemas.microsoft.com/office/drawing/2014/main" id="{9B819F41-AC34-4952-ACEE-D9E19EB12D32}"/>
              </a:ext>
            </a:extLst>
          </p:cNvPr>
          <p:cNvSpPr>
            <a:spLocks noGrp="1"/>
          </p:cNvSpPr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81277D82-15D6-47A6-8CBF-975CDB9318CF}"/>
              </a:ext>
            </a:extLst>
          </p:cNvPr>
          <p:cNvSpPr>
            <a:spLocks noGrp="1"/>
          </p:cNvSpPr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3ACB177F-2C8A-4147-A1E1-1A38929A9AEB}"/>
              </a:ext>
            </a:extLst>
          </p:cNvPr>
          <p:cNvSpPr>
            <a:spLocks noGrp="1"/>
          </p:cNvSpPr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A21B1625-EEEE-4DC7-B109-6464E3458089}"/>
              </a:ext>
            </a:extLst>
          </p:cNvPr>
          <p:cNvSpPr>
            <a:spLocks noGrp="1"/>
          </p:cNvSpPr>
          <p:nvPr/>
        </p:nvSpPr>
        <p:spPr>
          <a:xfrm>
            <a:off x="1005840" y="1417320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Sebelum commit</a:t>
            </a:r>
            <a:endParaRPr sz="900"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6E80C728-195D-4DC7-8565-2CDF25AFBF7B}"/>
              </a:ext>
            </a:extLst>
          </p:cNvPr>
          <p:cNvSpPr>
            <a:spLocks noGrp="1"/>
          </p:cNvSpPr>
          <p:nvPr/>
        </p:nvSpPr>
        <p:spPr>
          <a:xfrm>
            <a:off x="594360" y="1783080"/>
            <a:ext cx="5303520" cy="4297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500">
                <a:solidFill>
                  <a:srgbClr val="FFFFFF"/>
                </a:solidFill>
                <a:latin typeface="Consolas" panose="020B0609020204030204" pitchFamily="49" charset="0"/>
                <a:ea typeface="Consolas"/>
                <a:cs typeface="Consolas"/>
              </a:rPr>
              <a:t>git status --short
git check-ignore .env.local
git add src package.json package-lock.json
git add .env.example README.md
git diff --cached --check
git commit -m "lab08: Cloud Notes Next.js"
git push</a:t>
            </a:r>
            <a:endParaRPr sz="1500">
              <a:solidFill>
                <a:srgbClr val="FFFFFF"/>
              </a:solidFill>
              <a:latin typeface="Consolas" panose="020B0609020204030204" pitchFamily="49" charset="0"/>
            </a:endParaRPr>
          </a:p>
        </p:txBody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B4BF4DBE-D75E-4C6D-BBD6-31024BCC26DA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608384E9-2866-4166-B00C-7229CAF471A7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5BB387D9-2ED5-4348-824F-54E63CCE000E}"/>
              </a:ext>
            </a:extLst>
          </p:cNvPr>
          <p:cNvSpPr>
            <a:spLocks noGrp="1"/>
          </p:cNvSpPr>
          <p:nvPr/>
        </p:nvSpPr>
        <p:spPr>
          <a:xfrm>
            <a:off x="630936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0" name="Shape 16">
            <a:extLst>
              <a:ext uri="{FF2B5EF4-FFF2-40B4-BE49-F238E27FC236}">
                <a16:creationId xmlns:a16="http://schemas.microsoft.com/office/drawing/2014/main" id="{9BA2D88A-62A5-4AA4-9073-596E688C6E46}"/>
              </a:ext>
            </a:extLst>
          </p:cNvPr>
          <p:cNvSpPr>
            <a:spLocks noGrp="1"/>
          </p:cNvSpPr>
          <p:nvPr/>
        </p:nvSpPr>
        <p:spPr>
          <a:xfrm>
            <a:off x="644652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Shape 17">
            <a:extLst>
              <a:ext uri="{FF2B5EF4-FFF2-40B4-BE49-F238E27FC236}">
                <a16:creationId xmlns:a16="http://schemas.microsoft.com/office/drawing/2014/main" id="{FA4A4A10-7ADB-42BE-9A63-3BD65F824798}"/>
              </a:ext>
            </a:extLst>
          </p:cNvPr>
          <p:cNvSpPr>
            <a:spLocks noGrp="1"/>
          </p:cNvSpPr>
          <p:nvPr/>
        </p:nvSpPr>
        <p:spPr>
          <a:xfrm>
            <a:off x="658368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FE2852AB-8702-4D7E-9B9F-4844D7736CCE}"/>
              </a:ext>
            </a:extLst>
          </p:cNvPr>
          <p:cNvSpPr>
            <a:spLocks noGrp="1"/>
          </p:cNvSpPr>
          <p:nvPr/>
        </p:nvSpPr>
        <p:spPr>
          <a:xfrm>
            <a:off x="6766560" y="1417320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Vercel bila akun tersedia</a:t>
            </a:r>
            <a:endParaRPr sz="900"/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304ECDAB-EDDF-4B77-B4DE-6905629EF8F5}"/>
              </a:ext>
            </a:extLst>
          </p:cNvPr>
          <p:cNvSpPr>
            <a:spLocks noGrp="1"/>
          </p:cNvSpPr>
          <p:nvPr/>
        </p:nvSpPr>
        <p:spPr>
          <a:xfrm>
            <a:off x="6355080" y="1783080"/>
            <a:ext cx="5212080" cy="4297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600">
                <a:solidFill>
                  <a:srgbClr val="FFFFFF"/>
                </a:solidFill>
                <a:latin typeface="Aptos" panose="020B0004020202020204" pitchFamily="34" charset="0"/>
                <a:ea typeface="Consolas"/>
                <a:cs typeface="Consolas"/>
              </a:rPr>
              <a:t>Import repo Lab 08 ke Vercel.
Root Directory = root repo Lab 08.
Isi NEXT_PUBLIC_SUPABASE_URL dan
publishable key di Project Settings.
Secret/service role jangan NEXT_PUBLIC_.
Verifikasi URL live dan push auto-deploy.</a:t>
            </a:r>
            <a:endParaRPr sz="160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73960594"/>
      </p:ext>
    </p:extLst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>
            <a:extLst>
              <a:ext uri="{FF2B5EF4-FFF2-40B4-BE49-F238E27FC236}">
                <a16:creationId xmlns:a16="http://schemas.microsoft.com/office/drawing/2014/main" id="{0B86DC9D-6623-4169-8C9C-3145D037D6C7}"/>
              </a:ext>
            </a:extLst>
          </p:cNvPr>
          <p:cNvSpPr>
            <a:spLocks noGrp="1"/>
          </p:cNvSpPr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8</a:t>
            </a:r>
            <a:endParaRPr sz="9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7DEE372-5732-46B2-A5A3-CCDCD1213C21}"/>
              </a:ext>
            </a:extLst>
          </p:cNvPr>
          <p:cNvSpPr>
            <a:spLocks noGrp="1"/>
          </p:cNvSpPr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4</a:t>
            </a:r>
            <a:endParaRPr sz="9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6444FE1B-E38D-44B3-AEA5-6826CCE7CA16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>
            <a:extLst>
              <a:ext uri="{FF2B5EF4-FFF2-40B4-BE49-F238E27FC236}">
                <a16:creationId xmlns:a16="http://schemas.microsoft.com/office/drawing/2014/main" id="{36B0E2A9-8B0F-4E12-8FC4-67BFE3E2DE48}"/>
              </a:ext>
            </a:extLst>
          </p:cNvPr>
          <p:cNvSpPr>
            <a:spLocks noGrp="1"/>
          </p:cNvSpPr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14FC51D3-657E-4EAF-997E-6D6EBC36EF94}"/>
              </a:ext>
            </a:extLst>
          </p:cNvPr>
          <p:cNvSpPr>
            <a:spLocks noGrp="1"/>
          </p:cNvSpPr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1a | Dependensi dari lockfile</a:t>
            </a:r>
            <a:endParaRPr sz="22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7E594147-411E-4AC6-83CD-7B64DE78AA3C}"/>
              </a:ext>
            </a:extLst>
          </p:cNvPr>
          <p:cNvSpPr>
            <a:spLocks noGrp="1"/>
          </p:cNvSpPr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npm ci dijalankan sebelum server Next hidup</a:t>
            </a:r>
            <a:endParaRPr sz="1200"/>
          </a:p>
        </p:txBody>
      </p:sp>
      <p:pic>
        <p:nvPicPr>
          <p:cNvPr id="10" name="Picture 9" descr="13_npm_c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995678"/>
            <a:ext cx="10927080" cy="32781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5800" y="5797296"/>
            <a:ext cx="108813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0F336F"/>
                </a:solidFill>
                <a:latin typeface="Arial"/>
              </a:defRPr>
            </a:pPr>
            <a:r>
              <a:t>Perintah: npm ci. Fungsi: pasang dependensi dari lockfile.</a:t>
            </a:r>
            <a:br/>
            <a:r>
              <a:t>Cara kerja: npm menyusun node_modules; hasil: 37 paket, exit 0.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>
            <a:extLst>
              <a:ext uri="{FF2B5EF4-FFF2-40B4-BE49-F238E27FC236}">
                <a16:creationId xmlns:a16="http://schemas.microsoft.com/office/drawing/2014/main" id="{0B86DC9D-6623-4169-8C9C-3145D037D6C7}"/>
              </a:ext>
            </a:extLst>
          </p:cNvPr>
          <p:cNvSpPr>
            <a:spLocks noGrp="1"/>
          </p:cNvSpPr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8</a:t>
            </a:r>
            <a:endParaRPr sz="9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7DEE372-5732-46B2-A5A3-CCDCD1213C21}"/>
              </a:ext>
            </a:extLst>
          </p:cNvPr>
          <p:cNvSpPr>
            <a:spLocks noGrp="1"/>
          </p:cNvSpPr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6</a:t>
            </a:r>
            <a:endParaRPr sz="9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6444FE1B-E38D-44B3-AEA5-6826CCE7CA16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>
            <a:extLst>
              <a:ext uri="{FF2B5EF4-FFF2-40B4-BE49-F238E27FC236}">
                <a16:creationId xmlns:a16="http://schemas.microsoft.com/office/drawing/2014/main" id="{36B0E2A9-8B0F-4E12-8FC4-67BFE3E2DE48}"/>
              </a:ext>
            </a:extLst>
          </p:cNvPr>
          <p:cNvSpPr>
            <a:spLocks noGrp="1"/>
          </p:cNvSpPr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14FC51D3-657E-4EAF-997E-6D6EBC36EF94}"/>
              </a:ext>
            </a:extLst>
          </p:cNvPr>
          <p:cNvSpPr>
            <a:spLocks noGrp="1"/>
          </p:cNvSpPr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1b | Batas browser dan server</a:t>
            </a:r>
            <a:endParaRPr sz="22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7E594147-411E-4AC6-83CD-7B64DE78AA3C}"/>
              </a:ext>
            </a:extLst>
          </p:cNvPr>
          <p:cNvSpPr>
            <a:spLocks noGrp="1"/>
          </p:cNvSpPr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Baris source yang menghasilkan jalur Cloud Notes</a:t>
            </a:r>
            <a:endParaRPr sz="1200"/>
          </a:p>
        </p:txBody>
      </p:sp>
      <p:pic>
        <p:nvPicPr>
          <p:cNvPr id="10" name="Picture 9" descr="15_source_tou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2174" y="1463040"/>
            <a:ext cx="10082892" cy="43434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5800" y="5797296"/>
            <a:ext cx="108813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0F336F"/>
                </a:solidFill>
                <a:latin typeface="Arial"/>
              </a:defRPr>
            </a:pPr>
            <a:r>
              <a:t>Perintah: rg -n pada page.tsx dan route.ts. Fungsi: temukan batas browser/server.</a:t>
            </a:r>
            <a:br/>
            <a:r>
              <a:t>Cara kerja: rg membaca source; hasil: page memanggil /api/notes, server membaca LOCAL_API_URL.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>
            <a:extLst>
              <a:ext uri="{FF2B5EF4-FFF2-40B4-BE49-F238E27FC236}">
                <a16:creationId xmlns:a16="http://schemas.microsoft.com/office/drawing/2014/main" id="{0B86DC9D-6623-4169-8C9C-3145D037D6C7}"/>
              </a:ext>
            </a:extLst>
          </p:cNvPr>
          <p:cNvSpPr>
            <a:spLocks noGrp="1"/>
          </p:cNvSpPr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8</a:t>
            </a:r>
            <a:endParaRPr sz="9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7DEE372-5732-46B2-A5A3-CCDCD1213C21}"/>
              </a:ext>
            </a:extLst>
          </p:cNvPr>
          <p:cNvSpPr>
            <a:spLocks noGrp="1"/>
          </p:cNvSpPr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10</a:t>
            </a:r>
            <a:endParaRPr sz="9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6444FE1B-E38D-44B3-AEA5-6826CCE7CA16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>
            <a:extLst>
              <a:ext uri="{FF2B5EF4-FFF2-40B4-BE49-F238E27FC236}">
                <a16:creationId xmlns:a16="http://schemas.microsoft.com/office/drawing/2014/main" id="{36B0E2A9-8B0F-4E12-8FC4-67BFE3E2DE48}"/>
              </a:ext>
            </a:extLst>
          </p:cNvPr>
          <p:cNvSpPr>
            <a:spLocks noGrp="1"/>
          </p:cNvSpPr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14FC51D3-657E-4EAF-997E-6D6EBC36EF94}"/>
              </a:ext>
            </a:extLst>
          </p:cNvPr>
          <p:cNvSpPr>
            <a:spLocks noGrp="1"/>
          </p:cNvSpPr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3a | API berhenti lalu pulih</a:t>
            </a:r>
            <a:endParaRPr sz="22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7E594147-411E-4AC6-83CD-7B64DE78AA3C}"/>
              </a:ext>
            </a:extLst>
          </p:cNvPr>
          <p:cNvSpPr>
            <a:spLocks noGrp="1"/>
          </p:cNvSpPr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Perbandingan status setelah restart service API Lab 06</a:t>
            </a:r>
            <a:endParaRPr sz="1200"/>
          </a:p>
        </p:txBody>
      </p:sp>
      <p:pic>
        <p:nvPicPr>
          <p:cNvPr id="10" name="Picture 9" descr="19_pemulih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507" y="1463040"/>
            <a:ext cx="10620225" cy="43434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5800" y="5797296"/>
            <a:ext cx="108813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0F336F"/>
                </a:solidFill>
                <a:latin typeface="Arial"/>
              </a:defRPr>
            </a:pPr>
            <a:r>
              <a:t>Perintah: docker compose start api; GET ready dan notes. Fungsi: bukti pemulihan.</a:t>
            </a:r>
            <a:br/>
            <a:r>
              <a:t>Cara kerja: Next terhubung lagi ke API; hasil: 200/200 dan catatan tetap ada.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>
            <a:extLst>
              <a:ext uri="{FF2B5EF4-FFF2-40B4-BE49-F238E27FC236}">
                <a16:creationId xmlns:a16="http://schemas.microsoft.com/office/drawing/2014/main" id="{0B86DC9D-6623-4169-8C9C-3145D037D6C7}"/>
              </a:ext>
            </a:extLst>
          </p:cNvPr>
          <p:cNvSpPr>
            <a:spLocks noGrp="1"/>
          </p:cNvSpPr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8</a:t>
            </a:r>
            <a:endParaRPr sz="9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7DEE372-5732-46B2-A5A3-CCDCD1213C21}"/>
              </a:ext>
            </a:extLst>
          </p:cNvPr>
          <p:cNvSpPr>
            <a:spLocks noGrp="1"/>
          </p:cNvSpPr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13</a:t>
            </a:r>
            <a:endParaRPr sz="9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6444FE1B-E38D-44B3-AEA5-6826CCE7CA16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>
            <a:extLst>
              <a:ext uri="{FF2B5EF4-FFF2-40B4-BE49-F238E27FC236}">
                <a16:creationId xmlns:a16="http://schemas.microsoft.com/office/drawing/2014/main" id="{36B0E2A9-8B0F-4E12-8FC4-67BFE3E2DE48}"/>
              </a:ext>
            </a:extLst>
          </p:cNvPr>
          <p:cNvSpPr>
            <a:spLocks noGrp="1"/>
          </p:cNvSpPr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14FC51D3-657E-4EAF-997E-6D6EBC36EF94}"/>
              </a:ext>
            </a:extLst>
          </p:cNvPr>
          <p:cNvSpPr>
            <a:spLocks noGrp="1"/>
          </p:cNvSpPr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4a | POST, GET, dan Request ID</a:t>
            </a:r>
            <a:endParaRPr sz="22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7E594147-411E-4AC6-83CD-7B64DE78AA3C}"/>
              </a:ext>
            </a:extLst>
          </p:cNvPr>
          <p:cNvSpPr>
            <a:spLocks noGrp="1"/>
          </p:cNvSpPr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Respons nyata Route Handler pada jalur empat lapisan</a:t>
            </a:r>
            <a:endParaRPr sz="1200"/>
          </a:p>
        </p:txBody>
      </p:sp>
      <p:pic>
        <p:nvPicPr>
          <p:cNvPr id="10" name="Picture 9" descr="16_post_request_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5442" y="1463040"/>
            <a:ext cx="9156356" cy="43434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5800" y="5797296"/>
            <a:ext cx="108813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0F336F"/>
                </a:solidFill>
                <a:latin typeface="Arial"/>
              </a:defRPr>
            </a:pPr>
            <a:r>
              <a:t>Perintah: POST lalu GET /api/notes. Fungsi: buktikan simpan dan baca.</a:t>
            </a:r>
            <a:br/>
            <a:r>
              <a:t>Cara kerja: Next proxy ke Lab 06/DB; hasil: 201 + X-Request-ID, lalu GET 200.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>
            <a:extLst>
              <a:ext uri="{FF2B5EF4-FFF2-40B4-BE49-F238E27FC236}">
                <a16:creationId xmlns:a16="http://schemas.microsoft.com/office/drawing/2014/main" id="{0B86DC9D-6623-4169-8C9C-3145D037D6C7}"/>
              </a:ext>
            </a:extLst>
          </p:cNvPr>
          <p:cNvSpPr>
            <a:spLocks noGrp="1"/>
          </p:cNvSpPr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8</a:t>
            </a:r>
            <a:endParaRPr sz="9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7DEE372-5732-46B2-A5A3-CCDCD1213C21}"/>
              </a:ext>
            </a:extLst>
          </p:cNvPr>
          <p:cNvSpPr>
            <a:spLocks noGrp="1"/>
          </p:cNvSpPr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15</a:t>
            </a:r>
            <a:endParaRPr sz="9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6444FE1B-E38D-44B3-AEA5-6826CCE7CA16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>
            <a:extLst>
              <a:ext uri="{FF2B5EF4-FFF2-40B4-BE49-F238E27FC236}">
                <a16:creationId xmlns:a16="http://schemas.microsoft.com/office/drawing/2014/main" id="{36B0E2A9-8B0F-4E12-8FC4-67BFE3E2DE48}"/>
              </a:ext>
            </a:extLst>
          </p:cNvPr>
          <p:cNvSpPr>
            <a:spLocks noGrp="1"/>
          </p:cNvSpPr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14FC51D3-657E-4EAF-997E-6D6EBC36EF94}"/>
              </a:ext>
            </a:extLst>
          </p:cNvPr>
          <p:cNvSpPr>
            <a:spLocks noGrp="1"/>
          </p:cNvSpPr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5a | Validasi 400</a:t>
            </a:r>
            <a:endParaRPr sz="22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7E594147-411E-4AC6-83CD-7B64DE78AA3C}"/>
              </a:ext>
            </a:extLst>
          </p:cNvPr>
          <p:cNvSpPr>
            <a:spLocks noGrp="1"/>
          </p:cNvSpPr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Dua input salah ditolak sebelum mencapai API Lab 06</a:t>
            </a:r>
            <a:endParaRPr sz="1200"/>
          </a:p>
        </p:txBody>
      </p:sp>
      <p:pic>
        <p:nvPicPr>
          <p:cNvPr id="10" name="Picture 9" descr="17_validasi_aktu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26550" y="1463040"/>
            <a:ext cx="8754139" cy="43434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5800" y="5797296"/>
            <a:ext cx="108813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0F336F"/>
                </a:solidFill>
                <a:latin typeface="Arial"/>
              </a:defRPr>
            </a:pPr>
            <a:r>
              <a:t>Perintah: POST tanpa title dan POST JSON rusak. Fungsi: uji validasi server.</a:t>
            </a:r>
            <a:br/>
            <a:r>
              <a:t>Cara kerja: Route Handler menolak sebelum proxy; hasil: keduanya HTTP 400.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>
            <a:extLst>
              <a:ext uri="{FF2B5EF4-FFF2-40B4-BE49-F238E27FC236}">
                <a16:creationId xmlns:a16="http://schemas.microsoft.com/office/drawing/2014/main" id="{0B86DC9D-6623-4169-8C9C-3145D037D6C7}"/>
              </a:ext>
            </a:extLst>
          </p:cNvPr>
          <p:cNvSpPr>
            <a:spLocks noGrp="1"/>
          </p:cNvSpPr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8</a:t>
            </a:r>
            <a:endParaRPr sz="9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7DEE372-5732-46B2-A5A3-CCDCD1213C21}"/>
              </a:ext>
            </a:extLst>
          </p:cNvPr>
          <p:cNvSpPr>
            <a:spLocks noGrp="1"/>
          </p:cNvSpPr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16</a:t>
            </a:r>
            <a:endParaRPr sz="9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6444FE1B-E38D-44B3-AEA5-6826CCE7CA16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>
            <a:extLst>
              <a:ext uri="{FF2B5EF4-FFF2-40B4-BE49-F238E27FC236}">
                <a16:creationId xmlns:a16="http://schemas.microsoft.com/office/drawing/2014/main" id="{36B0E2A9-8B0F-4E12-8FC4-67BFE3E2DE48}"/>
              </a:ext>
            </a:extLst>
          </p:cNvPr>
          <p:cNvSpPr>
            <a:spLocks noGrp="1"/>
          </p:cNvSpPr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14FC51D3-657E-4EAF-997E-6D6EBC36EF94}"/>
              </a:ext>
            </a:extLst>
          </p:cNvPr>
          <p:cNvSpPr>
            <a:spLocks noGrp="1"/>
          </p:cNvSpPr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5b | Sembilan cek lulus</a:t>
            </a:r>
            <a:endParaRPr sz="22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7E594147-411E-4AC6-83CD-7B64DE78AA3C}"/>
              </a:ext>
            </a:extLst>
          </p:cNvPr>
          <p:cNvSpPr>
            <a:spLocks noGrp="1"/>
          </p:cNvSpPr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Checker berjalan ketika API Lab 06 sehat</a:t>
            </a:r>
            <a:endParaRPr sz="1200"/>
          </a:p>
        </p:txBody>
      </p:sp>
      <p:pic>
        <p:nvPicPr>
          <p:cNvPr id="10" name="Picture 9" descr="08_challenge_outpu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466614"/>
            <a:ext cx="10927080" cy="43362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5800" y="5797296"/>
            <a:ext cx="108813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0F336F"/>
                </a:solidFill>
                <a:latin typeface="Arial"/>
              </a:defRPr>
            </a:pPr>
            <a:r>
              <a:t>Perintah: npm run check:local. Fungsi: verifikasi kontrak aplikasi.</a:t>
            </a:r>
            <a:br/>
            <a:r>
              <a:t>Cara kerja: skrip menguji GET/POST dan validasi; hasil: 9 PASS, 0 FAIL.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>
            <a:extLst>
              <a:ext uri="{FF2B5EF4-FFF2-40B4-BE49-F238E27FC236}">
                <a16:creationId xmlns:a16="http://schemas.microsoft.com/office/drawing/2014/main" id="{0B86DC9D-6623-4169-8C9C-3145D037D6C7}"/>
              </a:ext>
            </a:extLst>
          </p:cNvPr>
          <p:cNvSpPr>
            <a:spLocks noGrp="1"/>
          </p:cNvSpPr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8</a:t>
            </a:r>
            <a:endParaRPr sz="9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7DEE372-5732-46B2-A5A3-CCDCD1213C21}"/>
              </a:ext>
            </a:extLst>
          </p:cNvPr>
          <p:cNvSpPr>
            <a:spLocks noGrp="1"/>
          </p:cNvSpPr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19</a:t>
            </a:r>
            <a:endParaRPr sz="9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6444FE1B-E38D-44B3-AEA5-6826CCE7CA16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>
            <a:extLst>
              <a:ext uri="{FF2B5EF4-FFF2-40B4-BE49-F238E27FC236}">
                <a16:creationId xmlns:a16="http://schemas.microsoft.com/office/drawing/2014/main" id="{36B0E2A9-8B0F-4E12-8FC4-67BFE3E2DE48}"/>
              </a:ext>
            </a:extLst>
          </p:cNvPr>
          <p:cNvSpPr>
            <a:spLocks noGrp="1"/>
          </p:cNvSpPr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14FC51D3-657E-4EAF-997E-6D6EBC36EF94}"/>
              </a:ext>
            </a:extLst>
          </p:cNvPr>
          <p:cNvSpPr>
            <a:spLocks noGrp="1"/>
          </p:cNvSpPr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6 | Git mengabaikan file lokal</a:t>
            </a:r>
            <a:endParaRPr sz="22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7E594147-411E-4AC6-83CD-7B64DE78AA3C}"/>
              </a:ext>
            </a:extLst>
          </p:cNvPr>
          <p:cNvSpPr>
            <a:spLocks noGrp="1"/>
          </p:cNvSpPr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Periksa isi commit sebelum push repo milik mahasiswa</a:t>
            </a:r>
            <a:endParaRPr sz="1200"/>
          </a:p>
        </p:txBody>
      </p:sp>
      <p:pic>
        <p:nvPicPr>
          <p:cNvPr id="10" name="Picture 9" descr="20_git_ringkas_pp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757524"/>
            <a:ext cx="10927080" cy="37544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5800" y="5797296"/>
            <a:ext cx="108813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0F336F"/>
                </a:solidFill>
                <a:latin typeface="Arial"/>
              </a:defRPr>
            </a:pPr>
            <a:r>
              <a:t>Perintah: git check-ignore -v + git diff --cached --check. Fungsi: periksa commit.</a:t>
            </a:r>
            <a:br/>
            <a:r>
              <a:t>Cara kerja: .gitignore menyaring file lokal; hasil: env, node_modules, .next diabaikan.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1272</Words>
  <Application>Microsoft Office PowerPoint</Application>
  <DocSecurity>0</DocSecurity>
  <PresentationFormat>Widescreen</PresentationFormat>
  <Paragraphs>139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Aptos</vt:lpstr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Budi Juarto</cp:lastModifiedBy>
  <cp:revision>1</cp:revision>
  <dcterms:created xsi:type="dcterms:W3CDTF">2026-10-01T00:51:24Z</dcterms:created>
  <dcterms:modified xsi:type="dcterms:W3CDTF">2026-10-07T13:00:38Z</dcterms:modified>
</cp:coreProperties>
</file>