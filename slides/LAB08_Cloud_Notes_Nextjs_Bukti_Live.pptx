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9fa6d33db344ec" /><Relationship Type="http://schemas.openxmlformats.org/officeDocument/2006/relationships/extended-properties" Target="/docProps/app.xml" Id="Rc69eb62b99974382" /><Relationship Type="http://schemas.openxmlformats.org/officeDocument/2006/relationships/officeDocument" Target="/ppt/presentation.xml" Id="R1d7456e85d5e4a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7be2ea59924af6"/>
  </p:sldMasterIdLst>
  <p:notesMasterIdLst>
    <p:notesMasterId xmlns:r="http://schemas.openxmlformats.org/officeDocument/2006/relationships" r:id="Rc52ac088ebc84768"/>
  </p:notesMasterIdLst>
  <p:sldIdLst>
    <p:sldId xmlns:r="http://schemas.openxmlformats.org/officeDocument/2006/relationships" id="256" r:id="R98602ecb86c543b8"/>
    <p:sldId xmlns:r="http://schemas.openxmlformats.org/officeDocument/2006/relationships" id="257" r:id="R546ce563cfec4224"/>
    <p:sldId xmlns:r="http://schemas.openxmlformats.org/officeDocument/2006/relationships" id="258" r:id="R73707c76d1c3457d"/>
    <p:sldId xmlns:r="http://schemas.openxmlformats.org/officeDocument/2006/relationships" id="259" r:id="R190e93c712a04cdd"/>
    <p:sldId xmlns:r="http://schemas.openxmlformats.org/officeDocument/2006/relationships" id="260" r:id="Re5125d7df2cc40c7"/>
    <p:sldId xmlns:r="http://schemas.openxmlformats.org/officeDocument/2006/relationships" id="261" r:id="Rbe949fda1c724fb2"/>
    <p:sldId xmlns:r="http://schemas.openxmlformats.org/officeDocument/2006/relationships" id="262" r:id="R4d2ee66d24334136"/>
    <p:sldId xmlns:r="http://schemas.openxmlformats.org/officeDocument/2006/relationships" id="263" r:id="R8965af6211624142"/>
    <p:sldId xmlns:r="http://schemas.openxmlformats.org/officeDocument/2006/relationships" id="264" r:id="R3c3eb33768334926"/>
    <p:sldId xmlns:r="http://schemas.openxmlformats.org/officeDocument/2006/relationships" id="265" r:id="Rc61e3033f8a94c84"/>
    <p:sldId xmlns:r="http://schemas.openxmlformats.org/officeDocument/2006/relationships" id="266" r:id="R14086b4ee117426e"/>
    <p:sldId xmlns:r="http://schemas.openxmlformats.org/officeDocument/2006/relationships" id="267" r:id="R859066b79b954e44"/>
    <p:sldId xmlns:r="http://schemas.openxmlformats.org/officeDocument/2006/relationships" id="268" r:id="R2982779ab1b84b59"/>
    <p:sldId xmlns:r="http://schemas.openxmlformats.org/officeDocument/2006/relationships" id="269" r:id="R172495b6f3934495"/>
    <p:sldId xmlns:r="http://schemas.openxmlformats.org/officeDocument/2006/relationships" id="270" r:id="R92758199cf714a2c"/>
    <p:sldId xmlns:r="http://schemas.openxmlformats.org/officeDocument/2006/relationships" id="271" r:id="Rf7058e2b701b42bc"/>
    <p:sldId xmlns:r="http://schemas.openxmlformats.org/officeDocument/2006/relationships" id="272" r:id="Re43b822b4ddf42a5"/>
    <p:sldId xmlns:r="http://schemas.openxmlformats.org/officeDocument/2006/relationships" id="273" r:id="R96d83d1940724a0e"/>
    <p:sldId xmlns:r="http://schemas.openxmlformats.org/officeDocument/2006/relationships" id="274" r:id="R9a977624b6544f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2889d9bce44ab6" /><Relationship Type="http://schemas.openxmlformats.org/officeDocument/2006/relationships/slideMaster" Target="/ppt/slideMasters/slideMaster1.xml" Id="R6e7be2ea59924af6" /><Relationship Type="http://schemas.openxmlformats.org/officeDocument/2006/relationships/notesMaster" Target="/ppt/notesMasters/notesMaster1.xml" Id="Rc52ac088ebc84768" /><Relationship Type="http://schemas.openxmlformats.org/officeDocument/2006/relationships/presProps" Target="/ppt/presProps.xml" Id="R4740cbf53f1245da" /><Relationship Type="http://schemas.openxmlformats.org/officeDocument/2006/relationships/viewProps" Target="/ppt/viewProps.xml" Id="Ra2589717699f4442" /><Relationship Type="http://schemas.openxmlformats.org/officeDocument/2006/relationships/tableStyles" Target="/ppt/tableStyles.xml" Id="Rd1070d9f5239499a" /><Relationship Type="http://schemas.openxmlformats.org/officeDocument/2006/relationships/slide" Target="/ppt/slides/slide1.xml" Id="R98602ecb86c543b8" /><Relationship Type="http://schemas.openxmlformats.org/officeDocument/2006/relationships/slide" Target="/ppt/slides/slide2.xml" Id="R546ce563cfec4224" /><Relationship Type="http://schemas.openxmlformats.org/officeDocument/2006/relationships/slide" Target="/ppt/slides/slide3.xml" Id="R73707c76d1c3457d" /><Relationship Type="http://schemas.openxmlformats.org/officeDocument/2006/relationships/slide" Target="/ppt/slides/slide4.xml" Id="R190e93c712a04cdd" /><Relationship Type="http://schemas.openxmlformats.org/officeDocument/2006/relationships/slide" Target="/ppt/slides/slide5.xml" Id="Re5125d7df2cc40c7" /><Relationship Type="http://schemas.openxmlformats.org/officeDocument/2006/relationships/slide" Target="/ppt/slides/slide6.xml" Id="Rbe949fda1c724fb2" /><Relationship Type="http://schemas.openxmlformats.org/officeDocument/2006/relationships/slide" Target="/ppt/slides/slide7.xml" Id="R4d2ee66d24334136" /><Relationship Type="http://schemas.openxmlformats.org/officeDocument/2006/relationships/slide" Target="/ppt/slides/slide8.xml" Id="R8965af6211624142" /><Relationship Type="http://schemas.openxmlformats.org/officeDocument/2006/relationships/slide" Target="/ppt/slides/slide9.xml" Id="R3c3eb33768334926" /><Relationship Type="http://schemas.openxmlformats.org/officeDocument/2006/relationships/slide" Target="/ppt/slides/slide10.xml" Id="Rc61e3033f8a94c84" /><Relationship Type="http://schemas.openxmlformats.org/officeDocument/2006/relationships/slide" Target="/ppt/slides/slide11.xml" Id="R14086b4ee117426e" /><Relationship Type="http://schemas.openxmlformats.org/officeDocument/2006/relationships/slide" Target="/ppt/slides/slide12.xml" Id="R859066b79b954e44" /><Relationship Type="http://schemas.openxmlformats.org/officeDocument/2006/relationships/slide" Target="/ppt/slides/slide13.xml" Id="R2982779ab1b84b59" /><Relationship Type="http://schemas.openxmlformats.org/officeDocument/2006/relationships/slide" Target="/ppt/slides/slide14.xml" Id="R172495b6f3934495" /><Relationship Type="http://schemas.openxmlformats.org/officeDocument/2006/relationships/slide" Target="/ppt/slides/slide15.xml" Id="R92758199cf714a2c" /><Relationship Type="http://schemas.openxmlformats.org/officeDocument/2006/relationships/slide" Target="/ppt/slides/slide16.xml" Id="Rf7058e2b701b42bc" /><Relationship Type="http://schemas.openxmlformats.org/officeDocument/2006/relationships/slide" Target="/ppt/slides/slide17.xml" Id="Re43b822b4ddf42a5" /><Relationship Type="http://schemas.openxmlformats.org/officeDocument/2006/relationships/slide" Target="/ppt/slides/slide18.xml" Id="R96d83d1940724a0e" /><Relationship Type="http://schemas.openxmlformats.org/officeDocument/2006/relationships/slide" Target="/ppt/slides/slide19.xml" Id="R9a977624b6544f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31d26de5274e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9461d869954c0a" /><Relationship Type="http://schemas.openxmlformats.org/officeDocument/2006/relationships/notesMaster" Target="/ppt/notesMasters/notesMaster1.xml" Id="R870b94ff3a5342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346d94041546ed" /><Relationship Type="http://schemas.openxmlformats.org/officeDocument/2006/relationships/notesMaster" Target="/ppt/notesMasters/notesMaster1.xml" Id="R34ee095030eb43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b75837a48a4717" /><Relationship Type="http://schemas.openxmlformats.org/officeDocument/2006/relationships/notesMaster" Target="/ppt/notesMasters/notesMaster1.xml" Id="R8b50be1715a640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dd6b9e5e83456e" /><Relationship Type="http://schemas.openxmlformats.org/officeDocument/2006/relationships/notesMaster" Target="/ppt/notesMasters/notesMaster1.xml" Id="R4d271f098f0d45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85a2c9a3384b19" /><Relationship Type="http://schemas.openxmlformats.org/officeDocument/2006/relationships/notesMaster" Target="/ppt/notesMasters/notesMaster1.xml" Id="R7eab05c370a84f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6c4841942240d7" /><Relationship Type="http://schemas.openxmlformats.org/officeDocument/2006/relationships/notesMaster" Target="/ppt/notesMasters/notesMaster1.xml" Id="R4a16938018d84a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42f9eb516b4d7a" /><Relationship Type="http://schemas.openxmlformats.org/officeDocument/2006/relationships/notesMaster" Target="/ppt/notesMasters/notesMaster1.xml" Id="R46741956f95e46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3f1a0460b745ff" /><Relationship Type="http://schemas.openxmlformats.org/officeDocument/2006/relationships/notesMaster" Target="/ppt/notesMasters/notesMaster1.xml" Id="R67cc9c6aacc143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bfeaa02d9e472c" /><Relationship Type="http://schemas.openxmlformats.org/officeDocument/2006/relationships/notesMaster" Target="/ppt/notesMasters/notesMaster1.xml" Id="R0a1a939d1dce48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763481685f4068" /><Relationship Type="http://schemas.openxmlformats.org/officeDocument/2006/relationships/notesMaster" Target="/ppt/notesMasters/notesMaster1.xml" Id="Rb15484552a9440b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eb3d55e5cf04262" /><Relationship Type="http://schemas.openxmlformats.org/officeDocument/2006/relationships/notesMaster" Target="/ppt/notesMasters/notesMaster1.xml" Id="R3a058ee79ad340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d85c84a1474a77" /><Relationship Type="http://schemas.openxmlformats.org/officeDocument/2006/relationships/notesMaster" Target="/ppt/notesMasters/notesMaster1.xml" Id="R44261ee3fc654a5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b962b223084eb1" /><Relationship Type="http://schemas.openxmlformats.org/officeDocument/2006/relationships/notesMaster" Target="/ppt/notesMasters/notesMaster1.xml" Id="Racd2ed1f31de423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4c4209b623430c" /><Relationship Type="http://schemas.openxmlformats.org/officeDocument/2006/relationships/notesMaster" Target="/ppt/notesMasters/notesMaster1.xml" Id="Rd52f89d1cfde4a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3fc6afc8a2c4fa8" /><Relationship Type="http://schemas.openxmlformats.org/officeDocument/2006/relationships/notesMaster" Target="/ppt/notesMasters/notesMaster1.xml" Id="Re03e98bf50c94d8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28b5913f990428d" /><Relationship Type="http://schemas.openxmlformats.org/officeDocument/2006/relationships/notesMaster" Target="/ppt/notesMasters/notesMaster1.xml" Id="Rb41b0559cb024c0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67497d5a4dd4476" /><Relationship Type="http://schemas.openxmlformats.org/officeDocument/2006/relationships/notesMaster" Target="/ppt/notesMasters/notesMaster1.xml" Id="R1bf008d6f545457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2a7a7cdea6e4372" /><Relationship Type="http://schemas.openxmlformats.org/officeDocument/2006/relationships/notesMaster" Target="/ppt/notesMasters/notesMaster1.xml" Id="R276573bef1e94d0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0aba0f4b1db413f" /><Relationship Type="http://schemas.openxmlformats.org/officeDocument/2006/relationships/notesMaster" Target="/ppt/notesMasters/notesMaster1.xml" Id="R3cfbaf2f4c6749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Command: npm ci. Fungsi: memasang paket dari package-lock.json. Cara kerja: npm membangun ulang node_modules. Hasil: 37 paket, 0 vulnerability, exit 0. Output lengkap screenshots/13_npm_ci.txt.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Command: rg -n 'use client|fetch|LOCAL_API_URL|export async function' src/app/page.tsx src/app/api/notes/route.ts. Fungsi: menelusuri kode. Cara kerja: rg membaca source. Hasil: halaman adalah Client Component, Route Handler memegang URL API privat. Output lengkap screenshots/15_source_tour.txt.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Command: docker compose stop api; probe /api/health, /api/ready, /api/notes; docker compose start api; probe lagi. Fungsi: membedakan liveness dan readiness serta memastikan data pulih. Cara kerja: Next tetap hidup ketika API mati; PostgreSQL tidak dihentikan. Hasil: outage 200/503/503, pulih 200/200 dan catatan lama ditemukan. Output lengkap screenshots/18_outage_probe.txt dan 19_pemulihan.txt.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Command: Invoke-WebRequest POST /api/notes dengan title/content, lalu GET /api/notes. Fungsi: membuktikan tulis/baca dan korelasi log. Cara kerja: Next meneruskan ke API Lab 06; PostgreSQL menyimpan. Hasil: HTTP 201, header X-Request-ID, GET 200. ID cocok dengan event notes_proxy di terminal Next. Output lengkap screenshots/16_post_request_id.txt.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Command: dua POST /api/notes dengan payload tidak valid. Fungsi: memisahkan kesalahan pengguna dari outage. Cara kerja: Route Handler memvalidasi sebelum proxy. Hasil: HTTP 400 dengan pesan judul wajib dan JSON tidak valid. Output lengkap screenshots/17_validasi_aktual.txt.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Command: npm run check:local. Fungsi: menguji liveness, readiness, validasi, POST, GET, dan header request ID. Cara kerja: tests/challenge.mjs memanggil Next dan menyimpan catatan uji. Hasil: 9 PASS, 0 FAIL. Ini output aktual yang ditata ulang.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Perintah: npm run typecheck; npm run build. Fungsi: verifikasi tipe dan bundel produksi. Cara kerja: tsc memeriksa TypeScript, Next menyusun App Router. Hasil: keduanya exit 0; /api/ready tercantum. Screenshot ringkas berasal dari output aktual screenshots/21_build_aktual.txt.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Command: git status --short; git check-ignore -v .env.local node_modules .next; git diff --cached --check. Fungsi: mencegah secret dan hasil build ikut commit. Cara kerja: .gitignore menyaring tiga path. Hasil: ketiganya diabaikan; contoh belum membuktikan push mahasiswa. Output lengkap screenshots/20_git_aman.txt.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2e0148cbca42a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d49b0ee5974f89" /><Relationship Type="http://schemas.openxmlformats.org/officeDocument/2006/relationships/slideLayout" Target="/ppt/slideLayouts/slideLayout1.xml" Id="Rff3c166415f7423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3c166415f7423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ddc69259e4919" /><Relationship Type="http://schemas.openxmlformats.org/officeDocument/2006/relationships/image" Target="/ppt/media/image.jpeg" Id="Rd334941427d24376" /><Relationship Type="http://schemas.openxmlformats.org/officeDocument/2006/relationships/image" Target="/ppt/media/image.png" Id="R5106e05c53984dd5" /><Relationship Type="http://schemas.openxmlformats.org/officeDocument/2006/relationships/image" Target="/ppt/media/image2.png" Id="R5c66ace3870b44af" /><Relationship Type="http://schemas.openxmlformats.org/officeDocument/2006/relationships/notesSlide" Target="/ppt/notesSlides/notesSlide1.xml" Id="R1e951acdb6dd44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18e715ecb49ff" /><Relationship Type="http://schemas.openxmlformats.org/officeDocument/2006/relationships/image" Target="/ppt/media/image.png" Id="R22193168426a4f2e" /><Relationship Type="http://schemas.openxmlformats.org/officeDocument/2006/relationships/image" Target="/ppt/media/image2.png" Id="R2547d33392ff4abb" /><Relationship Type="http://schemas.openxmlformats.org/officeDocument/2006/relationships/image" Target="/ppt/media/image3.png" Id="R6342f405d3f4425f" /><Relationship Type="http://schemas.openxmlformats.org/officeDocument/2006/relationships/image" Target="/ppt/media/image4.png" Id="R085a7d5fd4b542ec" /><Relationship Type="http://schemas.openxmlformats.org/officeDocument/2006/relationships/image" Target="/ppt/media/image5.png" Id="Rdf099ab65f5c497c" /><Relationship Type="http://schemas.openxmlformats.org/officeDocument/2006/relationships/image" Target="/ppt/media/image6.png" Id="R72250a3c828d4bab" /><Relationship Type="http://schemas.openxmlformats.org/officeDocument/2006/relationships/image" Target="/ppt/media/image7.png" Id="Rccc7566f06094cf1" /><Relationship Type="http://schemas.openxmlformats.org/officeDocument/2006/relationships/image" Target="/ppt/media/image8.png" Id="Rfd95801a65cc45d6" /><Relationship Type="http://schemas.openxmlformats.org/officeDocument/2006/relationships/image" Target="/ppt/media/image9.png" Id="R72207e06399440d3" /><Relationship Type="http://schemas.openxmlformats.org/officeDocument/2006/relationships/notesSlide" Target="/ppt/notesSlides/notesSlide2.xml" Id="R188ef9d6672148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69e7532fb47fb" /><Relationship Type="http://schemas.openxmlformats.org/officeDocument/2006/relationships/image" Target="/ppt/media/image.png" Id="R0a80aaa4338b4d56" /><Relationship Type="http://schemas.openxmlformats.org/officeDocument/2006/relationships/image" Target="/ppt/media/image2.png" Id="R17d5867824484fe0" /><Relationship Type="http://schemas.openxmlformats.org/officeDocument/2006/relationships/notesSlide" Target="/ppt/notesSlides/notesSlide3.xml" Id="Rcb484ff8b8bb45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814e70e0340bd" /><Relationship Type="http://schemas.openxmlformats.org/officeDocument/2006/relationships/image" Target="/ppt/media/image.png" Id="R763ab537f44344af" /><Relationship Type="http://schemas.openxmlformats.org/officeDocument/2006/relationships/image" Target="/ppt/media/image2.png" Id="R65e3f1eebad74f97" /><Relationship Type="http://schemas.openxmlformats.org/officeDocument/2006/relationships/image" Target="/ppt/media/image10.png" Id="R31fa8914647a4347" /><Relationship Type="http://schemas.openxmlformats.org/officeDocument/2006/relationships/notesSlide" Target="/ppt/notesSlides/notesSlide4.xml" Id="R001361d4639e45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0ad13f6a849ba" /><Relationship Type="http://schemas.openxmlformats.org/officeDocument/2006/relationships/image" Target="/ppt/media/image.png" Id="Re396fae101544fc1" /><Relationship Type="http://schemas.openxmlformats.org/officeDocument/2006/relationships/image" Target="/ppt/media/image2.png" Id="Rd35be0e9976a4515" /><Relationship Type="http://schemas.openxmlformats.org/officeDocument/2006/relationships/image" Target="/ppt/media/image3.png" Id="R9c40b3e2126f4757" /><Relationship Type="http://schemas.openxmlformats.org/officeDocument/2006/relationships/image" Target="/ppt/media/image4.png" Id="Rdf5894bf762f408c" /><Relationship Type="http://schemas.openxmlformats.org/officeDocument/2006/relationships/image" Target="/ppt/media/image5.png" Id="Raba09443ce094e62" /><Relationship Type="http://schemas.openxmlformats.org/officeDocument/2006/relationships/image" Target="/ppt/media/image6.png" Id="Rb773582266cb462d" /><Relationship Type="http://schemas.openxmlformats.org/officeDocument/2006/relationships/image" Target="/ppt/media/image7.png" Id="R483509940dc748ac" /><Relationship Type="http://schemas.openxmlformats.org/officeDocument/2006/relationships/image" Target="/ppt/media/image8.png" Id="R6f2a6f346ff1458f" /><Relationship Type="http://schemas.openxmlformats.org/officeDocument/2006/relationships/image" Target="/ppt/media/image9.png" Id="R8ae294c481f04477" /><Relationship Type="http://schemas.openxmlformats.org/officeDocument/2006/relationships/image" Target="/ppt/media/image11.png" Id="R951ccb060eb04518" /><Relationship Type="http://schemas.openxmlformats.org/officeDocument/2006/relationships/notesSlide" Target="/ppt/notesSlides/notesSlide5.xml" Id="R5e9960c8f91145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7a24792d0a4b0d" /><Relationship Type="http://schemas.openxmlformats.org/officeDocument/2006/relationships/image" Target="/ppt/media/image.png" Id="R14a7c46f8cf54860" /><Relationship Type="http://schemas.openxmlformats.org/officeDocument/2006/relationships/image" Target="/ppt/media/image2.png" Id="R2834027c333c4da8" /><Relationship Type="http://schemas.openxmlformats.org/officeDocument/2006/relationships/image" Target="/ppt/media/image12.png" Id="Rfda2f222ac524793" /><Relationship Type="http://schemas.openxmlformats.org/officeDocument/2006/relationships/notesSlide" Target="/ppt/notesSlides/notesSlide6.xml" Id="R3266df0654424a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d06f4b0a204bbe" /><Relationship Type="http://schemas.openxmlformats.org/officeDocument/2006/relationships/image" Target="/ppt/media/image.png" Id="R664e867c6c1e41f3" /><Relationship Type="http://schemas.openxmlformats.org/officeDocument/2006/relationships/image" Target="/ppt/media/image2.png" Id="R204700106148406f" /><Relationship Type="http://schemas.openxmlformats.org/officeDocument/2006/relationships/notesSlide" Target="/ppt/notesSlides/notesSlide7.xml" Id="R3e242185473449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5109f67684dbf" /><Relationship Type="http://schemas.openxmlformats.org/officeDocument/2006/relationships/image" Target="/ppt/media/image.png" Id="R117e449046b14e83" /><Relationship Type="http://schemas.openxmlformats.org/officeDocument/2006/relationships/image" Target="/ppt/media/image2.png" Id="Rb3b999a5362e487a" /><Relationship Type="http://schemas.openxmlformats.org/officeDocument/2006/relationships/image" Target="/ppt/media/image3.png" Id="R941812bb85714c6c" /><Relationship Type="http://schemas.openxmlformats.org/officeDocument/2006/relationships/image" Target="/ppt/media/image4.png" Id="R68f0480f92734d9f" /><Relationship Type="http://schemas.openxmlformats.org/officeDocument/2006/relationships/image" Target="/ppt/media/image5.png" Id="R0a0474f7bfc44890" /><Relationship Type="http://schemas.openxmlformats.org/officeDocument/2006/relationships/image" Target="/ppt/media/image6.png" Id="R8a88a61af456447c" /><Relationship Type="http://schemas.openxmlformats.org/officeDocument/2006/relationships/image" Target="/ppt/media/image7.png" Id="Rdc8a816f44a149ec" /><Relationship Type="http://schemas.openxmlformats.org/officeDocument/2006/relationships/image" Target="/ppt/media/image8.png" Id="R82c37628f8654ab4" /><Relationship Type="http://schemas.openxmlformats.org/officeDocument/2006/relationships/image" Target="/ppt/media/image9.png" Id="R4aeb28ed675b44c7" /><Relationship Type="http://schemas.openxmlformats.org/officeDocument/2006/relationships/image" Target="/ppt/media/image13.png" Id="R3e6e502954b844ed" /><Relationship Type="http://schemas.openxmlformats.org/officeDocument/2006/relationships/notesSlide" Target="/ppt/notesSlides/notesSlide8.xml" Id="R450f156e05904dd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d6a14a5224196" /><Relationship Type="http://schemas.openxmlformats.org/officeDocument/2006/relationships/image" Target="/ppt/media/image.png" Id="Rc778249b02c043c0" /><Relationship Type="http://schemas.openxmlformats.org/officeDocument/2006/relationships/image" Target="/ppt/media/image2.png" Id="Rc35610e4aca54d39" /><Relationship Type="http://schemas.openxmlformats.org/officeDocument/2006/relationships/image" Target="/ppt/media/image3.png" Id="R55e84dc5a5de4dae" /><Relationship Type="http://schemas.openxmlformats.org/officeDocument/2006/relationships/image" Target="/ppt/media/image4.png" Id="R10352de5c8df4b64" /><Relationship Type="http://schemas.openxmlformats.org/officeDocument/2006/relationships/image" Target="/ppt/media/image5.png" Id="R05ad354c07c34fd2" /><Relationship Type="http://schemas.openxmlformats.org/officeDocument/2006/relationships/image" Target="/ppt/media/image6.png" Id="R220f31b8e5d3447a" /><Relationship Type="http://schemas.openxmlformats.org/officeDocument/2006/relationships/image" Target="/ppt/media/image7.png" Id="R19d491c03abe4fc0" /><Relationship Type="http://schemas.openxmlformats.org/officeDocument/2006/relationships/image" Target="/ppt/media/image8.png" Id="Rc6c2f617fc954e02" /><Relationship Type="http://schemas.openxmlformats.org/officeDocument/2006/relationships/image" Target="/ppt/media/image9.png" Id="R86fecf72a0d247c8" /><Relationship Type="http://schemas.openxmlformats.org/officeDocument/2006/relationships/image" Target="/ppt/media/image14.png" Id="Rf19fffc45aa748d0" /><Relationship Type="http://schemas.openxmlformats.org/officeDocument/2006/relationships/notesSlide" Target="/ppt/notesSlides/notesSlide9.xml" Id="R334171ac601c47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e1a285c054ef1" /><Relationship Type="http://schemas.openxmlformats.org/officeDocument/2006/relationships/image" Target="/ppt/media/image.png" Id="R38a43a3f54b54ce8" /><Relationship Type="http://schemas.openxmlformats.org/officeDocument/2006/relationships/image" Target="/ppt/media/image2.png" Id="Rf287e5f54db24eb4" /><Relationship Type="http://schemas.openxmlformats.org/officeDocument/2006/relationships/image" Target="/ppt/media/image15.png" Id="R247657a59bc34774" /><Relationship Type="http://schemas.openxmlformats.org/officeDocument/2006/relationships/notesSlide" Target="/ppt/notesSlides/notesSlide10.xml" Id="Rce4bed4a27094a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d609750794ed0" /><Relationship Type="http://schemas.openxmlformats.org/officeDocument/2006/relationships/image" Target="/ppt/media/image.png" Id="R470f6decc32b4ede" /><Relationship Type="http://schemas.openxmlformats.org/officeDocument/2006/relationships/image" Target="/ppt/media/image2.png" Id="R12fe09fa0e9c4e32" /><Relationship Type="http://schemas.openxmlformats.org/officeDocument/2006/relationships/notesSlide" Target="/ppt/notesSlides/notesSlide11.xml" Id="R44c0cd97917c47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f459638b8478a" /><Relationship Type="http://schemas.openxmlformats.org/officeDocument/2006/relationships/image" Target="/ppt/media/image.png" Id="R35ef7ba4e73d453a" /><Relationship Type="http://schemas.openxmlformats.org/officeDocument/2006/relationships/image" Target="/ppt/media/image2.png" Id="Re20bc8dd08c241ae" /><Relationship Type="http://schemas.openxmlformats.org/officeDocument/2006/relationships/image" Target="/ppt/media/image3.png" Id="R2736791a0f5a425e" /><Relationship Type="http://schemas.openxmlformats.org/officeDocument/2006/relationships/image" Target="/ppt/media/image4.png" Id="R2f19fa29ab904a46" /><Relationship Type="http://schemas.openxmlformats.org/officeDocument/2006/relationships/image" Target="/ppt/media/image5.png" Id="Rc8ba9022585d4fb3" /><Relationship Type="http://schemas.openxmlformats.org/officeDocument/2006/relationships/image" Target="/ppt/media/image6.png" Id="Reb332f8e30ec4ccc" /><Relationship Type="http://schemas.openxmlformats.org/officeDocument/2006/relationships/image" Target="/ppt/media/image7.png" Id="R8298d8fc1ad24bd4" /><Relationship Type="http://schemas.openxmlformats.org/officeDocument/2006/relationships/image" Target="/ppt/media/image8.png" Id="R323b4017b222410a" /><Relationship Type="http://schemas.openxmlformats.org/officeDocument/2006/relationships/image" Target="/ppt/media/image9.png" Id="R4674103d888e4c95" /><Relationship Type="http://schemas.openxmlformats.org/officeDocument/2006/relationships/image" Target="/ppt/media/image16.png" Id="R24da77f142da46fc" /><Relationship Type="http://schemas.openxmlformats.org/officeDocument/2006/relationships/notesSlide" Target="/ppt/notesSlides/notesSlide12.xml" Id="Ra6ecfeffae72425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939725f7548bf" /><Relationship Type="http://schemas.openxmlformats.org/officeDocument/2006/relationships/image" Target="/ppt/media/image.png" Id="R06126efe62044d16" /><Relationship Type="http://schemas.openxmlformats.org/officeDocument/2006/relationships/image" Target="/ppt/media/image2.png" Id="Rfd028033c39f4298" /><Relationship Type="http://schemas.openxmlformats.org/officeDocument/2006/relationships/image" Target="/ppt/media/image17.png" Id="Rdebad471c3e04766" /><Relationship Type="http://schemas.openxmlformats.org/officeDocument/2006/relationships/notesSlide" Target="/ppt/notesSlides/notesSlide13.xml" Id="R8f35e99aefcb4e8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42a8ba187454e" /><Relationship Type="http://schemas.openxmlformats.org/officeDocument/2006/relationships/image" Target="/ppt/media/image.png" Id="R07ffb13d81ec4ea5" /><Relationship Type="http://schemas.openxmlformats.org/officeDocument/2006/relationships/image" Target="/ppt/media/image2.png" Id="R1b407f06ca0b4f61" /><Relationship Type="http://schemas.openxmlformats.org/officeDocument/2006/relationships/notesSlide" Target="/ppt/notesSlides/notesSlide14.xml" Id="R49698afd11ab4b5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63aefd9c244e8" /><Relationship Type="http://schemas.openxmlformats.org/officeDocument/2006/relationships/image" Target="/ppt/media/image.png" Id="Rc155ed204f7f4dd4" /><Relationship Type="http://schemas.openxmlformats.org/officeDocument/2006/relationships/image" Target="/ppt/media/image2.png" Id="R484ce9d140884485" /><Relationship Type="http://schemas.openxmlformats.org/officeDocument/2006/relationships/image" Target="/ppt/media/image18.png" Id="R1935f7bbce8b4bc8" /><Relationship Type="http://schemas.openxmlformats.org/officeDocument/2006/relationships/notesSlide" Target="/ppt/notesSlides/notesSlide15.xml" Id="Rb4b5c613019846f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7e3acb9404778" /><Relationship Type="http://schemas.openxmlformats.org/officeDocument/2006/relationships/image" Target="/ppt/media/image.png" Id="R09a90ec18c64404b" /><Relationship Type="http://schemas.openxmlformats.org/officeDocument/2006/relationships/image" Target="/ppt/media/image2.png" Id="R9c66614a135342b2" /><Relationship Type="http://schemas.openxmlformats.org/officeDocument/2006/relationships/image" Target="/ppt/media/image19.png" Id="R15eae68ef9da4a51" /><Relationship Type="http://schemas.openxmlformats.org/officeDocument/2006/relationships/notesSlide" Target="/ppt/notesSlides/notesSlide16.xml" Id="R8136a8d09324451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676b61fd24053" /><Relationship Type="http://schemas.openxmlformats.org/officeDocument/2006/relationships/image" Target="/ppt/media/image.png" Id="R61897bf3fb494e38" /><Relationship Type="http://schemas.openxmlformats.org/officeDocument/2006/relationships/image" Target="/ppt/media/image2.png" Id="R698f7b9f6c9a4790" /><Relationship Type="http://schemas.openxmlformats.org/officeDocument/2006/relationships/image" Target="/ppt/media/image3.png" Id="R50d69842e9d442d4" /><Relationship Type="http://schemas.openxmlformats.org/officeDocument/2006/relationships/image" Target="/ppt/media/image4.png" Id="Re71b7aacbada47c7" /><Relationship Type="http://schemas.openxmlformats.org/officeDocument/2006/relationships/image" Target="/ppt/media/image5.png" Id="R1646825fefcb4f80" /><Relationship Type="http://schemas.openxmlformats.org/officeDocument/2006/relationships/image" Target="/ppt/media/image6.png" Id="R5095369124884cfa" /><Relationship Type="http://schemas.openxmlformats.org/officeDocument/2006/relationships/image" Target="/ppt/media/image7.png" Id="R3873125fb2f34467" /><Relationship Type="http://schemas.openxmlformats.org/officeDocument/2006/relationships/image" Target="/ppt/media/image8.png" Id="R51ecd6c2cf3d4c23" /><Relationship Type="http://schemas.openxmlformats.org/officeDocument/2006/relationships/image" Target="/ppt/media/image9.png" Id="R26dcac8cb2214f45" /><Relationship Type="http://schemas.openxmlformats.org/officeDocument/2006/relationships/image" Target="/ppt/media/image20.png" Id="R813d479d83594322" /><Relationship Type="http://schemas.openxmlformats.org/officeDocument/2006/relationships/notesSlide" Target="/ppt/notesSlides/notesSlide17.xml" Id="Rbf0b663e15f0488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61f5c45a1145b9" /><Relationship Type="http://schemas.openxmlformats.org/officeDocument/2006/relationships/image" Target="/ppt/media/image.png" Id="R6a5b0c6713a64f9c" /><Relationship Type="http://schemas.openxmlformats.org/officeDocument/2006/relationships/image" Target="/ppt/media/image2.png" Id="R4968a7c577cc4511" /><Relationship Type="http://schemas.openxmlformats.org/officeDocument/2006/relationships/notesSlide" Target="/ppt/notesSlides/notesSlide18.xml" Id="R9fe7c5c7b4ae426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04f691cda4abc" /><Relationship Type="http://schemas.openxmlformats.org/officeDocument/2006/relationships/image" Target="/ppt/media/image.png" Id="R50b21c9aa0674a8b" /><Relationship Type="http://schemas.openxmlformats.org/officeDocument/2006/relationships/image" Target="/ppt/media/image2.png" Id="Ra2de8a0ef3ef44c1" /><Relationship Type="http://schemas.openxmlformats.org/officeDocument/2006/relationships/image" Target="/ppt/media/image21.png" Id="R80a9f35cee704027" /><Relationship Type="http://schemas.openxmlformats.org/officeDocument/2006/relationships/notesSlide" Target="/ppt/notesSlides/notesSlide19.xml" Id="Rd38e7505d9d740db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334941427d2437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6e05c53984d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6ace3870b44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9DB4F6C3-7E1E-4165-A7CB-86DF587C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4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COMP6991031   |   PRAKTIKUM 8   |   100 MENIT</a:t>
            </a:r>
            <a:endParaRPr sz="14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E852BF6E-4D5B-4BF3-974D-627B53AD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8920"/>
            <a:ext cx="11247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NEXT.JS + VERCEL</a:t>
            </a:r>
            <a:endParaRPr sz="44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AF43A70F-F5E8-482A-B129-54789154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400" b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CLOUD NOTES FRONTEND</a:t>
            </a:r>
            <a:endParaRPr sz="24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FC707375-F506-4FA6-A856-ADCF2742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1960"/>
            <a:ext cx="11247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Browser → Route Handler → API Compose → PostgreSQL</a:t>
            </a:r>
            <a:endParaRPr sz="1600"/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8638E3EC-B711-4552-92CD-A21EE272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006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F301E98-CA69-4022-A660-1FBC1E6E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776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 spc="3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PERTEMUAN 8  |  VERCEL DEEP DIVE</a:t>
            </a:r>
            <a:endParaRPr sz="12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C8DD2F8E-B770-48C6-86B5-5C7B5703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Budi Juarto, S.T., M.Kom.</a:t>
            </a:r>
            <a:endParaRPr sz="13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F8F0226-45A1-4FDD-BDAB-B38C7A68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Departemen Informatika  -  BINUS @Bandung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17335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AB81816-7BA7-4C06-BA88-B5B5DB1C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8C22927-5839-4640-80B1-54E7F7EB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D0B2953-96A7-4962-BC9B-0F7B1B0B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93168426a4f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47d33392ff4a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87C91D17-E972-4EA0-B66F-B2B5215D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6B53859-6C65-4388-A6A1-EE95476B8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Alur praktik Lab 08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FC4183F-5010-4735-BC70-816E11A4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Jalur lokal berjalan tanpa akun; Supabase dan Vercel menjadi perluasan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986C62F-8BF2-4BB6-9C79-2F0341FC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ADB6B50-E019-415C-9AE0-A000E45E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 INTI</a:t>
            </a:r>
          </a:p>
          <a:p xmlns:a="http://schemas.openxmlformats.org/drawingml/2006/main">
            <a:pPr marL="0" indent="0">
              <a:buNone/>
            </a:pPr>
            <a:endParaRPr sz="1100" b="1" spc="300">
              <a:solidFill>
                <a:srgbClr val="F3702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Kode yang tersedia</a:t>
            </a:r>
            <a:endParaRPr sz="1100"/>
          </a:p>
        </p:txBody>
      </p:sp>
      <p:pic>
        <p:nvPicPr>
          <p:cNvPr id="5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2f405d3f442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A539B76C-2A31-4BAF-8066-94CC175F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Jalankan API Compose Lab 06</a:t>
            </a:r>
            <a:endParaRPr sz="1600"/>
          </a:p>
        </p:txBody>
      </p:sp>
      <p:pic>
        <p:nvPicPr>
          <p:cNvPr id="52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5a7d5fd4b542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00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156BAE9C-ACBD-4202-93EC-CFDE2AA4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Install Next.js dari lockfile</a:t>
            </a:r>
            <a:endParaRPr sz="1600"/>
          </a:p>
        </p:txBody>
      </p:sp>
      <p:pic>
        <p:nvPicPr>
          <p:cNvPr id="5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99ab65f5c49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62980BB8-E8B8-435B-9D7A-678D1A61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Buka UI Cloud Notes di port 3000</a:t>
            </a:r>
            <a:endParaRPr sz="1600"/>
          </a:p>
        </p:txBody>
      </p:sp>
      <p:pic>
        <p:nvPicPr>
          <p:cNvPr id="5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50a3c828d4b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91EE37E5-51BF-420B-A442-EBD1F194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Bedakan /health dan /ready</a:t>
            </a:r>
            <a:endParaRPr sz="1600"/>
          </a:p>
        </p:txBody>
      </p:sp>
      <p:pic>
        <p:nvPicPr>
          <p:cNvPr id="5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c7566f06094c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9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21E81F79-D4B8-4E1C-A440-2CB7A25A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Uji GET, POST, validasi 400</a:t>
            </a:r>
            <a:endParaRPr sz="1600"/>
          </a:p>
        </p:txBody>
      </p:sp>
      <p:pic>
        <p:nvPicPr>
          <p:cNvPr id="60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5801a65cc45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12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F903B3A4-909A-424F-B414-E2EF49F8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Jalankan 9 cek dan build</a:t>
            </a:r>
            <a:endParaRPr sz="1600"/>
          </a:p>
        </p:txBody>
      </p:sp>
      <p:pic>
        <p:nvPicPr>
          <p:cNvPr id="62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07e06399440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15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C804BAC7-FACD-45B3-B994-6EE35124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Git aman; deploy cloud opsional</a:t>
            </a:r>
            <a:endParaRPr sz="1600"/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27DA061B-1E9B-42BE-B9F9-301567526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9F562716-5BEA-49B9-B313-CBC9E181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PROYEK KELOMPOK</a:t>
            </a:r>
          </a:p>
          <a:p xmlns:a="http://schemas.openxmlformats.org/drawingml/2006/main">
            <a:pPr marL="0" indent="0">
              <a:buNone/>
            </a:pPr>
            <a:endParaRPr sz="1100" b="1" spc="300">
              <a:solidFill>
                <a:srgbClr val="F3702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Tim 3 orang</a:t>
            </a: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E7B48637-95B3-4E6B-95BE-190C028B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Next.js menghubungkan UI dan API proyek</a:t>
            </a: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Uji catatan baru serta status gagal</a:t>
            </a: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Simpan bukti bila berguna</a:t>
            </a:r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Minggu 7 dan 14; tanpa nilai Lab 08</a:t>
            </a:r>
            <a:endParaRPr sz="170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5FC90F39-0A0C-4C5E-97F0-96A85FB7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F6BCC018-2BEA-400D-A688-46C42106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Ikuti modul mahasiswa untuk perintah lengkap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4844670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6E334D5-F824-4D97-B9F4-B47EA47F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7CF2DFF-44A6-461A-BCFC-98BFF0D7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84C6D43-3C0E-4F1C-BC02-9380440A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0aaa4338b4d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d5867824484f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D9E7369-98FF-462D-8B11-502EC781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5026655-2B92-41AA-AEEE-89F9A20F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1 | Hidupkan API dan Next.js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85A60BB-A2A9-493D-ADC9-0D0B3D1D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ns0:p xmlns:ns0="http://schemas.openxmlformats.org/drawingml/2006/main">
            <ns0:pPr marL="0" indent="0" algn="ctr">
              <ns0:buNone/>
            </ns0:pPr>
            <ns0:r>
              <ns0:rPr sz="1200" i="1">
                <ns0:solidFill>
                  <ns0:srgbClr val="64748B"/>
                </ns0:solidFill>
                <ns0:latin typeface="Calibri"/>
                <ns0:ea typeface="Calibri"/>
                <ns0:cs typeface="Calibri"/>
              </ns0:rPr>
              <ns0:t>Terminal 1: backend; terminal 2: Next; terminal 3: request</ns0:t>
            </ns0:r>
            <ns0:endParaRPr sz="1200"/>
          </ns0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ACA5C2A-D149-4496-8774-9269EE7C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74BBAF80-BEBF-442C-9A6E-2D47EA89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9B819F41-AC34-4952-ACEE-D9E19EB1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81277D82-15D6-47A6-8CBF-975CDB93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3ACB177F-2C8A-4147-A1E1-1A38929A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21B1625-EEEE-4DC7-B109-6464E345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Terminal A: repo Lab 06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E80C728-195D-4DC7-8565-2CDF25AF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ns0:p xmlns:ns0="http://schemas.openxmlformats.org/drawingml/2006/main">
            <ns0:pPr marL="0" indent="0">
              <ns0:spcAft>
                <ns0:spcPts val="200"/>
              </ns0:spcAft>
              <ns0:buNone/>
            </ns0:pPr>
            <ns0:r>
              <ns0:rPr sz="1500">
                <ns0:solidFill>
                  <ns0:srgbClr val="F8FAFC"/>
                </ns0:solidFill>
                <ns0:latin typeface="Consolas"/>
                <ns0:ea typeface="Consolas"/>
                <ns0:cs typeface="Consolas"/>
              </ns0:rPr>
              <ns0:t># Clone/cd Lab 06 sesuai modul.</ns0:t>
            </ns0:r>
            <ns0:endParaRPr sz="1500">
              <ns0:solidFill>
                <ns0:srgbClr val="FFFFFF"/>
              </ns0:solidFill>
              <ns0:latin typeface="Consolas"/>
              <ns0:ea typeface="Consolas"/>
              <ns0:cs typeface="Consolas"/>
            </ns0:endParaRPr>
          </ns0:p>
          <ns1:p xmlns:ns1="http://schemas.openxmlformats.org/drawingml/2006/main">
            <ns1:pPr marL="0" indent="0">
              <ns1:spcAft>
                <ns1:spcPts val="200"/>
              </ns1:spcAft>
              <ns1:buNone/>
            </ns1:pPr>
            <ns1:r>
              <ns1:rPr sz="1500">
                <ns1:solidFill>
                  <ns1:srgbClr val="F8FAFC"/>
                </ns1:solidFill>
                <ns1:latin typeface="Consolas"/>
                <ns1:ea typeface="Consolas"/>
                <ns1:cs typeface="Consolas"/>
              </ns1:rPr>
              <ns1:t>Copy-Item .\.env.example .\.env</ns1:t>
            </ns1:r>
            <ns1:endParaRPr sz="1500">
              <ns1:solidFill>
                <ns1:srgbClr val="FFFFFF"/>
              </ns1:solidFill>
              <ns1:latin typeface="Consolas"/>
              <ns1:ea typeface="Consolas"/>
              <ns1:cs typeface="Consolas"/>
            </ns1:endParaRPr>
          </ns1:p>
          <ns2:p xmlns:ns2="http://schemas.openxmlformats.org/drawingml/2006/main">
            <ns2:pPr marL="0" indent="0">
              <ns2:spcAft>
                <ns2:spcPts val="200"/>
              </ns2:spcAft>
              <ns2:buNone/>
            </ns2:pPr>
            <ns2:r>
              <ns2:rPr sz="1500">
                <ns2:solidFill>
                  <ns2:srgbClr val="F8FAFC"/>
                </ns2:solidFill>
                <ns2:latin typeface="Consolas"/>
                <ns2:ea typeface="Consolas"/>
                <ns2:cs typeface="Consolas"/>
              </ns2:rPr>
              <ns2:t>docker compose up --build -d --wait</ns2:t>
            </ns2:r>
            <ns2:endParaRPr sz="1500">
              <ns2:solidFill>
                <ns2:srgbClr val="FFFFFF"/>
              </ns2:solidFill>
              <ns2:latin typeface="Consolas"/>
              <ns2:ea typeface="Consolas"/>
              <ns2:cs typeface="Consolas"/>
            </ns2:endParaRPr>
          </ns2:p>
          <ns3:p xmlns:ns3="http://schemas.openxmlformats.org/drawingml/2006/main">
            <ns3:pPr marL="0" indent="0">
              <ns3:spcAft>
                <ns3:spcPts val="200"/>
              </ns3:spcAft>
              <ns3:buNone/>
            </ns3:pPr>
            <ns3:r>
              <ns3:rPr sz="1500">
                <ns3:solidFill>
                  <ns3:srgbClr val="F8FAFC"/>
                </ns3:solidFill>
                <ns3:latin typeface="Consolas"/>
                <ns3:ea typeface="Consolas"/>
                <ns3:cs typeface="Consolas"/>
              </ns3:rPr>
              <ns3:t>docker compose ps</ns3:t>
            </ns3:r>
            <ns3:endParaRPr sz="1500">
              <ns3:solidFill>
                <ns3:srgbClr val="FFFFFF"/>
              </ns3:solidFill>
              <ns3:latin typeface="Consolas"/>
              <ns3:ea typeface="Consolas"/>
              <ns3:cs typeface="Consolas"/>
            </ns3:endParaRPr>
          </ns3:p>
          <ns4:p xmlns:ns4="http://schemas.openxmlformats.org/drawingml/2006/main">
            <ns4:pPr marL="0" indent="0">
              <ns4:spcAft>
                <ns4:spcPts val="200"/>
              </ns4:spcAft>
              <ns4:buNone/>
            </ns4:pPr>
            <ns4:r>
              <ns4:rPr sz="1500">
                <ns4:solidFill>
                  <ns4:srgbClr val="F8FAFC"/>
                </ns4:solidFill>
                <ns4:latin typeface="Consolas"/>
                <ns4:ea typeface="Consolas"/>
                <ns4:cs typeface="Consolas"/>
              </ns4:rPr>
              <ns4:t>curl.exe -i http://127.0.0.1:18006/health</ns4:t>
            </ns4:r>
            <ns4:endParaRPr sz="1500">
              <ns4:solidFill>
                <ns4:srgbClr val="FFFFFF"/>
              </ns4:solidFill>
              <ns4:latin typeface="Consolas"/>
              <ns4:ea typeface="Consolas"/>
              <ns4:cs typeface="Consolas"/>
            </ns4:endParaRPr>
          </ns4:p>
          <ns5:p xmlns:ns5="http://schemas.openxmlformats.org/drawingml/2006/main">
            <ns5:pPr marL="0" indent="0">
              <ns5:spcAft>
                <ns5:spcPts val="200"/>
              </ns5:spcAft>
              <ns5:buNone/>
            </ns5:pPr>
            <ns5:r>
              <ns5:rPr sz="1500">
                <ns5:solidFill>
                  <ns5:srgbClr val="F8FAFC"/>
                </ns5:solidFill>
                <ns5:latin typeface="Consolas"/>
                <ns5:ea typeface="Consolas"/>
                <ns5:cs typeface="Consolas"/>
              </ns5:rPr>
              <ns5:t># Clone lama: pertahankan .env dan volume.</ns5:t>
            </ns5:r>
            <ns5:endParaRPr sz="1500">
              <ns5:solidFill>
                <ns5:srgbClr val="FFFFFF"/>
              </ns5:solidFill>
              <ns5:latin typeface="Consolas"/>
              <ns5:ea typeface="Consolas"/>
              <ns5:cs typeface="Consolas"/>
            </ns5:endParaRPr>
          </ns5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4BF4DBE-D75E-4C6D-BBD6-31024BCC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608384E9-2866-4166-B00C-7229CAF4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5BB387D9-2ED5-4348-824F-54E63CCE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9BA2D88A-62A5-4AA4-9073-596E688C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FA4A4A10-7ADB-42BE-9A63-3BD65F82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FE2852AB-8702-4D7E-9B9F-4844D773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Terminal B: repo Lab 08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304ECDAB-EDDF-4B77-B4DE-6905629E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ns0:p xmlns:ns0="http://schemas.openxmlformats.org/drawingml/2006/main">
            <ns0:pPr marL="0" indent="0">
              <ns0:spcAft>
                <ns0:spcPts val="200"/>
              </ns0:spcAft>
              <ns0:buNone/>
            </ns0:pPr>
            <ns0:r>
              <ns0:rPr sz="1600">
                <ns0:solidFill>
                  <ns0:srgbClr val="FFFFFF"/>
                </ns0:solidFill>
                <ns0:latin typeface="Aptos"/>
                <ns0:ea typeface="Aptos"/>
                <ns0:cs typeface="Aptos"/>
              </ns0:rPr>
              <ns0:t># Clone/cd Lab 08 sesuai modul.</ns0:t>
            </ns0:r>
            <ns0:endParaRPr sz="1600">
              <ns0:solidFill>
                <ns0:srgbClr val="FFFFFF"/>
              </ns0:solidFill>
              <ns0:latin typeface="Aptos"/>
              <ns0:ea typeface="Aptos"/>
              <ns0:cs typeface="Aptos"/>
            </ns0:endParaRPr>
          </ns0:p>
          <ns1:p xmlns:ns1="http://schemas.openxmlformats.org/drawingml/2006/main">
            <ns1:pPr marL="0" indent="0">
              <ns1:spcAft>
                <ns1:spcPts val="200"/>
              </ns1:spcAft>
              <ns1:buNone/>
            </ns1:pPr>
            <ns1:r>
              <ns1:rPr sz="1600">
                <ns1:solidFill>
                  <ns1:srgbClr val="FFFFFF"/>
                </ns1:solidFill>
                <ns1:latin typeface="Aptos"/>
                <ns1:ea typeface="Aptos"/>
                <ns1:cs typeface="Aptos"/>
              </ns1:rPr>
              <ns1:t>node --version  # minimal 22</ns1:t>
            </ns1:r>
            <ns1:endParaRPr sz="1600">
              <ns1:solidFill>
                <ns1:srgbClr val="FFFFFF"/>
              </ns1:solidFill>
              <ns1:latin typeface="Aptos"/>
              <ns1:ea typeface="Aptos"/>
              <ns1:cs typeface="Aptos"/>
            </ns1:endParaRPr>
          </ns1:p>
          <ns2:p xmlns:ns2="http://schemas.openxmlformats.org/drawingml/2006/main">
            <ns2:pPr marL="0" indent="0">
              <ns2:spcAft>
                <ns2:spcPts val="200"/>
              </ns2:spcAft>
              <ns2:buNone/>
            </ns2:pPr>
            <ns2:r>
              <ns2:rPr sz="1600">
                <ns2:solidFill>
                  <ns2:srgbClr val="FFFFFF"/>
                </ns2:solidFill>
                <ns2:latin typeface="Aptos"/>
                <ns2:ea typeface="Aptos"/>
                <ns2:cs typeface="Aptos"/>
              </ns2:rPr>
              <ns2:t>npm ci</ns2:t>
            </ns2:r>
            <ns2:endParaRPr sz="1600">
              <ns2:solidFill>
                <ns2:srgbClr val="FFFFFF"/>
              </ns2:solidFill>
              <ns2:latin typeface="Aptos"/>
              <ns2:ea typeface="Aptos"/>
              <ns2:cs typeface="Aptos"/>
            </ns2:endParaRPr>
          </ns2:p>
          <ns3:p xmlns:ns3="http://schemas.openxmlformats.org/drawingml/2006/main">
            <ns3:pPr marL="0" indent="0">
              <ns3:spcAft>
                <ns3:spcPts val="200"/>
              </ns3:spcAft>
              <ns3:buNone/>
            </ns3:pPr>
            <ns3:r>
              <ns3:rPr sz="1600">
                <ns3:solidFill>
                  <ns3:srgbClr val="FFFFFF"/>
                </ns3:solidFill>
                <ns3:latin typeface="Aptos"/>
                <ns3:ea typeface="Aptos"/>
                <ns3:cs typeface="Aptos"/>
              </ns3:rPr>
              <ns3:t>Copy-Item .\.env.example .\.env.local</ns3:t>
            </ns3:r>
            <ns3:endParaRPr sz="1600">
              <ns3:solidFill>
                <ns3:srgbClr val="FFFFFF"/>
              </ns3:solidFill>
              <ns3:latin typeface="Aptos"/>
              <ns3:ea typeface="Aptos"/>
              <ns3:cs typeface="Aptos"/>
            </ns3:endParaRPr>
          </ns3:p>
          <ns4:p xmlns:ns4="http://schemas.openxmlformats.org/drawingml/2006/main">
            <ns4:pPr marL="0" indent="0">
              <ns4:spcAft>
                <ns4:spcPts val="200"/>
              </ns4:spcAft>
              <ns4:buNone/>
            </ns4:pPr>
            <ns4:r>
              <ns4:rPr sz="1600">
                <ns4:solidFill>
                  <ns4:srgbClr val="FFFFFF"/>
                </ns4:solidFill>
                <ns4:latin typeface="Aptos"/>
                <ns4:ea typeface="Aptos"/>
                <ns4:cs typeface="Aptos"/>
              </ns4:rPr>
              <ns4:t>npm run dev</ns4:t>
            </ns4:r>
            <ns4:endParaRPr sz="1600">
              <ns4:solidFill>
                <ns4:srgbClr val="FFFFFF"/>
              </ns4:solidFill>
              <ns4:latin typeface="Aptos"/>
              <ns4:ea typeface="Aptos"/>
              <ns4:cs typeface="Aptos"/>
            </ns4:endParaRPr>
          </ns4:p>
          <ns5:p xmlns:ns5="http://schemas.openxmlformats.org/drawingml/2006/main">
            <ns5:pPr marL="0" indent="0">
              <ns5:spcAft>
                <ns5:spcPts val="200"/>
              </ns5:spcAft>
              <ns5:buNone/>
            </ns5:pPr>
            <ns5:r>
              <ns5:rPr sz="1600">
                <ns5:solidFill>
                  <ns5:srgbClr val="FFFFFF"/>
                </ns5:solidFill>
                <ns5:latin typeface="Aptos"/>
                <ns5:ea typeface="Aptos"/>
                <ns5:cs typeface="Aptos"/>
              </ns5:rPr>
              <ns5:t># Biarkan berjalan; buka localhost:3000.</ns5:t>
            </ns5:r>
            <ns5:endParaRPr sz="1600">
              <ns5:solidFill>
                <ns5:srgbClr val="FFFFFF"/>
              </ns5:solidFill>
              <ns5:latin typeface="Aptos"/>
              <ns5:ea typeface="Aptos"/>
              <ns5:cs typeface="Aptos"/>
            </ns5:endParaRPr>
          </ns5:p>
        </p:txBody>
      </p:sp>
    </p:spTree>
    <p:extLst>
      <p:ext uri="{BB962C8B-B14F-4D97-AF65-F5344CB8AC3E}">
        <p14:creationId xmlns:p14="http://schemas.microsoft.com/office/powerpoint/2010/main" val="11659403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86DC9D-6623-4169-8C9C-3145D037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DEE372-5732-46B2-A5A3-CCDCD121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444FE1B-E38D-44B3-AEA5-6826CCE7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1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3ab537f44344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3f1eebad74f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6B0E2A9-8B0F-4E12-8FC4-67BFE3E2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4FC51D3-657E-4EAF-997E-6D6EBC36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1a | Dependensi dari lockfile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E594147-411E-4AC6-83CD-7B64DE78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npm ci dijalankan sebelum server Next hidup</a:t>
            </a:r>
            <a:endParaRPr sz="1200"/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fa8914647a43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995678"/>
            <a:ext cx="10927080" cy="3278124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E327616-9F06-4681-B0BE-84353EC6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>
                <a:solidFill>
                  <a:srgbClr val="0F336F"/>
                </a:solidFill>
                <a:latin typeface="Arial"/>
                <a:ea typeface="Arial"/>
                <a:cs typeface="Arial"/>
              </a:defRPr>
            </a:pPr>
            <a:r>
              <a:t>Perintah: npm ci. Fungsi: pasang dependensi dari lockfile.</a:t>
            </a:r>
            <a:br/>
            <a:r>
              <a:t>Cara kerja: npm menyusun node_modules; hasil: 37 paket, exit 0.</a:t>
            </a:r>
          </a:p>
        </p:txBody>
      </p:sp>
    </p:spTree>
    <p:extLst>
      <p:ext uri="{BB962C8B-B14F-4D97-AF65-F5344CB8AC3E}">
        <p14:creationId xmlns:p14="http://schemas.microsoft.com/office/powerpoint/2010/main" val="10688577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86DC9D-6623-4169-8C9C-3145D037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DEE372-5732-46B2-A5A3-CCDCD121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444FE1B-E38D-44B3-AEA5-6826CCE7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6fae101544f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5be0e9976a45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6B0E2A9-8B0F-4E12-8FC4-67BFE3E2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4FC51D3-657E-4EAF-997E-6D6EBC36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1 | Halaman Cloud Notes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E594147-411E-4AC6-83CD-7B64DE78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Tampilan browser aktual setelah Next.js dan API Lab 06 hidup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7D03B39-C6E8-4E2F-A24B-CE84DFAB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4EB8EF01-535D-434C-9834-F7C0DB32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40b3e2126f47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BC75C696-B009-4DA0-B6B5-014B03C1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Perintah: npm run dev.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894bf762f40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00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E14C470E-4009-4E53-A401-BC9A0E6B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Fungsi: buka UI di localhost:3000.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09443ce094e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E2F939ED-52DF-40AC-90C9-A5F70ECC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Cara kerja: page.tsx memanggil /api/notes.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3582266cb46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072F499A-13A1-4C2C-8CF8-C77B53D5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Mode API lokal berarti proxy server aktif.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509940dc748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9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03AB7F58-6076-4C09-A764-280B14D4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GET /api/notes mengisi daftar catatan.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a6f346ff145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12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95BE7CB0-A044-427D-BF15-27117D43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Jika kosong, cek status Lab 06.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294c481f044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15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527C8D15-8536-47E3-A393-186FC376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Jangan masukkan URL DB ke browser.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3672B401-E733-488A-88AB-50E39EE3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4D1811A4-697E-416C-8C60-E950F6D3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37F9989B-60E8-4723-ACB9-FABB8D6B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156ACB39-79D1-44EC-9D79-97EF1CD2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D775E1C8-95CA-49B0-BEA8-7C560A8E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Form dan daftar catatan tampil di browser.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ccb060eb045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8716" y="2057400"/>
            <a:ext cx="4684808" cy="309067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38064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86DC9D-6623-4169-8C9C-3145D037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DEE372-5732-46B2-A5A3-CCDCD121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444FE1B-E38D-44B3-AEA5-6826CCE7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1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7c46f8cf548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4027c333c4d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6B0E2A9-8B0F-4E12-8FC4-67BFE3E2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4FC51D3-657E-4EAF-997E-6D6EBC36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1b | Batas browser dan server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E594147-411E-4AC6-83CD-7B64DE78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Baris source yang menghasilkan jalur Cloud Notes</a:t>
            </a:r>
            <a:endParaRPr sz="1200"/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a2f222ac5247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2174" y="1463040"/>
            <a:ext cx="10082892" cy="434340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5201567-6950-4964-ABA6-BDDA890A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>
                <a:solidFill>
                  <a:srgbClr val="0F336F"/>
                </a:solidFill>
                <a:latin typeface="Arial"/>
                <a:ea typeface="Arial"/>
                <a:cs typeface="Arial"/>
              </a:defRPr>
            </a:pPr>
            <a:r>
              <a:t>Perintah: rg -n pada page.tsx dan route.ts. Fungsi: temukan batas browser/server.</a:t>
            </a:r>
            <a:br/>
            <a:r>
              <a:t>Cara kerja: rg membaca source; hasil: page memanggil /api/notes, server membaca LOCAL_API_URL.</a:t>
            </a:r>
          </a:p>
        </p:txBody>
      </p:sp>
    </p:spTree>
    <p:extLst>
      <p:ext uri="{BB962C8B-B14F-4D97-AF65-F5344CB8AC3E}">
        <p14:creationId xmlns:p14="http://schemas.microsoft.com/office/powerpoint/2010/main" val="20633973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6E334D5-F824-4D97-B9F4-B47EA47F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7CF2DFF-44A6-461A-BCFC-98BFF0D7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84C6D43-3C0E-4F1C-BC02-9380440A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e867c6c1e41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470010614840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D9E7369-98FF-462D-8B11-502EC781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5026655-2B92-41AA-AEEE-89F9A20F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2 | Bedakan liveness dan readiness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85A60BB-A2A9-493D-ADC9-0D0B3D1D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Route Handler berjalan di server Next.js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ACA5C2A-D149-4496-8774-9269EE7C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74BBAF80-BEBF-442C-9A6E-2D47EA89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9B819F41-AC34-4952-ACEE-D9E19EB1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81277D82-15D6-47A6-8CBF-975CDB93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3ACB177F-2C8A-4147-A1E1-1A38929A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21B1625-EEEE-4DC7-B109-6464E345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PowerShell: panggil endpoint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E80C728-195D-4DC7-8565-2CDF25AF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5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Invoke-RestMethod http://127.0.0.1:3000/api/health
Invoke-RestMethod http://127.0.0.1:3000/api/ready
# Hentikan API Lab 06, lalu panggil /ready.
# Hidupkan kembali untuk langkah berikutnya.</a:t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4BF4DBE-D75E-4C6D-BBD6-31024BCC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608384E9-2866-4166-B00C-7229CAF4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5BB387D9-2ED5-4348-824F-54E63CCE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9BA2D88A-62A5-4AA4-9073-596E688C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FA4A4A10-7ADB-42BE-9A63-3BD65F82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FE2852AB-8702-4D7E-9B9F-4844D773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Kunci konsep route.ts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304ECDAB-EDDF-4B77-B4DE-6905629E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FFFFF"/>
                </a:solidFill>
                <a:latin typeface="Aptos"/>
                <a:ea typeface="Aptos"/>
                <a:cs typeface="Aptos"/>
              </a:rPr>
              <a:t>/health = proses Next.js merespons.
/ready = GET ke API Lab 06 /health.
Sukses: 200, status=ready.
Upstream mati: 503, status=unavailable.
AbortSignal.timeout(3000) membatasi tunggu.
Liveness sehat belum tentu siap melayani.</a:t>
            </a:r>
            <a:endParaRPr sz="16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1274521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86DC9D-6623-4169-8C9C-3145D037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DEE372-5732-46B2-A5A3-CCDCD121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444FE1B-E38D-44B3-AEA5-6826CCE7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7e449046b14e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b999a5362e48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6B0E2A9-8B0F-4E12-8FC4-67BFE3E2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4FC51D3-657E-4EAF-997E-6D6EBC36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2 | Readiness ketika dependensi hidup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E594147-411E-4AC6-83CD-7B64DE78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GET /api/ready memeriksa API Lab 06 dari server Next.js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7D03B39-C6E8-4E2F-A24B-CE84DFAB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4EB8EF01-535D-434C-9834-F7C0DB32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812bb85714c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BC75C696-B009-4DA0-B6B5-014B03C1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Aksi: buka localhost:3000/api/ready.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0480f92734d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00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E14C470E-4009-4E53-A401-BC9A0E6B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Fungsi: cek API Lab 06 siap.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0474f7bfc448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E2F939ED-52DF-40AC-90C9-A5F70ECC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Cara kerja: server cek upstream /health.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8a61af45644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072F499A-13A1-4C2C-8CF8-C77B53D5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Respons berisi dependency=lab06-api.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a816f44a149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9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03AB7F58-6076-4C09-A764-280B14D4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Browser hanya melihat status ringkas.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c37628f8654a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12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95BE7CB0-A044-427D-BF15-27117D43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Jangan gunakan localhost Lab 06 di Vercel.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b28ed675b44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15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527C8D15-8536-47E3-A393-186FC376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Cloud butuh backend yang dapat dijangkau.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3672B401-E733-488A-88AB-50E39EE3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4D1811A4-697E-416C-8C60-E950F6D3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37F9989B-60E8-4723-ACB9-FABB8D6B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156ACB39-79D1-44EC-9D79-97EF1CD2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D775E1C8-95CA-49B0-BEA8-7C560A8E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HTTP 200 dan status ready.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e502954b844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8716" y="2057400"/>
            <a:ext cx="4684808" cy="309067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563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86DC9D-6623-4169-8C9C-3145D037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DEE372-5732-46B2-A5A3-CCDCD121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444FE1B-E38D-44B3-AEA5-6826CCE7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8249b02c043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610e4aca54d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6B0E2A9-8B0F-4E12-8FC4-67BFE3E2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4FC51D3-657E-4EAF-997E-6D6EBC36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3 | Readiness saat API dimatikan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E594147-411E-4AC6-83CD-7B64DE78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Simulasi gangguan yang diharapkan, bukan kegagalan Next.js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7D03B39-C6E8-4E2F-A24B-CE84DFAB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4EB8EF01-535D-434C-9834-F7C0DB32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84dc5a5de4d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BC75C696-B009-4DA0-B6B5-014B03C1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Perintah: docker compose stop api.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52de5c8df4b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00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E14C470E-4009-4E53-A401-BC9A0E6B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Fungsi: ganggu backend Lab 06 saja.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d354c07c34f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E2F939ED-52DF-40AC-90C9-A5F70ECC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Cara kerja: /ready 503; Next tetap 200.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f31b8e5d344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072F499A-13A1-4C2C-8CF8-C77B53D5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UI dapat menampilkan pesan API mati.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491c03abe4f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9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03AB7F58-6076-4C09-A764-280B14D4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Hidupkan kembali Compose Lab 06.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c2f617fc954e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12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95BE7CB0-A044-427D-BF15-27117D43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Ulangi /ready sampai 200.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fecf72a0d247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15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527C8D15-8536-47E3-A393-186FC376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Pisahkan liveness dan readiness.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3672B401-E733-488A-88AB-50E39EE3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4D1811A4-697E-416C-8C60-E950F6D3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37F9989B-60E8-4723-ACB9-FABB8D6B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156ACB39-79D1-44EC-9D79-97EF1CD2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D775E1C8-95CA-49B0-BEA8-7C560A8E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HTTP 503 mengungkap dependensi yang mati.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fffc45aa748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8582" y="2057400"/>
            <a:ext cx="4945075" cy="309067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34200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86DC9D-6623-4169-8C9C-3145D037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DEE372-5732-46B2-A5A3-CCDCD121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444FE1B-E38D-44B3-AEA5-6826CCE7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1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43a3f54b54c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87e5f54db24e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6B0E2A9-8B0F-4E12-8FC4-67BFE3E2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4FC51D3-657E-4EAF-997E-6D6EBC36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3a | API berhenti lalu pulih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E594147-411E-4AC6-83CD-7B64DE78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Perbandingan status setelah restart service API Lab 06</a:t>
            </a:r>
            <a:endParaRPr sz="1200"/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657a59bc347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3507" y="1463040"/>
            <a:ext cx="10620225" cy="434340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5BAD99B-AD70-4253-B77D-7DB11C7A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>
                <a:solidFill>
                  <a:srgbClr val="0F336F"/>
                </a:solidFill>
                <a:latin typeface="Arial"/>
                <a:ea typeface="Arial"/>
                <a:cs typeface="Arial"/>
              </a:defRPr>
            </a:pPr>
            <a:r>
              <a:t>Perintah: docker compose start api; GET ready dan notes. Fungsi: bukti pemulihan.</a:t>
            </a:r>
            <a:br/>
            <a:r>
              <a:t>Cara kerja: Next terhubung lagi ke API; hasil: 200/200 dan catatan tetap ada.</a:t>
            </a:r>
          </a:p>
        </p:txBody>
      </p:sp>
    </p:spTree>
    <p:extLst>
      <p:ext uri="{BB962C8B-B14F-4D97-AF65-F5344CB8AC3E}">
        <p14:creationId xmlns:p14="http://schemas.microsoft.com/office/powerpoint/2010/main" val="20338476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6E334D5-F824-4D97-B9F4-B47EA47F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7CF2DFF-44A6-461A-BCFC-98BFF0D7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84C6D43-3C0E-4F1C-BC02-9380440A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f6decc32b4e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e09fa0e9c4e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D9E7369-98FF-462D-8B11-502EC781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5026655-2B92-41AA-AEEE-89F9A20F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3 | Buat catatan dan baca hasil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85A60BB-A2A9-493D-ADC9-0D0B3D1D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Browser → /api/notes → API Lab 06 → PostgreSQL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ACA5C2A-D149-4496-8774-9269EE7C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74BBAF80-BEBF-442C-9A6E-2D47EA89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9B819F41-AC34-4952-ACEE-D9E19EB1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81277D82-15D6-47A6-8CBF-975CDB93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3ACB177F-2C8A-4147-A1E1-1A38929A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21B1625-EEEE-4DC7-B109-6464E345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PowerShell: HTTP POST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E80C728-195D-4DC7-8565-2CDF25AF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5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$body = '{"title":"Praktik Lab 08","content":"Next.js ke API Lab 06"}'
Invoke-RestMethod `
  http://127.0.0.1:3000/api/notes `
  -Method Post -ContentType application/json `
  -Body $body
Invoke-RestMethod `
  http://127.0.0.1:3000/api/notes</a:t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4BF4DBE-D75E-4C6D-BBD6-31024BCC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608384E9-2866-4166-B00C-7229CAF4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5BB387D9-2ED5-4348-824F-54E63CCE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9BA2D88A-62A5-4AA4-9073-596E688C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FA4A4A10-7ADB-42BE-9A63-3BD65F82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FE2852AB-8702-4D7E-9B9F-4844D773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Cara kerja route.ts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304ECDAB-EDDF-4B77-B4DE-6905629E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FFFFF"/>
                </a:solidFill>
                <a:latin typeface="Aptos"/>
                <a:ea typeface="Aptos"/>
                <a:cs typeface="Aptos"/>
              </a:rPr>
              <a:t>POST memvalidasi title/content.
Server forward JSON ke API Lab 06.
Status 201 dan body dikembalikan.
X-Request-ID membantu cocokkan log.
GET berikutnya membaca daftar Postgres.
Form browser memakai route yang sama.</a:t>
            </a:r>
            <a:endParaRPr sz="16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7686045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86DC9D-6623-4169-8C9C-3145D037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DEE372-5732-46B2-A5A3-CCDCD121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444FE1B-E38D-44B3-AEA5-6826CCE7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ef7ba4e73d45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bc8dd08c241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6B0E2A9-8B0F-4E12-8FC4-67BFE3E2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4FC51D3-657E-4EAF-997E-6D6EBC36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4 | Form dan daftar terbaru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E594147-411E-4AC6-83CD-7B64DE78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Catatan dari UI terlihat melalui Route Handler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7D03B39-C6E8-4E2F-A24B-CE84DFAB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4EB8EF01-535D-434C-9834-F7C0DB32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36791a0f5a42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BC75C696-B009-4DA0-B6B5-014B03C1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Aksi: isi form lalu klik Simpan.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9fa29ab904a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00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E14C470E-4009-4E53-A401-BC9A0E6B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Fungsi: tulis dan baca catatan baru.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a9022585d4f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E2F939ED-52DF-40AC-90C9-A5F70ECC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Cara kerja: POST ke API/DB, lalu GET daftar.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32f8e30ec4c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072F499A-13A1-4C2C-8CF8-C77B53D5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Judul baru muncul bersama catatan lama.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8d8fc1ad24b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9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03AB7F58-6076-4C09-A764-280B14D4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Lab 06 menyimpan di PostgreSQL.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b4017b22241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12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95BE7CB0-A044-427D-BF15-27117D43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Refresh browser tetap menampilkan data.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4103d888e4c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15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527C8D15-8536-47E3-A393-186FC376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X-Request-ID terlihat di respons HTTP.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3672B401-E733-488A-88AB-50E39EE3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4D1811A4-697E-416C-8C60-E950F6D3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37F9989B-60E8-4723-ACB9-FABB8D6B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156ACB39-79D1-44EC-9D79-97EF1CD2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D775E1C8-95CA-49B0-BEA8-7C560A8E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Catatan Praktik Lab 08 muncul dalam daftar.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a77f142da46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31377" y="2057400"/>
            <a:ext cx="4459487" cy="309067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96770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86DC9D-6623-4169-8C9C-3145D037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DEE372-5732-46B2-A5A3-CCDCD121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444FE1B-E38D-44B3-AEA5-6826CCE7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1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126efe62044d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028033c39f42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6B0E2A9-8B0F-4E12-8FC4-67BFE3E2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4FC51D3-657E-4EAF-997E-6D6EBC36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4a | POST, GET, dan Request ID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E594147-411E-4AC6-83CD-7B64DE78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Respons nyata Route Handler pada jalur empat lapisan</a:t>
            </a:r>
            <a:endParaRPr sz="1200"/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ad471c3e047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25442" y="1463040"/>
            <a:ext cx="9156356" cy="434340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BB9CD33-5FBA-4DB5-945F-95C8AED0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>
                <a:solidFill>
                  <a:srgbClr val="0F336F"/>
                </a:solidFill>
                <a:latin typeface="Arial"/>
                <a:ea typeface="Arial"/>
                <a:cs typeface="Arial"/>
              </a:defRPr>
            </a:pPr>
            <a:r>
              <a:t>Perintah: POST lalu GET /api/notes. Fungsi: buktikan simpan dan baca.</a:t>
            </a:r>
            <a:br/>
            <a:r>
              <a:t>Cara kerja: Next proxy ke Lab 06/DB; hasil: 201 + X-Request-ID, lalu GET 200.</a:t>
            </a:r>
          </a:p>
        </p:txBody>
      </p:sp>
    </p:spTree>
    <p:extLst>
      <p:ext uri="{BB962C8B-B14F-4D97-AF65-F5344CB8AC3E}">
        <p14:creationId xmlns:p14="http://schemas.microsoft.com/office/powerpoint/2010/main" val="10711292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6E334D5-F824-4D97-B9F4-B47EA47F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7CF2DFF-44A6-461A-BCFC-98BFF0D7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84C6D43-3C0E-4F1C-BC02-9380440A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fb13d81ec4e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07f06ca0b4f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D9E7369-98FF-462D-8B11-502EC781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5026655-2B92-41AA-AEEE-89F9A20F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4 | Kunci validasi dan cek otomatis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85A60BB-A2A9-493D-ADC9-0D0B3D1D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Masukan rusak ditolak sebelum forward ke Lab 06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ACA5C2A-D149-4496-8774-9269EE7C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74BBAF80-BEBF-442C-9A6E-2D47EA89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9B819F41-AC34-4952-ACEE-D9E19EB1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81277D82-15D6-47A6-8CBF-975CDB93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3ACB177F-2C8A-4147-A1E1-1A38929A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21B1625-EEEE-4DC7-B109-6464E345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ns0:p xmlns:ns0="http://schemas.openxmlformats.org/drawingml/2006/main">
            <ns0:pPr marL="0" indent="0" algn="ctr">
              <ns0:buNone/>
            </ns0:pPr>
            <ns0:r>
              <ns0:rPr sz="900">
                <ns0:solidFill>
                  <ns0:srgbClr val="94A3B8"/>
                </ns0:solidFill>
                <ns0:latin typeface="Consolas"/>
                <ns0:ea typeface="Consolas"/>
                <ns0:cs typeface="Consolas"/>
              </ns0:rPr>
              <ns0:t>Terminal 3: input salah, lalu build</ns0:t>
            </ns0:r>
            <ns0:endParaRPr sz="900"/>
          </ns0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E80C728-195D-4DC7-8565-2CDF25AF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ns0:p xmlns:ns0="http://schemas.openxmlformats.org/drawingml/2006/main">
            <ns0:pPr marL="0" indent="0">
              <ns0:spcAft>
                <ns0:spcPts val="200"/>
              </ns0:spcAft>
              <ns0:buNone/>
            </ns0:pPr>
            <ns0:r>
              <ns0:rPr sz="1500">
                <ns0:solidFill>
                  <ns0:srgbClr val="F8FAFC"/>
                </ns0:solidFill>
                <ns0:latin typeface="Consolas"/>
                <ns0:ea typeface="Consolas"/>
                <ns0:cs typeface="Consolas"/>
              </ns0:rPr>
              <ns0:t>'{"content":"tanpa judul"}' |</ns0:t>
            </ns0:r>
            <ns0:endParaRPr sz="1500">
              <ns0:solidFill>
                <ns0:srgbClr val="FFFFFF"/>
              </ns0:solidFill>
              <ns0:latin typeface="Consolas"/>
              <ns0:ea typeface="Consolas"/>
              <ns0:cs typeface="Consolas"/>
            </ns0:endParaRPr>
          </ns0:p>
          <ns1:p xmlns:ns1="http://schemas.openxmlformats.org/drawingml/2006/main">
            <ns1:pPr marL="0" indent="0">
              <ns1:spcAft>
                <ns1:spcPts val="200"/>
              </ns1:spcAft>
              <ns1:buNone/>
            </ns1:pPr>
            <ns1:r>
              <ns1:rPr sz="1500">
                <ns1:solidFill>
                  <ns1:srgbClr val="F8FAFC"/>
                </ns1:solidFill>
                <ns1:latin typeface="Consolas"/>
                <ns1:ea typeface="Consolas"/>
                <ns1:cs typeface="Consolas"/>
              </ns1:rPr>
              <ns1:t>  curl.exe -i http://localhost:3000/api/notes `</ns1:t>
            </ns1:r>
            <ns1:endParaRPr sz="1500">
              <ns1:solidFill>
                <ns1:srgbClr val="FFFFFF"/>
              </ns1:solidFill>
              <ns1:latin typeface="Consolas"/>
              <ns1:ea typeface="Consolas"/>
              <ns1:cs typeface="Consolas"/>
            </ns1:endParaRPr>
          </ns1:p>
          <ns2:p xmlns:ns2="http://schemas.openxmlformats.org/drawingml/2006/main">
            <ns2:pPr marL="0" indent="0">
              <ns2:spcAft>
                <ns2:spcPts val="200"/>
              </ns2:spcAft>
              <ns2:buNone/>
            </ns2:pPr>
            <ns2:r>
              <ns2:rPr sz="1500">
                <ns2:solidFill>
                  <ns2:srgbClr val="F8FAFC"/>
                </ns2:solidFill>
                <ns2:latin typeface="Consolas"/>
                <ns2:ea typeface="Consolas"/>
                <ns2:cs typeface="Consolas"/>
              </ns2:rPr>
              <ns2:t>  -H 'Content-Type: application/json' `</ns2:t>
            </ns2:r>
            <ns2:endParaRPr sz="1500">
              <ns2:solidFill>
                <ns2:srgbClr val="FFFFFF"/>
              </ns2:solidFill>
              <ns2:latin typeface="Consolas"/>
              <ns2:ea typeface="Consolas"/>
              <ns2:cs typeface="Consolas"/>
            </ns2:endParaRPr>
          </ns2:p>
          <ns3:p xmlns:ns3="http://schemas.openxmlformats.org/drawingml/2006/main">
            <ns3:pPr marL="0" indent="0">
              <ns3:spcAft>
                <ns3:spcPts val="200"/>
              </ns3:spcAft>
              <ns3:buNone/>
            </ns3:pPr>
            <ns3:r>
              <ns3:rPr sz="1500">
                <ns3:solidFill>
                  <ns3:srgbClr val="F8FAFC"/>
                </ns3:solidFill>
                <ns3:latin typeface="Consolas"/>
                <ns3:ea typeface="Consolas"/>
                <ns3:cs typeface="Consolas"/>
              </ns3:rPr>
              <ns3:t>  --data-binary '@-'</ns3:t>
            </ns3:r>
            <ns3:endParaRPr sz="1500">
              <ns3:solidFill>
                <ns3:srgbClr val="FFFFFF"/>
              </ns3:solidFill>
              <ns3:latin typeface="Consolas"/>
              <ns3:ea typeface="Consolas"/>
              <ns3:cs typeface="Consolas"/>
            </ns3:endParaRPr>
          </ns3:p>
          <ns4:p xmlns:ns4="http://schemas.openxmlformats.org/drawingml/2006/main">
            <ns4:pPr marL="0" indent="0">
              <ns4:spcAft>
                <ns4:spcPts val="200"/>
              </ns4:spcAft>
              <ns4:buNone/>
            </ns4:pPr>
            <ns4:r>
              <ns4:rPr sz="1500">
                <ns4:solidFill>
                  <ns4:srgbClr val="F8FAFC"/>
                </ns4:solidFill>
                <ns4:latin typeface="Consolas"/>
                <ns4:ea typeface="Consolas"/>
                <ns4:cs typeface="Consolas"/>
              </ns4:rPr>
              <ns4:t># Hasil: HTTP 400.</ns4:t>
            </ns4:r>
            <ns4:endParaRPr sz="1500">
              <ns4:solidFill>
                <ns4:srgbClr val="FFFFFF"/>
              </ns4:solidFill>
              <ns4:latin typeface="Consolas"/>
              <ns4:ea typeface="Consolas"/>
              <ns4:cs typeface="Consolas"/>
            </ns4:endParaRPr>
          </ns4:p>
          <ns5:p xmlns:ns5="http://schemas.openxmlformats.org/drawingml/2006/main">
            <ns5:pPr marL="0" indent="0">
              <ns5:spcAft>
                <ns5:spcPts val="200"/>
              </ns5:spcAft>
              <ns5:buNone/>
            </ns5:pPr>
            <ns5:r>
              <ns5:rPr sz="1500">
                <ns5:solidFill>
                  <ns5:srgbClr val="F8FAFC"/>
                </ns5:solidFill>
                <ns5:latin typeface="Consolas"/>
                <ns5:ea typeface="Consolas"/>
                <ns5:cs typeface="Consolas"/>
              </ns5:rPr>
              <ns5:t># Terminal 2: Ctrl+C, lalu:</ns5:t>
            </ns5:r>
            <ns5:endParaRPr sz="1500">
              <ns5:solidFill>
                <ns5:srgbClr val="FFFFFF"/>
              </ns5:solidFill>
              <ns5:latin typeface="Consolas"/>
              <ns5:ea typeface="Consolas"/>
              <ns5:cs typeface="Consolas"/>
            </ns5:endParaRPr>
          </ns5:p>
          <ns6:p xmlns:ns6="http://schemas.openxmlformats.org/drawingml/2006/main">
            <ns6:pPr marL="0" indent="0">
              <ns6:spcAft>
                <ns6:spcPts val="200"/>
              </ns6:spcAft>
              <ns6:buNone/>
            </ns6:pPr>
            <ns6:r>
              <ns6:rPr sz="1500">
                <ns6:solidFill>
                  <ns6:srgbClr val="F8FAFC"/>
                </ns6:solidFill>
                <ns6:latin typeface="Consolas"/>
                <ns6:ea typeface="Consolas"/>
                <ns6:cs typeface="Consolas"/>
              </ns6:rPr>
              <ns6:t>npm run typecheck</ns6:t>
            </ns6:r>
            <ns6:endParaRPr sz="1500">
              <ns6:solidFill>
                <ns6:srgbClr val="FFFFFF"/>
              </ns6:solidFill>
              <ns6:latin typeface="Consolas"/>
              <ns6:ea typeface="Consolas"/>
              <ns6:cs typeface="Consolas"/>
            </ns6:endParaRPr>
          </ns6:p>
          <ns7:p xmlns:ns7="http://schemas.openxmlformats.org/drawingml/2006/main">
            <ns7:pPr marL="0" indent="0">
              <ns7:spcAft>
                <ns7:spcPts val="200"/>
              </ns7:spcAft>
              <ns7:buNone/>
            </ns7:pPr>
            <ns7:r>
              <ns7:rPr sz="1500">
                <ns7:solidFill>
                  <ns7:srgbClr val="F8FAFC"/>
                </ns7:solidFill>
                <ns7:latin typeface="Consolas"/>
                <ns7:ea typeface="Consolas"/>
                <ns7:cs typeface="Consolas"/>
              </ns7:rPr>
              <ns7:t>npm run build</ns7:t>
            </ns7:r>
            <ns7:endParaRPr sz="1500">
              <ns7:solidFill>
                <ns7:srgbClr val="FFFFFF"/>
              </ns7:solidFill>
              <ns7:latin typeface="Consolas"/>
              <ns7:ea typeface="Consolas"/>
              <ns7:cs typeface="Consolas"/>
            </ns7:endParaRPr>
          </ns7:p>
          <ns8:p xmlns:ns8="http://schemas.openxmlformats.org/drawingml/2006/main">
            <ns8:pPr marL="0" indent="0">
              <ns8:spcAft>
                <ns8:spcPts val="200"/>
              </ns8:spcAft>
              <ns8:buNone/>
            </ns8:pPr>
            <ns8:r>
              <ns8:rPr sz="1500">
                <ns8:solidFill>
                  <ns8:srgbClr val="F8FAFC"/>
                </ns8:solidFill>
                <ns8:latin typeface="Consolas"/>
                <ns8:ea typeface="Consolas"/>
                <ns8:cs typeface="Consolas"/>
              </ns8:rPr>
              <ns8:t># Checker opsional: npm run check:local</ns8:t>
            </ns8:r>
            <ns8:endParaRPr sz="1500">
              <ns8:solidFill>
                <ns8:srgbClr val="FFFFFF"/>
              </ns8:solidFill>
              <ns8:latin typeface="Consolas"/>
              <ns8:ea typeface="Consolas"/>
              <ns8:cs typeface="Consolas"/>
            </ns8:endParaRPr>
          </ns8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4BF4DBE-D75E-4C6D-BBD6-31024BCC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608384E9-2866-4166-B00C-7229CAF4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5BB387D9-2ED5-4348-824F-54E63CCE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9BA2D88A-62A5-4AA4-9073-596E688C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FA4A4A10-7ADB-42BE-9A63-3BD65F82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FE2852AB-8702-4D7E-9B9F-4844D773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Isi kunci di route.ts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304ECDAB-EDDF-4B77-B4DE-6905629E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request.json() gagal → HTTP 400.
title/content kosong → HTTP 400.
Input sah → forward POST ke upstream.
Runner menguji 9 kontrak end-to-end.
TypeScript dan build harus sukses.
Build membaca environment saat build.</a:t>
            </a:r>
            <a:endParaRPr sz="16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04835703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86DC9D-6623-4169-8C9C-3145D037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DEE372-5732-46B2-A5A3-CCDCD121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444FE1B-E38D-44B3-AEA5-6826CCE7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1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5ed204f7f4d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ce9d1408844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6B0E2A9-8B0F-4E12-8FC4-67BFE3E2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4FC51D3-657E-4EAF-997E-6D6EBC36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5a | Validasi 400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E594147-411E-4AC6-83CD-7B64DE78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Dua input salah ditolak sebelum mencapai API Lab 06</a:t>
            </a:r>
            <a:endParaRPr sz="1200"/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35f7bbce8b4b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26550" y="1463040"/>
            <a:ext cx="8754139" cy="4343400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C0AA50E-7AFB-4C31-8FF3-B0C28497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>
                <a:solidFill>
                  <a:srgbClr val="0F336F"/>
                </a:solidFill>
                <a:latin typeface="Arial"/>
                <a:ea typeface="Arial"/>
                <a:cs typeface="Arial"/>
              </a:defRPr>
            </a:pPr>
            <a:r>
              <a:t>Perintah: POST tanpa title dan POST JSON rusak. Fungsi: uji validasi server.</a:t>
            </a:r>
            <a:br/>
            <a:r>
              <a:t>Cara kerja: Route Handler menolak sebelum proxy; hasil: keduanya HTTP 400.</a:t>
            </a:r>
          </a:p>
        </p:txBody>
      </p:sp>
    </p:spTree>
    <p:extLst>
      <p:ext uri="{BB962C8B-B14F-4D97-AF65-F5344CB8AC3E}">
        <p14:creationId xmlns:p14="http://schemas.microsoft.com/office/powerpoint/2010/main" val="150747935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86DC9D-6623-4169-8C9C-3145D037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DEE372-5732-46B2-A5A3-CCDCD121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444FE1B-E38D-44B3-AEA5-6826CCE7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1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90ec18c6440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6614a135342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6B0E2A9-8B0F-4E12-8FC4-67BFE3E2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4FC51D3-657E-4EAF-997E-6D6EBC36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5b | Sembilan cek lulus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E594147-411E-4AC6-83CD-7B64DE78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Checker berjalan ketika API Lab 06 sehat</a:t>
            </a:r>
            <a:endParaRPr sz="1200"/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ae68ef9da4a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466614"/>
            <a:ext cx="10927080" cy="4336252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960CB76-3DD6-492A-AC3E-07E0AC78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>
                <a:solidFill>
                  <a:srgbClr val="0F336F"/>
                </a:solidFill>
                <a:latin typeface="Arial"/>
                <a:ea typeface="Arial"/>
                <a:cs typeface="Arial"/>
              </a:defRPr>
            </a:pPr>
            <a:r>
              <a:t>Perintah: npm run check:local. Fungsi: verifikasi kontrak aplikasi.</a:t>
            </a:r>
            <a:br/>
            <a:r>
              <a:t>Cara kerja: skrip menguji GET/POST dan validasi; hasil: 9 PASS, 0 FAIL.</a:t>
            </a:r>
          </a:p>
        </p:txBody>
      </p:sp>
    </p:spTree>
    <p:extLst>
      <p:ext uri="{BB962C8B-B14F-4D97-AF65-F5344CB8AC3E}">
        <p14:creationId xmlns:p14="http://schemas.microsoft.com/office/powerpoint/2010/main" val="104933777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86DC9D-6623-4169-8C9C-3145D037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DEE372-5732-46B2-A5A3-CCDCD121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444FE1B-E38D-44B3-AEA5-6826CCE7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897bf3fb494e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f7b9f6c9a47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6B0E2A9-8B0F-4E12-8FC4-67BFE3E2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4FC51D3-657E-4EAF-997E-6D6EBC36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5 | Build dan kontrak aplikasi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E594147-411E-4AC6-83CD-7B64DE78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Output terbaru: route /api/ready sudah ikut dibangun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7D03B39-C6E8-4E2F-A24B-CE84DFAB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4EB8EF01-535D-434C-9834-F7C0DB32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PERINTAH, FUNGSI, DAN HASIL</a:t>
            </a:r>
            <a:endParaRPr sz="1100"/>
          </a:p>
        </p:txBody>
      </p:sp>
      <p:pic>
        <p:nvPicPr>
          <p:cNvPr id="5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69842e9d442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BC75C696-B009-4DA0-B6B5-014B03C1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6060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Perintah: npm run typecheck; npm run build.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b7aacbada47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2004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E14C470E-4009-4E53-A401-BC9A0E6B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1089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Fungsi: cek tipe dan bundle produksi.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5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46825fefcb4f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70332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E2F939ED-52DF-40AC-90C9-A5F70ECC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61188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Cara kerja: tsc cek tipe; Next buat route.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5369124884c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20624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072F499A-13A1-4C2C-8CF8-C77B53D5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11480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Daftar route memuat /api/ready.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5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3125fb2f344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709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03AB7F58-6076-4C09-A764-280B14D4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Typecheck dan build keluar dengan kode 0.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cd6c2cf3d4c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1208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3" name="Text 13">
            <a:extLst xmlns:a="http://schemas.openxmlformats.org/drawingml/2006/main">
              <a:ext uri="{FF2B5EF4-FFF2-40B4-BE49-F238E27FC236}">
                <a16:creationId xmlns:a16="http://schemas.microsoft.com/office/drawing/2014/main" id="{95BE7CB0-A044-427D-BF15-27117D43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12064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npm run check:local menuntut API hidup.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63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cac8cb2214f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71500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25" name="Text 14">
            <a:extLst xmlns:a="http://schemas.openxmlformats.org/drawingml/2006/main">
              <a:ext uri="{FF2B5EF4-FFF2-40B4-BE49-F238E27FC236}">
                <a16:creationId xmlns:a16="http://schemas.microsoft.com/office/drawing/2014/main" id="{527C8D15-8536-47E3-A393-186FC376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23560"/>
            <a:ext cx="47091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312124"/>
                </a:solidFill>
                <a:latin typeface="Aptos"/>
                <a:ea typeface="Aptos"/>
                <a:cs typeface="Aptos"/>
              </a:rPr>
              <a:t>Target runner: 9 PASS, 0 FAIL.</a:t>
            </a:r>
            <a:endParaRPr sz="1400">
              <a:solidFill>
                <a:srgbClr val="3121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hape 15">
            <a:extLst xmlns:a="http://schemas.openxmlformats.org/drawingml/2006/main">
              <a:ext uri="{FF2B5EF4-FFF2-40B4-BE49-F238E27FC236}">
                <a16:creationId xmlns:a16="http://schemas.microsoft.com/office/drawing/2014/main" id="{3672B401-E733-488A-88AB-50E39EE3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16">
            <a:extLst xmlns:a="http://schemas.openxmlformats.org/drawingml/2006/main">
              <a:ext uri="{FF2B5EF4-FFF2-40B4-BE49-F238E27FC236}">
                <a16:creationId xmlns:a16="http://schemas.microsoft.com/office/drawing/2014/main" id="{4D1811A4-697E-416C-8C60-E950F6D3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BUKTI PADA MESIN UJI</a:t>
            </a:r>
            <a:endParaRPr sz="1100"/>
          </a:p>
        </p:txBody>
      </p:sp>
      <p:sp>
        <p:nvSpPr>
          <p:cNvPr id="28" name="Text 17">
            <a:extLst xmlns:a="http://schemas.openxmlformats.org/drawingml/2006/main">
              <a:ext uri="{FF2B5EF4-FFF2-40B4-BE49-F238E27FC236}">
                <a16:creationId xmlns:a16="http://schemas.microsoft.com/office/drawing/2014/main" id="{37F9989B-60E8-4723-ACB9-FABB8D6B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endParaRPr sz="1200"/>
          </a:p>
        </p:txBody>
      </p:sp>
      <p:sp>
        <p:nvSpPr>
          <p:cNvPr id="29" name="Shape 18">
            <a:extLst xmlns:a="http://schemas.openxmlformats.org/drawingml/2006/main">
              <a:ext uri="{FF2B5EF4-FFF2-40B4-BE49-F238E27FC236}">
                <a16:creationId xmlns:a16="http://schemas.microsoft.com/office/drawing/2014/main" id="{156ACB39-79D1-44EC-9D79-97EF1CD2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19">
            <a:extLst xmlns:a="http://schemas.openxmlformats.org/drawingml/2006/main">
              <a:ext uri="{FF2B5EF4-FFF2-40B4-BE49-F238E27FC236}">
                <a16:creationId xmlns:a16="http://schemas.microsoft.com/office/drawing/2014/main" id="{D775E1C8-95CA-49B0-BEA8-7C560A8E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349240"/>
            <a:ext cx="50292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i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Typecheck dan build lulus pada source terkini.</a:t>
            </a:r>
            <a:endParaRPr sz="15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0" name="Picture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d479d835943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66134" y="2623248"/>
            <a:ext cx="4789971" cy="19589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69187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6E334D5-F824-4D97-B9F4-B47EA47F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7CF2DFF-44A6-461A-BCFC-98BFF0D7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84C6D43-3C0E-4F1C-BC02-9380440A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b0c6713a64f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68a7c577cc45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D9E7369-98FF-462D-8B11-502EC781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5026655-2B92-41AA-AEEE-89F9A20F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ns0:p xmlns:ns0="http://schemas.openxmlformats.org/drawingml/2006/main">
            <ns0:pPr marL="0" indent="0" algn="ctr">
              <ns0:buNone/>
            </ns0:pPr>
            <ns0:r>
              <ns0:rPr sz="2200" b="1">
                <ns0:solidFill>
                  <ns0:srgbClr val="1976D2"/>
                </ns0:solidFill>
                <ns0:latin typeface="Calibri"/>
                <ns0:ea typeface="Calibri"/>
                <ns0:cs typeface="Calibri"/>
              </ns0:rPr>
              <ns0:t>Tambahan | Git dan deployment Vercel</ns0:t>
            </ns0:r>
            <ns0:endParaRPr sz="2200"/>
          </ns0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85A60BB-A2A9-493D-ADC9-0D0B3D1D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Repo Lab 08 terpisah; cloud memakai Supabase, bukan localhost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ACA5C2A-D149-4496-8774-9269EE7C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74BBAF80-BEBF-442C-9A6E-2D47EA89B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9B819F41-AC34-4952-ACEE-D9E19EB1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81277D82-15D6-47A6-8CBF-975CDB93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3ACB177F-2C8A-4147-A1E1-1A38929A9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A21B1625-EEEE-4DC7-B109-6464E345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Sebelum commit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E80C728-195D-4DC7-8565-2CDF25AF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530352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5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git status --short
git check-ignore .env.local
git add src package.json package-lock.json
git add .env.example README.md
git diff --cached --check
git commit -m "lab08: Cloud Notes Next.js"
git push</a:t>
            </a:r>
            <a:endParaRPr sz="1500">
              <a:solidFill>
                <a:srgbClr val="FFFFFF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4BF4DBE-D75E-4C6D-BBD6-31024BCC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608384E9-2866-4166-B00C-7229CAF4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5BB387D9-2ED5-4348-824F-54E63CCE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9BA2D88A-62A5-4AA4-9073-596E688C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FA4A4A10-7ADB-42BE-9A63-3BD65F82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FE2852AB-8702-4D7E-9B9F-4844D773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Vercel bila akun tersedia</a:t>
            </a:r>
            <a:endParaRPr sz="9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304ECDAB-EDDF-4B77-B4DE-6905629EF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600">
                <a:solidFill>
                  <a:srgbClr val="FFFFFF"/>
                </a:solidFill>
                <a:latin typeface="Aptos"/>
                <a:ea typeface="Aptos"/>
                <a:cs typeface="Aptos"/>
              </a:rPr>
              <a:t>Import repo Lab 08 ke Vercel.
Root Directory = root repo Lab 08.
Isi NEXT_PUBLIC_SUPABASE_URL dan
publishable key di Project Settings.
Secret/service role jangan NEXT_PUBLIC_.
Verifikasi URL live dan push auto-deploy.</a:t>
            </a:r>
            <a:endParaRPr sz="160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37396059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86DC9D-6623-4169-8C9C-3145D037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Praktikum 8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DEE372-5732-46B2-A5A3-CCDCD121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444FE1B-E38D-44B3-AEA5-6826CCE7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1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b21c9aa0674a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de8a0ef3ef44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6B0E2A9-8B0F-4E12-8FC4-67BFE3E2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4FC51D3-657E-4EAF-997E-6D6EBC36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Bukti 6 | Git mengabaikan file lokal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E594147-411E-4AC6-83CD-7B64DE78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Periksa isi commit sebelum push repo milik mahasiswa</a:t>
            </a:r>
            <a:endParaRPr sz="1200"/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a9f35cee7040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757524"/>
            <a:ext cx="10927080" cy="3754432"/>
          </a:xfrm>
          <a:prstGeom xmlns:a="http://schemas.openxmlformats.org/drawingml/2006/main" prst="rect">
            <a:avLst/>
          </a:prstGeom>
        </p:spPr>
      </p:pic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2F9236E-9246-4DF1-A4DE-26155931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108813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00">
                <a:solidFill>
                  <a:srgbClr val="0F336F"/>
                </a:solidFill>
                <a:latin typeface="Arial"/>
                <a:ea typeface="Arial"/>
                <a:cs typeface="Arial"/>
              </a:defRPr>
            </a:pPr>
            <a:r>
              <a:t>Perintah: git check-ignore -v + git diff --cached --check. Fungsi: periksa commit.</a:t>
            </a:r>
            <a:br/>
            <a:r>
              <a:t>Cara kerja: .gitignore menyaring file lokal; hasil: env, node_modules, .next diabaikan.</a:t>
            </a:r>
          </a:p>
        </p:txBody>
      </p:sp>
    </p:spTree>
    <p:extLst>
      <p:ext uri="{BB962C8B-B14F-4D97-AF65-F5344CB8AC3E}">
        <p14:creationId xmlns:p14="http://schemas.microsoft.com/office/powerpoint/2010/main" val="158496164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2026-10-07T19:04:05.1920000Z</dcterms:created>
  <dcterms:modified xsi:type="dcterms:W3CDTF">2026-10-07T19:04:05.1920000Z</dcterms:modified>
</coreProperties>
</file>