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1bb873fbe54d0b" /><Relationship Type="http://schemas.openxmlformats.org/officeDocument/2006/relationships/extended-properties" Target="/docProps/app.xml" Id="Rbcde89ce4d4a4414" /><Relationship Type="http://schemas.openxmlformats.org/officeDocument/2006/relationships/officeDocument" Target="/ppt/presentation.xml" Id="Rcb5a8421b3df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e6a01b072048e1"/>
  </p:sldMasterIdLst>
  <p:notesMasterIdLst>
    <p:notesMasterId xmlns:r="http://schemas.openxmlformats.org/officeDocument/2006/relationships" r:id="R7ce22d3fefc84989"/>
  </p:notesMasterIdLst>
  <p:sldIdLst>
    <p:sldId xmlns:r="http://schemas.openxmlformats.org/officeDocument/2006/relationships" id="256" r:id="R2b298a0961e8454e"/>
    <p:sldId xmlns:r="http://schemas.openxmlformats.org/officeDocument/2006/relationships" id="257" r:id="R6c1ab717c1844838"/>
    <p:sldId xmlns:r="http://schemas.openxmlformats.org/officeDocument/2006/relationships" id="258" r:id="R0bb700480d244e69"/>
    <p:sldId xmlns:r="http://schemas.openxmlformats.org/officeDocument/2006/relationships" id="259" r:id="Reafb03ca008f4299"/>
    <p:sldId xmlns:r="http://schemas.openxmlformats.org/officeDocument/2006/relationships" id="260" r:id="R38f81f6716be453f"/>
    <p:sldId xmlns:r="http://schemas.openxmlformats.org/officeDocument/2006/relationships" id="261" r:id="Rcb28dce865f34253"/>
    <p:sldId xmlns:r="http://schemas.openxmlformats.org/officeDocument/2006/relationships" id="262" r:id="R7f7f796646644624"/>
    <p:sldId xmlns:r="http://schemas.openxmlformats.org/officeDocument/2006/relationships" id="263" r:id="Ra7163e68545c403c"/>
    <p:sldId xmlns:r="http://schemas.openxmlformats.org/officeDocument/2006/relationships" id="264" r:id="Rb9a789401525485d"/>
    <p:sldId xmlns:r="http://schemas.openxmlformats.org/officeDocument/2006/relationships" id="265" r:id="Ra6f14332f2084c3a"/>
    <p:sldId xmlns:r="http://schemas.openxmlformats.org/officeDocument/2006/relationships" id="266" r:id="R420b43c07e014eb2"/>
    <p:sldId xmlns:r="http://schemas.openxmlformats.org/officeDocument/2006/relationships" id="267" r:id="Rec23c7afb9674b33"/>
    <p:sldId xmlns:r="http://schemas.openxmlformats.org/officeDocument/2006/relationships" id="268" r:id="R632e094471054a1f"/>
    <p:sldId xmlns:r="http://schemas.openxmlformats.org/officeDocument/2006/relationships" id="269" r:id="Rd6b829f0d2674329"/>
    <p:sldId xmlns:r="http://schemas.openxmlformats.org/officeDocument/2006/relationships" id="270" r:id="R7eaf2def26d74c74"/>
    <p:sldId xmlns:r="http://schemas.openxmlformats.org/officeDocument/2006/relationships" id="271" r:id="R8027fca4ee3b4b10"/>
    <p:sldId xmlns:r="http://schemas.openxmlformats.org/officeDocument/2006/relationships" id="272" r:id="Rf7b203ea6953491b"/>
    <p:sldId xmlns:r="http://schemas.openxmlformats.org/officeDocument/2006/relationships" id="273" r:id="Rd63155d777814b15"/>
    <p:sldId xmlns:r="http://schemas.openxmlformats.org/officeDocument/2006/relationships" id="274" r:id="Ra631908b0dfa471e"/>
    <p:sldId xmlns:r="http://schemas.openxmlformats.org/officeDocument/2006/relationships" id="275" r:id="Rfbd48c19c7e947e7"/>
    <p:sldId xmlns:r="http://schemas.openxmlformats.org/officeDocument/2006/relationships" id="276" r:id="R9ff28c34be2d4b3b"/>
    <p:sldId xmlns:r="http://schemas.openxmlformats.org/officeDocument/2006/relationships" id="277" r:id="R048901dcd3884b25"/>
    <p:sldId xmlns:r="http://schemas.openxmlformats.org/officeDocument/2006/relationships" id="278" r:id="R06391aa9caa34a69"/>
    <p:sldId xmlns:r="http://schemas.openxmlformats.org/officeDocument/2006/relationships" id="279" r:id="R523d8e2fa55242c3"/>
    <p:sldId xmlns:r="http://schemas.openxmlformats.org/officeDocument/2006/relationships" id="280" r:id="R39040df073dd44ea"/>
    <p:sldId xmlns:r="http://schemas.openxmlformats.org/officeDocument/2006/relationships" id="281" r:id="R6f6de950d0334d4a"/>
    <p:sldId xmlns:r="http://schemas.openxmlformats.org/officeDocument/2006/relationships" id="282" r:id="R9e7514bdf197408c"/>
    <p:sldId xmlns:r="http://schemas.openxmlformats.org/officeDocument/2006/relationships" id="283" r:id="Red564413546d4262"/>
    <p:sldId xmlns:r="http://schemas.openxmlformats.org/officeDocument/2006/relationships" id="284" r:id="Rbf35e12717f64b49"/>
    <p:sldId xmlns:r="http://schemas.openxmlformats.org/officeDocument/2006/relationships" id="285" r:id="R84836db20477403a"/>
    <p:sldId xmlns:r="http://schemas.openxmlformats.org/officeDocument/2006/relationships" id="286" r:id="R75dbfdd3ca8c40d7"/>
    <p:sldId xmlns:r="http://schemas.openxmlformats.org/officeDocument/2006/relationships" id="287" r:id="Rb5d1b3a6c87945a0"/>
    <p:sldId xmlns:r="http://schemas.openxmlformats.org/officeDocument/2006/relationships" id="288" r:id="R492ce7e0203842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e061cf04a64c9c" /><Relationship Type="http://schemas.openxmlformats.org/officeDocument/2006/relationships/slideMaster" Target="/ppt/slideMasters/slideMaster1.xml" Id="Rabe6a01b072048e1" /><Relationship Type="http://schemas.openxmlformats.org/officeDocument/2006/relationships/notesMaster" Target="/ppt/notesMasters/notesMaster1.xml" Id="R7ce22d3fefc84989" /><Relationship Type="http://schemas.openxmlformats.org/officeDocument/2006/relationships/presProps" Target="/ppt/presProps.xml" Id="R58a618d742844822" /><Relationship Type="http://schemas.openxmlformats.org/officeDocument/2006/relationships/viewProps" Target="/ppt/viewProps.xml" Id="R7039c2cdd1a648d2" /><Relationship Type="http://schemas.openxmlformats.org/officeDocument/2006/relationships/tableStyles" Target="/ppt/tableStyles.xml" Id="R7f62a9d8ebd24ed1" /><Relationship Type="http://schemas.openxmlformats.org/officeDocument/2006/relationships/slide" Target="/ppt/slides/slide1.xml" Id="R2b298a0961e8454e" /><Relationship Type="http://schemas.openxmlformats.org/officeDocument/2006/relationships/slide" Target="/ppt/slides/slide2.xml" Id="R6c1ab717c1844838" /><Relationship Type="http://schemas.openxmlformats.org/officeDocument/2006/relationships/slide" Target="/ppt/slides/slide3.xml" Id="R0bb700480d244e69" /><Relationship Type="http://schemas.openxmlformats.org/officeDocument/2006/relationships/slide" Target="/ppt/slides/slide4.xml" Id="Reafb03ca008f4299" /><Relationship Type="http://schemas.openxmlformats.org/officeDocument/2006/relationships/slide" Target="/ppt/slides/slide5.xml" Id="R38f81f6716be453f" /><Relationship Type="http://schemas.openxmlformats.org/officeDocument/2006/relationships/slide" Target="/ppt/slides/slide6.xml" Id="Rcb28dce865f34253" /><Relationship Type="http://schemas.openxmlformats.org/officeDocument/2006/relationships/slide" Target="/ppt/slides/slide7.xml" Id="R7f7f796646644624" /><Relationship Type="http://schemas.openxmlformats.org/officeDocument/2006/relationships/slide" Target="/ppt/slides/slide8.xml" Id="Ra7163e68545c403c" /><Relationship Type="http://schemas.openxmlformats.org/officeDocument/2006/relationships/slide" Target="/ppt/slides/slide9.xml" Id="Rb9a789401525485d" /><Relationship Type="http://schemas.openxmlformats.org/officeDocument/2006/relationships/slide" Target="/ppt/slides/slide10.xml" Id="Ra6f14332f2084c3a" /><Relationship Type="http://schemas.openxmlformats.org/officeDocument/2006/relationships/slide" Target="/ppt/slides/slide11.xml" Id="R420b43c07e014eb2" /><Relationship Type="http://schemas.openxmlformats.org/officeDocument/2006/relationships/slide" Target="/ppt/slides/slide12.xml" Id="Rec23c7afb9674b33" /><Relationship Type="http://schemas.openxmlformats.org/officeDocument/2006/relationships/slide" Target="/ppt/slides/slide13.xml" Id="R632e094471054a1f" /><Relationship Type="http://schemas.openxmlformats.org/officeDocument/2006/relationships/slide" Target="/ppt/slides/slide14.xml" Id="Rd6b829f0d2674329" /><Relationship Type="http://schemas.openxmlformats.org/officeDocument/2006/relationships/slide" Target="/ppt/slides/slide15.xml" Id="R7eaf2def26d74c74" /><Relationship Type="http://schemas.openxmlformats.org/officeDocument/2006/relationships/slide" Target="/ppt/slides/slide16.xml" Id="R8027fca4ee3b4b10" /><Relationship Type="http://schemas.openxmlformats.org/officeDocument/2006/relationships/slide" Target="/ppt/slides/slide17.xml" Id="Rf7b203ea6953491b" /><Relationship Type="http://schemas.openxmlformats.org/officeDocument/2006/relationships/slide" Target="/ppt/slides/slide18.xml" Id="Rd63155d777814b15" /><Relationship Type="http://schemas.openxmlformats.org/officeDocument/2006/relationships/slide" Target="/ppt/slides/slide19.xml" Id="Ra631908b0dfa471e" /><Relationship Type="http://schemas.openxmlformats.org/officeDocument/2006/relationships/slide" Target="/ppt/slides/slide20.xml" Id="Rfbd48c19c7e947e7" /><Relationship Type="http://schemas.openxmlformats.org/officeDocument/2006/relationships/slide" Target="/ppt/slides/slide21.xml" Id="R9ff28c34be2d4b3b" /><Relationship Type="http://schemas.openxmlformats.org/officeDocument/2006/relationships/slide" Target="/ppt/slides/slide22.xml" Id="R048901dcd3884b25" /><Relationship Type="http://schemas.openxmlformats.org/officeDocument/2006/relationships/slide" Target="/ppt/slides/slide23.xml" Id="R06391aa9caa34a69" /><Relationship Type="http://schemas.openxmlformats.org/officeDocument/2006/relationships/slide" Target="/ppt/slides/slide24.xml" Id="R523d8e2fa55242c3" /><Relationship Type="http://schemas.openxmlformats.org/officeDocument/2006/relationships/slide" Target="/ppt/slides/slide25.xml" Id="R39040df073dd44ea" /><Relationship Type="http://schemas.openxmlformats.org/officeDocument/2006/relationships/slide" Target="/ppt/slides/slide26.xml" Id="R6f6de950d0334d4a" /><Relationship Type="http://schemas.openxmlformats.org/officeDocument/2006/relationships/slide" Target="/ppt/slides/slide27.xml" Id="R9e7514bdf197408c" /><Relationship Type="http://schemas.openxmlformats.org/officeDocument/2006/relationships/slide" Target="/ppt/slides/slide28.xml" Id="Red564413546d4262" /><Relationship Type="http://schemas.openxmlformats.org/officeDocument/2006/relationships/slide" Target="/ppt/slides/slide29.xml" Id="Rbf35e12717f64b49" /><Relationship Type="http://schemas.openxmlformats.org/officeDocument/2006/relationships/slide" Target="/ppt/slides/slide30.xml" Id="R84836db20477403a" /><Relationship Type="http://schemas.openxmlformats.org/officeDocument/2006/relationships/slide" Target="/ppt/slides/slide31.xml" Id="R75dbfdd3ca8c40d7" /><Relationship Type="http://schemas.openxmlformats.org/officeDocument/2006/relationships/slide" Target="/ppt/slides/slide32.xml" Id="Rb5d1b3a6c87945a0" /><Relationship Type="http://schemas.openxmlformats.org/officeDocument/2006/relationships/slide" Target="/ppt/slides/slide33.xml" Id="R492ce7e0203842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8a6f77e00a4a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56a35ab62e4354" /><Relationship Type="http://schemas.openxmlformats.org/officeDocument/2006/relationships/notesMaster" Target="/ppt/notesMasters/notesMaster1.xml" Id="R029a770aa02c42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78ffc75fd84f71" /><Relationship Type="http://schemas.openxmlformats.org/officeDocument/2006/relationships/notesMaster" Target="/ppt/notesMasters/notesMaster1.xml" Id="R60ca6609b4dd4b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a73fccb9734f1c" /><Relationship Type="http://schemas.openxmlformats.org/officeDocument/2006/relationships/notesMaster" Target="/ppt/notesMasters/notesMaster1.xml" Id="R5e3a85fd6fb240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915a38e7c6402a" /><Relationship Type="http://schemas.openxmlformats.org/officeDocument/2006/relationships/notesMaster" Target="/ppt/notesMasters/notesMaster1.xml" Id="R957b3d0a7ca64f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e04eadb0f54762" /><Relationship Type="http://schemas.openxmlformats.org/officeDocument/2006/relationships/notesMaster" Target="/ppt/notesMasters/notesMaster1.xml" Id="Rc8cd4a6caf0645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c86509a97044d7" /><Relationship Type="http://schemas.openxmlformats.org/officeDocument/2006/relationships/notesMaster" Target="/ppt/notesMasters/notesMaster1.xml" Id="R8c1f693a6aef45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0fb8e243bf451b" /><Relationship Type="http://schemas.openxmlformats.org/officeDocument/2006/relationships/notesMaster" Target="/ppt/notesMasters/notesMaster1.xml" Id="R21082439c42f4e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7260d073ee4a0e" /><Relationship Type="http://schemas.openxmlformats.org/officeDocument/2006/relationships/notesMaster" Target="/ppt/notesMasters/notesMaster1.xml" Id="R462ef6c8cdfa49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e5b2cde0554f0c" /><Relationship Type="http://schemas.openxmlformats.org/officeDocument/2006/relationships/notesMaster" Target="/ppt/notesMasters/notesMaster1.xml" Id="R00046c4580a64f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39d3c37c0f48f5" /><Relationship Type="http://schemas.openxmlformats.org/officeDocument/2006/relationships/notesMaster" Target="/ppt/notesMasters/notesMaster1.xml" Id="R44ea23ae99a346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0c7049221f4112" /><Relationship Type="http://schemas.openxmlformats.org/officeDocument/2006/relationships/notesMaster" Target="/ppt/notesMasters/notesMaster1.xml" Id="R922bf4a09f404c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300e5a2efd4f2a" /><Relationship Type="http://schemas.openxmlformats.org/officeDocument/2006/relationships/notesMaster" Target="/ppt/notesMasters/notesMaster1.xml" Id="R251dee716eb249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cef9ce8f454356" /><Relationship Type="http://schemas.openxmlformats.org/officeDocument/2006/relationships/notesMaster" Target="/ppt/notesMasters/notesMaster1.xml" Id="R54d5899f14724a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f675f5a6244243" /><Relationship Type="http://schemas.openxmlformats.org/officeDocument/2006/relationships/notesMaster" Target="/ppt/notesMasters/notesMaster1.xml" Id="R42b542d9e00a4b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3e85c65d294763" /><Relationship Type="http://schemas.openxmlformats.org/officeDocument/2006/relationships/notesMaster" Target="/ppt/notesMasters/notesMaster1.xml" Id="Re24fdfc5a37142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2a6cdb861a4212" /><Relationship Type="http://schemas.openxmlformats.org/officeDocument/2006/relationships/notesMaster" Target="/ppt/notesMasters/notesMaster1.xml" Id="R87a1b27424204d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ddaccbec8341d6" /><Relationship Type="http://schemas.openxmlformats.org/officeDocument/2006/relationships/notesMaster" Target="/ppt/notesMasters/notesMaster1.xml" Id="R398606df803c4c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7f5735eb9b451d" /><Relationship Type="http://schemas.openxmlformats.org/officeDocument/2006/relationships/notesMaster" Target="/ppt/notesMasters/notesMaster1.xml" Id="Rc1c3bd3c69fa4b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4a4ccaa2014824" /><Relationship Type="http://schemas.openxmlformats.org/officeDocument/2006/relationships/notesMaster" Target="/ppt/notesMasters/notesMaster1.xml" Id="R41775a47bb134b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40019f8a644e34" /><Relationship Type="http://schemas.openxmlformats.org/officeDocument/2006/relationships/notesMaster" Target="/ppt/notesMasters/notesMaster1.xml" Id="Rfac5b34077854b1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65d3241710428f" /><Relationship Type="http://schemas.openxmlformats.org/officeDocument/2006/relationships/notesMaster" Target="/ppt/notesMasters/notesMaster1.xml" Id="R188e11f12f4d467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d572de877de4099" /><Relationship Type="http://schemas.openxmlformats.org/officeDocument/2006/relationships/notesMaster" Target="/ppt/notesMasters/notesMaster1.xml" Id="Rb69d14046ef04b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205488a8ba74e58" /><Relationship Type="http://schemas.openxmlformats.org/officeDocument/2006/relationships/notesMaster" Target="/ppt/notesMasters/notesMaster1.xml" Id="R2b16870d1fdc4bd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179dd2c44d541fd" /><Relationship Type="http://schemas.openxmlformats.org/officeDocument/2006/relationships/notesMaster" Target="/ppt/notesMasters/notesMaster1.xml" Id="Ra075bbae684e412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a7734204bbe46ba" /><Relationship Type="http://schemas.openxmlformats.org/officeDocument/2006/relationships/notesMaster" Target="/ppt/notesMasters/notesMaster1.xml" Id="Rf8bb1e33c990414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c397178ccc24be7" /><Relationship Type="http://schemas.openxmlformats.org/officeDocument/2006/relationships/notesMaster" Target="/ppt/notesMasters/notesMaster1.xml" Id="R5906a50a66254d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1358d1e9c8041b0" /><Relationship Type="http://schemas.openxmlformats.org/officeDocument/2006/relationships/notesMaster" Target="/ppt/notesMasters/notesMaster1.xml" Id="Rb4df71f7cb484f0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60fb2420caa4f15" /><Relationship Type="http://schemas.openxmlformats.org/officeDocument/2006/relationships/notesMaster" Target="/ppt/notesMasters/notesMaster1.xml" Id="R67c10e421726406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56acd7b6ca94a9c" /><Relationship Type="http://schemas.openxmlformats.org/officeDocument/2006/relationships/notesMaster" Target="/ppt/notesMasters/notesMaster1.xml" Id="R0584ffca05b6499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bf2ec64fa474be0" /><Relationship Type="http://schemas.openxmlformats.org/officeDocument/2006/relationships/notesMaster" Target="/ppt/notesMasters/notesMaster1.xml" Id="R72be299b44e848b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56310c3536741f3" /><Relationship Type="http://schemas.openxmlformats.org/officeDocument/2006/relationships/notesMaster" Target="/ppt/notesMasters/notesMaster1.xml" Id="R473a3e49893f4b6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47ba12ddfae4a50" /><Relationship Type="http://schemas.openxmlformats.org/officeDocument/2006/relationships/notesMaster" Target="/ppt/notesMasters/notesMaster1.xml" Id="Rff3e41bf5bce4be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fd26fa57d3f4d58" /><Relationship Type="http://schemas.openxmlformats.org/officeDocument/2006/relationships/notesMaster" Target="/ppt/notesMasters/notesMaster1.xml" Id="Rd06abe831a9745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Ilustrasi lokasi region; bukan janji latency. Verifikasi region dan cache di https://vercel.com/docs/edge-network. Ukur dari jaringan mahasiswa dan bandingkan aset statis dengan request dinamis.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ns0:p xmlns:ns0="http://schemas.openxmlformats.org/drawingml/2006/main">
            <ns0:r>
              <ns0:t>Rujukan revisi 18 Oktober 2026: https://nextjs.org/docs/app/api-reference/components/image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Rute contoh memakai publishable key dan tabel demo publik. Data privat memerlukan Auth dan RLS; jangan pernah memakai secret/service-role key di Route Handler publik. Sumber: https://supabase.com/docs/guides/database/secure-data dan https://vercel.com/docs/functions/runtimes/edge. Pilih runtime berdasarkan dependensi dan pengukuran.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 DNS setiap project/domain dapat berbeda. Gunakan nilai yang ditampilkan Dashboard Vercel. Sumber: https://vercel.com/docs/domains/working-with-domains/add-a-domain. Contoh output curl pada slide bersifat ilustrasi.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Ketentuan Hobby nonkomersial dan kuota paket diperiksa 8 Oktober 2026: https://vercel.com/docs/plans/hobby. Nilai dapat berubah; mahasiswa membuka halaman resmi sebelum deploy. Lab 08 dapat selesai lokal tanpa Vercel.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Jembatan ke Lab 08. Repo: https://github.com/SeedFlora/meet8CloudService. RPS: COMP6991031. Periksa langkah praktik dan perintah pada README repo. Bacaan: https://vercel.com/docs/git. Video: https://vercel.com/academy/vercel-foundations/vercel-account-setup.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Pemantik 2 menit: Kasus kerja: tim ingin UI Cloud Notes yang mudah diuji lokal dan punya pratinjau deploy setelah tiap perubahan Git.</a:t>
            </a:r>
          </a:p>
          <a:p xmlns:a="http://schemas.openxmlformats.org/drawingml/2006/main">
            <a:r>
              <a:t>Tanya kelas: Prediksi: mengapa URL localhost API Lab 06 tidak bisa dipakai dari deployment Vercel?</a:t>
            </a:r>
          </a:p>
          <a:p xmlns:a="http://schemas.openxmlformats.org/drawingml/2006/main">
            <a:r>
              <a:t>Bacaan resmi: https://vercel.com/docs/git</a:t>
            </a:r>
          </a:p>
          <a:p xmlns:a="http://schemas.openxmlformats.org/drawingml/2006/main">
            <a:r>
              <a:t>Video resmi: https://vercel.com/academy/vercel-foundations/vercel-account-setup</a:t>
            </a:r>
          </a:p>
          <a:p xmlns:a="http://schemas.openxmlformats.org/drawingml/2006/main">
            <a:r>
              <a:t>Praktik terhubung: https://github.com/SeedFlora/meet8CloudService</a:t>
            </a:r>
          </a:p>
          <a:p xmlns:a="http://schemas.openxmlformats.org/drawingml/2006/main">
            <a:r>
              <a:t>Ilustrasi: dibuat khusus untuk materi kelas dengan imagegen, bukan foto atau bukti hasil lab. Verifikasi tautan sumber dilakukan 8 Oktober 2026; pemutaran stream video tidak diuji. Lokasi dan harga layanan dapat berubah. Untuk P08, INP menggantikan FID sebagai Core Web Vital (https://web.dev/articles/inp).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519a021e94d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c74df55174ef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82d4c3519849e2" /><Relationship Type="http://schemas.openxmlformats.org/officeDocument/2006/relationships/slideLayout" Target="/ppt/slideLayouts/slideLayout1.xml" Id="R73dcb4e94e4b49dd" /><Relationship Type="http://schemas.openxmlformats.org/officeDocument/2006/relationships/slideLayout" Target="/ppt/slideLayouts/slideLayout2.xml" Id="R21ff7b78653b4b0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cb4e94e4b49dd"/>
    <p:sldLayoutId xmlns:r="http://schemas.openxmlformats.org/officeDocument/2006/relationships" id="2147483650" r:id="R21ff7b78653b4b0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abb46e4344fcd" /><Relationship Type="http://schemas.openxmlformats.org/officeDocument/2006/relationships/image" Target="/ppt/media/image.jpeg" Id="R03e560f8dea44e39" /><Relationship Type="http://schemas.openxmlformats.org/officeDocument/2006/relationships/image" Target="/ppt/media/image.png" Id="R744b892b0785417c" /><Relationship Type="http://schemas.openxmlformats.org/officeDocument/2006/relationships/image" Target="/ppt/media/image2.png" Id="R0cafd9d1a358467a" /><Relationship Type="http://schemas.openxmlformats.org/officeDocument/2006/relationships/notesSlide" Target="/ppt/notesSlides/notesSlide1.xml" Id="Rbb47b30d1c0f49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92ef064d24fc8" /><Relationship Type="http://schemas.openxmlformats.org/officeDocument/2006/relationships/image" Target="/ppt/media/image.png" Id="R9f7b2b9812cb47d3" /><Relationship Type="http://schemas.openxmlformats.org/officeDocument/2006/relationships/image" Target="/ppt/media/image2.png" Id="R372a9e09c75f4b93" /><Relationship Type="http://schemas.openxmlformats.org/officeDocument/2006/relationships/image" Target="/ppt/media/image3.png" Id="Rd358bbc450a54f8d" /><Relationship Type="http://schemas.openxmlformats.org/officeDocument/2006/relationships/image" Target="/ppt/media/image4.png" Id="R40a4b43095604fa6" /><Relationship Type="http://schemas.openxmlformats.org/officeDocument/2006/relationships/image" Target="/ppt/media/image5.png" Id="R1b9be9bc895a4aea" /><Relationship Type="http://schemas.openxmlformats.org/officeDocument/2006/relationships/image" Target="/ppt/media/image6.png" Id="Re98ed421d7454245" /><Relationship Type="http://schemas.openxmlformats.org/officeDocument/2006/relationships/image" Target="/ppt/media/image7.png" Id="R89c3734a24284319" /><Relationship Type="http://schemas.openxmlformats.org/officeDocument/2006/relationships/notesSlide" Target="/ppt/notesSlides/notesSlide2.xml" Id="Ra0f891de8ad442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1bf8d88264ee3" /><Relationship Type="http://schemas.openxmlformats.org/officeDocument/2006/relationships/image" Target="/ppt/media/image.png" Id="R9bf867772551449e" /><Relationship Type="http://schemas.openxmlformats.org/officeDocument/2006/relationships/image" Target="/ppt/media/image2.png" Id="R87c6af4efb95476a" /><Relationship Type="http://schemas.openxmlformats.org/officeDocument/2006/relationships/image" Target="/ppt/media/image8.png" Id="Rde3d4a6f662d4cf9" /><Relationship Type="http://schemas.openxmlformats.org/officeDocument/2006/relationships/image" Target="/ppt/media/image9.png" Id="Ra4e759e552824ca2" /><Relationship Type="http://schemas.openxmlformats.org/officeDocument/2006/relationships/image" Target="/ppt/media/image10.png" Id="R491164a731ca4819" /><Relationship Type="http://schemas.openxmlformats.org/officeDocument/2006/relationships/image" Target="/ppt/media/image7.png" Id="R70792845fc1d4bd2" /><Relationship Type="http://schemas.openxmlformats.org/officeDocument/2006/relationships/notesSlide" Target="/ppt/notesSlides/notesSlide3.xml" Id="Rc43238791d2c42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2c58f464a4dc2" /><Relationship Type="http://schemas.openxmlformats.org/officeDocument/2006/relationships/image" Target="/ppt/media/image.png" Id="R3458ff3168e64836" /><Relationship Type="http://schemas.openxmlformats.org/officeDocument/2006/relationships/image" Target="/ppt/media/image2.png" Id="R60fce6c6d22b48c6" /><Relationship Type="http://schemas.openxmlformats.org/officeDocument/2006/relationships/notesSlide" Target="/ppt/notesSlides/notesSlide4.xml" Id="Rbb8e7d23e0d444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a61b0cc214160" /><Relationship Type="http://schemas.openxmlformats.org/officeDocument/2006/relationships/image" Target="/ppt/media/image.png" Id="R7750c5724c9f4a66" /><Relationship Type="http://schemas.openxmlformats.org/officeDocument/2006/relationships/image" Target="/ppt/media/image2.png" Id="R95b3cfa655d9424c" /><Relationship Type="http://schemas.openxmlformats.org/officeDocument/2006/relationships/notesSlide" Target="/ppt/notesSlides/notesSlide5.xml" Id="Ra5e65b68619e42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207f59d24462e" /><Relationship Type="http://schemas.openxmlformats.org/officeDocument/2006/relationships/image" Target="/ppt/media/image.png" Id="R0ef9e82ce0be4ff1" /><Relationship Type="http://schemas.openxmlformats.org/officeDocument/2006/relationships/image" Target="/ppt/media/image2.png" Id="Rf7d2a2dfbe5441d1" /><Relationship Type="http://schemas.openxmlformats.org/officeDocument/2006/relationships/image" Target="/ppt/media/image11.png" Id="Rbde41456abb04284" /><Relationship Type="http://schemas.openxmlformats.org/officeDocument/2006/relationships/image" Target="/ppt/media/image12.png" Id="Rd59ce11ca068437d" /><Relationship Type="http://schemas.openxmlformats.org/officeDocument/2006/relationships/image" Target="/ppt/media/image13.png" Id="Rfd95f89e67e84c17" /><Relationship Type="http://schemas.openxmlformats.org/officeDocument/2006/relationships/notesSlide" Target="/ppt/notesSlides/notesSlide6.xml" Id="R2c011584f4f043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ac63dab2545b1" /><Relationship Type="http://schemas.openxmlformats.org/officeDocument/2006/relationships/image" Target="/ppt/media/image.png" Id="R1ca13475151a4de7" /><Relationship Type="http://schemas.openxmlformats.org/officeDocument/2006/relationships/image" Target="/ppt/media/image2.png" Id="R0833ee2622e44f8d" /><Relationship Type="http://schemas.openxmlformats.org/officeDocument/2006/relationships/notesSlide" Target="/ppt/notesSlides/notesSlide7.xml" Id="R8666b4d6e47a47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6504b18184b74" /><Relationship Type="http://schemas.openxmlformats.org/officeDocument/2006/relationships/image" Target="/ppt/media/image.png" Id="R0f40b1d8d608430f" /><Relationship Type="http://schemas.openxmlformats.org/officeDocument/2006/relationships/image" Target="/ppt/media/image2.png" Id="Rb1b27ee88c5f4cac" /><Relationship Type="http://schemas.openxmlformats.org/officeDocument/2006/relationships/image" Target="/ppt/media/image13.png" Id="R5aaa1d2bd9444407" /><Relationship Type="http://schemas.openxmlformats.org/officeDocument/2006/relationships/image" Target="/ppt/media/image14.png" Id="Rb348ca5ebf3f4bd8" /><Relationship Type="http://schemas.openxmlformats.org/officeDocument/2006/relationships/image" Target="/ppt/media/image15.png" Id="R235d6d8ff4f946a6" /><Relationship Type="http://schemas.openxmlformats.org/officeDocument/2006/relationships/notesSlide" Target="/ppt/notesSlides/notesSlide8.xml" Id="Rb30f2b86d32648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2131ec20243f2" /><Relationship Type="http://schemas.openxmlformats.org/officeDocument/2006/relationships/image" Target="/ppt/media/image.png" Id="Rd0a48645102847ee" /><Relationship Type="http://schemas.openxmlformats.org/officeDocument/2006/relationships/image" Target="/ppt/media/image2.png" Id="Ra564bf57226640b5" /><Relationship Type="http://schemas.openxmlformats.org/officeDocument/2006/relationships/image" Target="/ppt/media/image8.png" Id="Rf24b1e48f5234b1d" /><Relationship Type="http://schemas.openxmlformats.org/officeDocument/2006/relationships/image" Target="/ppt/media/image13.png" Id="R6687eef9818746cd" /><Relationship Type="http://schemas.openxmlformats.org/officeDocument/2006/relationships/image" Target="/ppt/media/image10.png" Id="R9c6ed9494b254a20" /><Relationship Type="http://schemas.openxmlformats.org/officeDocument/2006/relationships/image" Target="/ppt/media/image16.png" Id="R44d70b52f913494d" /><Relationship Type="http://schemas.openxmlformats.org/officeDocument/2006/relationships/notesSlide" Target="/ppt/notesSlides/notesSlide9.xml" Id="R7ca83476208940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7e4c5777c4cd8" /><Relationship Type="http://schemas.openxmlformats.org/officeDocument/2006/relationships/image" Target="/ppt/media/image.png" Id="R615bd9b62b444cf7" /><Relationship Type="http://schemas.openxmlformats.org/officeDocument/2006/relationships/image" Target="/ppt/media/image2.png" Id="R95d2abc810fb41d7" /><Relationship Type="http://schemas.openxmlformats.org/officeDocument/2006/relationships/image" Target="/ppt/media/image15.png" Id="Ra00d03453bb54334" /><Relationship Type="http://schemas.openxmlformats.org/officeDocument/2006/relationships/image" Target="/ppt/media/image17.png" Id="R43473c82917f444c" /><Relationship Type="http://schemas.openxmlformats.org/officeDocument/2006/relationships/image" Target="/ppt/media/image5.png" Id="R339db5506b194532" /><Relationship Type="http://schemas.openxmlformats.org/officeDocument/2006/relationships/image" Target="/ppt/media/image7.png" Id="R30f27f0ea65b4610" /><Relationship Type="http://schemas.openxmlformats.org/officeDocument/2006/relationships/notesSlide" Target="/ppt/notesSlides/notesSlide10.xml" Id="Rd1d6c1100f264e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6725773a7479b" /><Relationship Type="http://schemas.openxmlformats.org/officeDocument/2006/relationships/image" Target="/ppt/media/image.png" Id="R89f92beb9ff64dde" /><Relationship Type="http://schemas.openxmlformats.org/officeDocument/2006/relationships/image" Target="/ppt/media/image2.png" Id="R42c32571ee754640" /><Relationship Type="http://schemas.openxmlformats.org/officeDocument/2006/relationships/notesSlide" Target="/ppt/notesSlides/notesSlide11.xml" Id="R74f9e55b73e54f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7cd78bc67462d" /><Relationship Type="http://schemas.openxmlformats.org/officeDocument/2006/relationships/image" Target="/ppt/media/image.png" Id="R79ea2514fb024be6" /><Relationship Type="http://schemas.openxmlformats.org/officeDocument/2006/relationships/image" Target="/ppt/media/image2.png" Id="R59049eba844a4ac7" /><Relationship Type="http://schemas.openxmlformats.org/officeDocument/2006/relationships/image" Target="/ppt/media/image15.png" Id="Rcde85cc14fa646f6" /><Relationship Type="http://schemas.openxmlformats.org/officeDocument/2006/relationships/image" Target="/ppt/media/image18.png" Id="Red357f9324ae4f58" /><Relationship Type="http://schemas.openxmlformats.org/officeDocument/2006/relationships/image" Target="/ppt/media/image10.png" Id="Rf8eb38ae59a645cb" /><Relationship Type="http://schemas.openxmlformats.org/officeDocument/2006/relationships/image" Target="/ppt/media/image19.png" Id="R6dc4dc9c38d245d4" /><Relationship Type="http://schemas.openxmlformats.org/officeDocument/2006/relationships/image" Target="/ppt/media/image7.png" Id="R01c49512e4b3499e" /><Relationship Type="http://schemas.openxmlformats.org/officeDocument/2006/relationships/notesSlide" Target="/ppt/notesSlides/notesSlide12.xml" Id="R4e2811efe08443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d6a3bd03d45a0" /><Relationship Type="http://schemas.openxmlformats.org/officeDocument/2006/relationships/image" Target="/ppt/media/image.png" Id="R6ec9dfd6b7934d64" /><Relationship Type="http://schemas.openxmlformats.org/officeDocument/2006/relationships/image" Target="/ppt/media/image2.png" Id="R83cccfa4ba7c496a" /><Relationship Type="http://schemas.openxmlformats.org/officeDocument/2006/relationships/notesSlide" Target="/ppt/notesSlides/notesSlide13.xml" Id="Reba4f18cb49844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c0fc299bb459b" /><Relationship Type="http://schemas.openxmlformats.org/officeDocument/2006/relationships/image" Target="/ppt/media/image.png" Id="R4c3c6ecd6d74432e" /><Relationship Type="http://schemas.openxmlformats.org/officeDocument/2006/relationships/image" Target="/ppt/media/image2.png" Id="Ra7aa89559cc84529" /><Relationship Type="http://schemas.openxmlformats.org/officeDocument/2006/relationships/image" Target="/ppt/media/image12.png" Id="Rf864488c58704001" /><Relationship Type="http://schemas.openxmlformats.org/officeDocument/2006/relationships/notesSlide" Target="/ppt/notesSlides/notesSlide14.xml" Id="Rfdd82e4864bb48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ee32c1813481f" /><Relationship Type="http://schemas.openxmlformats.org/officeDocument/2006/relationships/image" Target="/ppt/media/image.png" Id="R8d7ee7f745e74652" /><Relationship Type="http://schemas.openxmlformats.org/officeDocument/2006/relationships/image" Target="/ppt/media/image2.png" Id="R0335811edd714d11" /><Relationship Type="http://schemas.openxmlformats.org/officeDocument/2006/relationships/notesSlide" Target="/ppt/notesSlides/notesSlide15.xml" Id="Rc27b77e6762d4c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3567e52b04894" /><Relationship Type="http://schemas.openxmlformats.org/officeDocument/2006/relationships/image" Target="/ppt/media/image.png" Id="Ra255c6f3220749e8" /><Relationship Type="http://schemas.openxmlformats.org/officeDocument/2006/relationships/image" Target="/ppt/media/image2.png" Id="R366c363a078c481a" /><Relationship Type="http://schemas.openxmlformats.org/officeDocument/2006/relationships/image" Target="/ppt/media/image20.png" Id="R1be562b6990d41aa" /><Relationship Type="http://schemas.openxmlformats.org/officeDocument/2006/relationships/image" Target="/ppt/media/image7.png" Id="R8c089c06ed64480e" /><Relationship Type="http://schemas.openxmlformats.org/officeDocument/2006/relationships/image" Target="/ppt/media/image19.png" Id="Rdb315c2ba4c64c4c" /><Relationship Type="http://schemas.openxmlformats.org/officeDocument/2006/relationships/image" Target="/ppt/media/image10.png" Id="R43c531522c424cc0" /><Relationship Type="http://schemas.openxmlformats.org/officeDocument/2006/relationships/image" Target="/ppt/media/image21.png" Id="R0a7402ec1d2348a2" /><Relationship Type="http://schemas.openxmlformats.org/officeDocument/2006/relationships/image" Target="/ppt/media/image22.png" Id="Rb7443e076360400e" /><Relationship Type="http://schemas.openxmlformats.org/officeDocument/2006/relationships/image" Target="/ppt/media/image18.png" Id="R0fcec4de8ed64dfc" /><Relationship Type="http://schemas.openxmlformats.org/officeDocument/2006/relationships/notesSlide" Target="/ppt/notesSlides/notesSlide16.xml" Id="R167c6dab4bdc4e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d594905024c7d" /><Relationship Type="http://schemas.openxmlformats.org/officeDocument/2006/relationships/image" Target="/ppt/media/image.png" Id="R22360ec91b474c56" /><Relationship Type="http://schemas.openxmlformats.org/officeDocument/2006/relationships/image" Target="/ppt/media/image2.png" Id="R8ee963e04ccb424c" /><Relationship Type="http://schemas.openxmlformats.org/officeDocument/2006/relationships/image" Target="/ppt/media/image20.png" Id="Rb2788fbe78704b8c" /><Relationship Type="http://schemas.openxmlformats.org/officeDocument/2006/relationships/image" Target="/ppt/media/image23.png" Id="Rca8148f1cb504198" /><Relationship Type="http://schemas.openxmlformats.org/officeDocument/2006/relationships/image" Target="/ppt/media/image4.png" Id="Rc46b7e35b3804e6f" /><Relationship Type="http://schemas.openxmlformats.org/officeDocument/2006/relationships/notesSlide" Target="/ppt/notesSlides/notesSlide17.xml" Id="R846f9a9d1b9d4a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96da1e361443d" /><Relationship Type="http://schemas.openxmlformats.org/officeDocument/2006/relationships/image" Target="/ppt/media/image.png" Id="R4f5bba0fdbe14e76" /><Relationship Type="http://schemas.openxmlformats.org/officeDocument/2006/relationships/image" Target="/ppt/media/image2.png" Id="R9eebed0c11d14508" /><Relationship Type="http://schemas.openxmlformats.org/officeDocument/2006/relationships/notesSlide" Target="/ppt/notesSlides/notesSlide18.xml" Id="R051e74ae7ca2437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ee250d0654631" /><Relationship Type="http://schemas.openxmlformats.org/officeDocument/2006/relationships/image" Target="/ppt/media/image.png" Id="Rbad04eb1a0814ffa" /><Relationship Type="http://schemas.openxmlformats.org/officeDocument/2006/relationships/image" Target="/ppt/media/image2.png" Id="R3a905d998403472f" /><Relationship Type="http://schemas.openxmlformats.org/officeDocument/2006/relationships/notesSlide" Target="/ppt/notesSlides/notesSlide19.xml" Id="R997ea3846d4343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a77faba064b0c" /><Relationship Type="http://schemas.openxmlformats.org/officeDocument/2006/relationships/image" Target="/ppt/media/image.png" Id="Rc7a68e2d3c66403d" /><Relationship Type="http://schemas.openxmlformats.org/officeDocument/2006/relationships/image" Target="/ppt/media/image2.png" Id="R99d1f9eacf3f4b7f" /><Relationship Type="http://schemas.openxmlformats.org/officeDocument/2006/relationships/image" Target="/ppt/media/image12.png" Id="R72deb4fc4d9d40f0" /><Relationship Type="http://schemas.openxmlformats.org/officeDocument/2006/relationships/image" Target="/ppt/media/image11.png" Id="Rb266e17415024a1b" /><Relationship Type="http://schemas.openxmlformats.org/officeDocument/2006/relationships/notesSlide" Target="/ppt/notesSlides/notesSlide20.xml" Id="R93baa278e8654f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4c5848e724d9b" /><Relationship Type="http://schemas.openxmlformats.org/officeDocument/2006/relationships/image" Target="/ppt/media/image.png" Id="Rfd09656580ca46ea" /><Relationship Type="http://schemas.openxmlformats.org/officeDocument/2006/relationships/image" Target="/ppt/media/image2.png" Id="R3577887a784e4cc5" /><Relationship Type="http://schemas.openxmlformats.org/officeDocument/2006/relationships/notesSlide" Target="/ppt/notesSlides/notesSlide21.xml" Id="Rf5546cfd6da84e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b73ce98d8429b" /><Relationship Type="http://schemas.openxmlformats.org/officeDocument/2006/relationships/image" Target="/ppt/media/image.png" Id="R0d5f961e05cb4d50" /><Relationship Type="http://schemas.openxmlformats.org/officeDocument/2006/relationships/image" Target="/ppt/media/image2.png" Id="R2de1f4c986ee4090" /><Relationship Type="http://schemas.openxmlformats.org/officeDocument/2006/relationships/notesSlide" Target="/ppt/notesSlides/notesSlide22.xml" Id="Ra41ebb01367e4c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04970ef684f47" /><Relationship Type="http://schemas.openxmlformats.org/officeDocument/2006/relationships/image" Target="/ppt/media/image.png" Id="Rb1dd8ede94a34db9" /><Relationship Type="http://schemas.openxmlformats.org/officeDocument/2006/relationships/image" Target="/ppt/media/image2.png" Id="R9e8df928d6d74100" /><Relationship Type="http://schemas.openxmlformats.org/officeDocument/2006/relationships/notesSlide" Target="/ppt/notesSlides/notesSlide23.xml" Id="R0f7f2a66ef7f450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8202ba1854053" /><Relationship Type="http://schemas.openxmlformats.org/officeDocument/2006/relationships/image" Target="/ppt/media/image.png" Id="Rbee4dd9685094cd0" /><Relationship Type="http://schemas.openxmlformats.org/officeDocument/2006/relationships/image" Target="/ppt/media/image2.png" Id="R59672474e3174dcf" /><Relationship Type="http://schemas.openxmlformats.org/officeDocument/2006/relationships/image" Target="/ppt/media/image8.png" Id="Re20658027cd848dc" /><Relationship Type="http://schemas.openxmlformats.org/officeDocument/2006/relationships/image" Target="/ppt/media/image9.png" Id="R3913ef29d48d494c" /><Relationship Type="http://schemas.openxmlformats.org/officeDocument/2006/relationships/image" Target="/ppt/media/image10.png" Id="Rd43cccb7d2574fad" /><Relationship Type="http://schemas.openxmlformats.org/officeDocument/2006/relationships/image" Target="/ppt/media/image7.png" Id="Rc43035343ff142ac" /><Relationship Type="http://schemas.openxmlformats.org/officeDocument/2006/relationships/notesSlide" Target="/ppt/notesSlides/notesSlide24.xml" Id="Rb89d8e10a37f49d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4389d734b4324" /><Relationship Type="http://schemas.openxmlformats.org/officeDocument/2006/relationships/image" Target="/ppt/media/image.png" Id="Rfad13c22fb204edb" /><Relationship Type="http://schemas.openxmlformats.org/officeDocument/2006/relationships/image" Target="/ppt/media/image2.png" Id="R929b5f7f21404f8d" /><Relationship Type="http://schemas.openxmlformats.org/officeDocument/2006/relationships/image" Target="/ppt/media/image24.png" Id="R0f00b21a20ee4b92" /><Relationship Type="http://schemas.openxmlformats.org/officeDocument/2006/relationships/image" Target="/ppt/media/image12.png" Id="R17891cbdbbc24082" /><Relationship Type="http://schemas.openxmlformats.org/officeDocument/2006/relationships/image" Target="/ppt/media/image25.png" Id="R3825d2bedefc4f9a" /><Relationship Type="http://schemas.openxmlformats.org/officeDocument/2006/relationships/notesSlide" Target="/ppt/notesSlides/notesSlide25.xml" Id="R697f388ea54b44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290741b8d4e29" /><Relationship Type="http://schemas.openxmlformats.org/officeDocument/2006/relationships/image" Target="/ppt/media/image.png" Id="R1c31299f9feb4a6f" /><Relationship Type="http://schemas.openxmlformats.org/officeDocument/2006/relationships/image" Target="/ppt/media/image2.png" Id="R7301039ff22f4dbb" /><Relationship Type="http://schemas.openxmlformats.org/officeDocument/2006/relationships/notesSlide" Target="/ppt/notesSlides/notesSlide26.xml" Id="R36f6137fcd40479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b766be7ee4112" /><Relationship Type="http://schemas.openxmlformats.org/officeDocument/2006/relationships/image" Target="/ppt/media/image.png" Id="R6f7f577e587e4b36" /><Relationship Type="http://schemas.openxmlformats.org/officeDocument/2006/relationships/image" Target="/ppt/media/image2.png" Id="R283042956b064484" /><Relationship Type="http://schemas.openxmlformats.org/officeDocument/2006/relationships/image" Target="/ppt/media/image11.png" Id="Rec60498dea034142" /><Relationship Type="http://schemas.openxmlformats.org/officeDocument/2006/relationships/image" Target="/ppt/media/image12.png" Id="R655a8bd6e35043f7" /><Relationship Type="http://schemas.openxmlformats.org/officeDocument/2006/relationships/notesSlide" Target="/ppt/notesSlides/notesSlide27.xml" Id="Rf303c018be08464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2d85d80244421" /><Relationship Type="http://schemas.openxmlformats.org/officeDocument/2006/relationships/image" Target="/ppt/media/image.png" Id="R611187b6cb0d458a" /><Relationship Type="http://schemas.openxmlformats.org/officeDocument/2006/relationships/image" Target="/ppt/media/image2.png" Id="Rbdbbe2d4286445ef" /><Relationship Type="http://schemas.openxmlformats.org/officeDocument/2006/relationships/notesSlide" Target="/ppt/notesSlides/notesSlide28.xml" Id="R8608d957155b45e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0d978a9034fd0" /><Relationship Type="http://schemas.openxmlformats.org/officeDocument/2006/relationships/image" Target="/ppt/media/image.png" Id="R0059964d93564a3c" /><Relationship Type="http://schemas.openxmlformats.org/officeDocument/2006/relationships/image" Target="/ppt/media/image2.png" Id="R0b13711cec384368" /><Relationship Type="http://schemas.openxmlformats.org/officeDocument/2006/relationships/notesSlide" Target="/ppt/notesSlides/notesSlide29.xml" Id="Ref9738099f1c41f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5c1f573c84fca" /><Relationship Type="http://schemas.openxmlformats.org/officeDocument/2006/relationships/image" Target="/ppt/media/image.png" Id="R2ae4f04479684270" /><Relationship Type="http://schemas.openxmlformats.org/officeDocument/2006/relationships/image" Target="/ppt/media/image2.png" Id="R4e8e919c25d24a60" /><Relationship Type="http://schemas.openxmlformats.org/officeDocument/2006/relationships/notesSlide" Target="/ppt/notesSlides/notesSlide30.xml" Id="R4b857cab25f9472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65b511bfd49d7" /><Relationship Type="http://schemas.openxmlformats.org/officeDocument/2006/relationships/image" Target="/ppt/media/image.png" Id="Raa15c6fa2c0b4fe7" /><Relationship Type="http://schemas.openxmlformats.org/officeDocument/2006/relationships/image" Target="/ppt/media/image2.png" Id="Re8ed373590c8441c" /><Relationship Type="http://schemas.openxmlformats.org/officeDocument/2006/relationships/image" Target="/ppt/media/image26.png" Id="R27a3180863b74dd9" /><Relationship Type="http://schemas.openxmlformats.org/officeDocument/2006/relationships/image" Target="/ppt/media/image27.png" Id="R2e48faf403e84cd3" /><Relationship Type="http://schemas.openxmlformats.org/officeDocument/2006/relationships/image" Target="/ppt/media/image28.png" Id="Rc707d2c26eec4500" /><Relationship Type="http://schemas.openxmlformats.org/officeDocument/2006/relationships/notesSlide" Target="/ppt/notesSlides/notesSlide31.xml" Id="R52e176b667fd4c4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e08a2b32944c15" /><Relationship Type="http://schemas.openxmlformats.org/officeDocument/2006/relationships/hyperlink" Target="https://github.com/SeedFlora/meet8CloudService" TargetMode="External" Id="R8cc460a8e1bb4ae9" /><Relationship Type="http://schemas.openxmlformats.org/officeDocument/2006/relationships/notesSlide" Target="/ppt/notesSlides/notesSlide32.xml" Id="R77173410513d4d1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51e26237747ca" /><Relationship Type="http://schemas.openxmlformats.org/officeDocument/2006/relationships/hyperlink" Target="https://vercel.com/docs/git" TargetMode="External" Id="R1160eda262954171" /><Relationship Type="http://schemas.openxmlformats.org/officeDocument/2006/relationships/hyperlink" Target="https://vercel.com/academy/vercel-foundations/vercel-account-setup" TargetMode="External" Id="R5ae00f872abe4b62" /><Relationship Type="http://schemas.openxmlformats.org/officeDocument/2006/relationships/hyperlink" Target="https://github.com/SeedFlora/meet8CloudService" TargetMode="External" Id="R84c9f17852e04baf" /><Relationship Type="http://schemas.openxmlformats.org/officeDocument/2006/relationships/image" Target="/ppt/media/image29.png" Id="R9a471312b8fc42b9" /><Relationship Type="http://schemas.openxmlformats.org/officeDocument/2006/relationships/notesSlide" Target="/ppt/notesSlides/notesSlide33.xml" Id="Ra28bc16afeed40f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3e560f8dea44e3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b892b078541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fd9d1a35846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A5D25E0E-27D7-4075-A398-B4E255F9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2 SKS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A19A7FEA-9C26-4AA9-8CF4-328D5E2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11247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</a:t>
            </a:r>
            <a:endParaRPr sz="68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0288CDC5-7FDF-47D9-BB0B-89EE9C7F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Frontend Deploy, Edge Network, Serverless Functions</a:t>
            </a:r>
            <a:endParaRPr sz="1800"/>
          </a:p>
        </p:txBody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35E732A-3516-4527-A080-63BA91FB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BC081B8-AB40-480E-BDCF-B6913375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8  |  100 MENIT</a:t>
            </a:r>
            <a:endParaRPr sz="1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A5B98BA-8175-4FD5-B5E1-E17AC39E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448F616-F4A8-4868-9DC9-C6B5CE6E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642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2A7624-9C95-4CA2-B3D8-963F7B19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9F1CA4-7DCE-4A0D-9542-442F6DE3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FC209F2-633A-4ED3-A8AA-0193487F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b2b9812cb47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a9e09c75f4b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2C2B1C-2A7D-4982-BE06-E6781156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FC019AB-658B-416F-821E-97C099CD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Recap Pertemuan 7 &amp; Agenda Hari Ini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7CE4A47-53F9-4648-A547-5DBFD91E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Backend siap (Supabase) - sekarang waktunya frontend live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332BB84-D76E-4F34-9FE0-45522AF8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CAA1BBA-031D-4B4F-8515-56534B0A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DI PERTEMUAN 7, KITA SUDAH: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Supabase BaaS</a:t>
            </a:r>
            <a:endParaRPr sz="1100"/>
          </a:p>
        </p:txBody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8bbc450a5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6A6C7C4-E8D7-49EA-BAC2-8BF6832E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Postgres + Auth + Auto API dalam 1 platform</a:t>
            </a:r>
            <a:endParaRPr sz="1200"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4b43095604f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375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1468EA5-6C0B-4084-8627-57BB86CC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PostgREST schema -&gt; REST endpoint otomatis</a:t>
            </a:r>
            <a:endParaRPr sz="1200"/>
          </a:p>
        </p:txBody>
      </p:sp>
      <p:pic>
        <p:nvPicPr>
          <p:cNvPr id="4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be9bc895a4a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62146CD8-416C-4973-96BF-DAD21B3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anon key di frontend, service_role di backend</a:t>
            </a:r>
            <a:endParaRPr sz="1200"/>
          </a:p>
        </p:txBody>
      </p:sp>
      <p:pic>
        <p:nvPicPr>
          <p:cNvPr id="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ed421d7454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FBC84121-AC09-433C-9B43-D7744EBB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262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RLS WAJIB enable - policy = WHERE auto</a:t>
            </a:r>
            <a:endParaRPr sz="1200"/>
          </a:p>
        </p:txBody>
      </p:sp>
      <p:pic>
        <p:nvPicPr>
          <p:cNvPr id="5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3734a24284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D58DDA31-72DB-4B43-A572-99EDAFEB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Realtime via WebSocket - subscribe DB changes</a:t>
            </a:r>
            <a:endParaRPr sz="12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4C5AD924-34D8-4FBC-AE52-53BAA0D9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72F7B0C4-0E1A-45D4-B290-E4029B4D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HARI INI, KITA AKAN: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 Deploy</a:t>
            </a:r>
            <a:endParaRPr sz="1100"/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65E7DCB3-3B4E-429E-941B-B69B0CD1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Frontend hosting modern (static, SSR, edge)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Vercel architecture + alternatives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Deploy workflow: git push -&gt; live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Environment variables + preview deployments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Edge Network + Image optimization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Custom domain + SSL + monitoring</a:t>
            </a:r>
            <a:endParaRPr sz="1200"/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EE868E5B-856F-4EC3-BCD0-BD9338D9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Lab 08: uji UI Cloud Notes lokal; jalur Supabase dan Vercel mendukung proyek kelompok.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84308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EFF77C-2460-4168-A956-6DE40088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D8992E-9C9A-482A-A62C-99A6E70E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D3DA995-8609-462D-AF70-15A5E636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86777255144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6af4efb9547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E1D84C1-C604-4B46-89A2-F33BD828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8D38629-9296-426D-BD03-2E5F1C90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Learning Outcomes - Pertemuan 8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E9DE7C4-488C-4BFF-A6A5-89C48154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Capaian Sesi Hari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6257405-DC5C-48AA-9270-003ABB27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2BBDCA8-9EA2-44E0-AF25-4630139A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D31B31D-B234-498C-956F-8EE8F6D2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1B68DCC-877F-48B2-8759-F4755892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d4a6f662d4c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81C415F-7A12-4D51-9871-64DED384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Membedakan</a:t>
            </a:r>
            <a:endParaRPr sz="18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7296790-9502-4319-9196-70311049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static hosting, SSR, edge rendering + trade-off masing-masing model.</a:t>
            </a:r>
            <a:endParaRPr sz="12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4653BDAA-C937-482A-A5B9-35C7DFF2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83B95D97-3736-436F-B440-24F8C62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F4F207D5-488A-4B42-98E3-53DC6A6B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84F374C5-F547-4FCE-9C32-901F14FC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759e552824c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8072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25322B2-02EC-4D28-8FBE-FB708205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Menerbitkan</a:t>
            </a:r>
            <a:endParaRPr sz="18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064508A6-AE89-419D-B5E6-DDB050D4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aplikasi Next.js ke Vercel dari git repo - auto deploy on push.</a:t>
            </a:r>
            <a:endParaRPr sz="12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FDB1E10D-90E1-4412-B678-95FB5258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836A199E-5024-4A24-ABD8-06B89FB5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FEC3CBB9-AC7C-43F5-BA91-7948AD5A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77CEAF68-B49F-4E9F-A66E-1CF3AD71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164a731ca48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0144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2261CBFA-8E2B-47B4-AB05-77CCB95C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Mengkonfigurasi</a:t>
            </a:r>
            <a:endParaRPr sz="18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6C30331A-6E81-4702-9601-31B408DF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environment variables, preview deployments, custom domain + SSL.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A48BF7EF-3165-4497-BF8D-B8692826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F334331D-2054-4F90-AEEF-D6AA566C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FC52149C-AE17-4363-8FAC-2A5FE9CC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BDAFA729-DCB4-4CCD-9201-534A6A2D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92845fc1d4b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72216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63B30B13-AA47-4D1A-BFC3-D3102BA3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Mengoptimasi</a:t>
            </a:r>
            <a:endParaRPr sz="18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C08E0782-43B4-4A13-A669-6227ADEE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performance lewat edge network, image optimization, serverless functions.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D0557DF1-83E7-4993-8DD1-A1A8E48E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50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LO2 (Apply – deploy production-grade frontend)  +  LO1 (Analyze – pilih rendering strategy)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2999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6BD2EF-9AE9-42AA-B162-13A3253C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84B33E0-5DB8-4299-930C-8998BE2F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18B6AE5-589A-4137-81A3-B84C3FB2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590CFC2-821A-4BA2-AD1A-18F115FC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FB46387-33FC-4C08-9EE0-518CD49F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FF0086-E27B-40C8-A921-B13DBDA5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27B35CF-F900-4587-8F0D-E2691010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8ff3168e6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ce6c6d22b48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097DAC4-69A1-43B8-B1A9-8EB4CA45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9BC139F-BCFA-4288-9D87-5CA2AEE3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Frontend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Hosting Modern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FC32FAF-AECB-4896-B2B0-6F82DDC6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4C592A9-46FF-4AED-8F4A-54BAAD63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Dari upload FTP ke edge global - rendering strategy yang berbeda.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52510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B8D54E-462E-459F-B04A-2391CD86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28C51C-3080-453E-85DD-D7817FD3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430F7C2-5D6E-4A86-857B-9E6970E7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0c5724c9f4a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3cfa655d942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BC470A1-1C8A-458C-9C4C-4AF6F3A3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82022AB-47CB-4A32-ADA2-C6197F8F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ns0:p xmlns:ns0="http://schemas.openxmlformats.org/drawingml/2006/main">
            <ns0:pPr marL="0" indent="0" algn="ctr">
              <ns0:buNone/>
            </ns0:pPr>
            <ns0:r>
              <ns0:rPr sz="2200" b="1">
                <ns0:solidFill>
                  <ns0:srgbClr val="1976D2"/>
                </ns0:solidFill>
                <ns0:latin typeface="Calibri"/>
                <ns0:ea typeface="Calibri"/>
                <ns0:cs typeface="Calibri"/>
              </ns0:rPr>
              <ns0:t>SSG, SSR, dan ISR</ns0:t>
            </ns0:r>
            <ns0:endParaRPr sz="2200"/>
          </ns0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480B1F2-4813-4AA0-9297-63432075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Trade-off: kecepatan, freshness data, kompleksitas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E7C183A-ABBE-4601-B50E-6F104B18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5241E4D-841F-40FD-8D9C-E33C543D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A515820-C7E7-4C58-B015-A1891AE8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0876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Static (SSG)</a:t>
            </a:r>
            <a:endParaRPr sz="2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FC94F6B-6F5A-4311-8592-8ACF83BC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2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time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03E1A9B-8384-4E30-BFA1-37D1BF0D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HTML di-generate sekali saat build. Disajikan dari CDN.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7360557-CCD3-48AA-8429-C0148862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+ Super cepat (CDN edge)</a:t>
            </a:r>
            <a:endParaRPr sz="105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+ Murah scale</a:t>
            </a:r>
            <a:endParaRPr sz="105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+ Tidak perlu server</a:t>
            </a:r>
            <a:endParaRPr sz="105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3F5439B-965B-4AF1-97E9-35589C14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3337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- Data harus stale-ok</a:t>
            </a:r>
            <a:endParaRPr sz="105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- Rebuild untuk update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28E1856-8F42-4427-86B0-CE3931B2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33375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6F76827-2698-4E01-8755-DF2E9171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20640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Blog, docs, marketing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B0C69C38-5172-4C1A-8628-5A8ADBE7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25C2A85-94E8-499B-83BC-95377B08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3D4C0F3-D8D6-4889-927E-F90D78A1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0876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SSR</a:t>
            </a:r>
            <a:endParaRPr sz="20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A838A294-05F8-465F-82AE-11611E6C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7452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Request time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3D7FB5D-A707-4B6F-BA07-5F434711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3172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HTML di-render di server tiap request. Data selalu fresh.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E413F326-277B-43CD-9D1A-A8955691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9184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+ Data real-time</a:t>
            </a:r>
            <a:endParaRPr sz="105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+ SEO ramah</a:t>
            </a:r>
            <a:endParaRPr sz="105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+ Personalisasi</a:t>
            </a:r>
            <a:endParaRPr sz="10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BFBF705-0B77-4C8C-9A2F-154257F8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251960"/>
            <a:ext cx="3337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- Lebih lambat (server hit)</a:t>
            </a:r>
            <a:endParaRPr sz="105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5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- Server cost lebih tinggi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163BBDE-35E5-4551-9DB3-E75EDEB1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074920"/>
            <a:ext cx="33375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7A55FE8-998C-41E7-B83F-17C8E8AE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0640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Dashboard, e-commerce</a:t>
            </a:r>
            <a:endParaRPr sz="11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99B02C23-CA01-44A5-B82A-4829FCC3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7A8BAFBF-7117-425C-94A0-C5849E5E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AB2C027-5D23-4D8D-A86E-CA6645AC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50876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ns0:p xmlns:ns0="http://schemas.openxmlformats.org/drawingml/2006/main">
            <ns0:pPr marL="0" indent="0">
              <ns0:buNone/>
            </ns0:pPr>
            <ns0:r>
              <ns0:rPr sz="2000" b="1">
                <ns0:solidFill>
                  <ns0:srgbClr val="FFFFFF"/>
                </ns0:solidFill>
                <ns0:latin typeface="Calibri"/>
                <ns0:ea typeface="Calibri"/>
                <ns0:cs typeface="Calibri"/>
              </ns0:rPr>
              <ns0:t>ISR</ns0:t>
            </ns0:r>
            <ns0:endParaRPr sz="2000"/>
          </ns0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15E1CF92-CC61-43C0-BF12-A82CA5B0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7452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ns0:p xmlns:ns0="http://schemas.openxmlformats.org/drawingml/2006/main">
            <ns0:pPr marL="0" indent="0">
              <ns0:buNone/>
            </ns0:pPr>
            <ns0:r>
              <ns0:rPr sz="1100" i="1" spc="200">
                <ns0:solidFill>
                  <ns0:srgbClr val="FFFFFF"/>
                </ns0:solidFill>
                <ns0:latin typeface="Calibri"/>
                <ns0:ea typeface="Calibri"/>
                <ns0:cs typeface="Calibri"/>
              </ns0:rPr>
              <ns0:t>Revalidasi konten statis</ns0:t>
            </ns0:r>
            <ns0:endParaRPr sz="1100"/>
          </ns0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6932079F-A05B-4B98-A4F5-8ABFD6D8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3172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ns0:p xmlns:ns0="http://schemas.openxmlformats.org/drawingml/2006/main">
            <ns0:pPr marL="0" indent="0">
              <ns0:buNone/>
            </ns0:pPr>
            <ns0:r>
              <ns0:rPr sz="1100">
                <ns0:solidFill>
                  <ns0:srgbClr val="1E293B"/>
                </ns0:solidFill>
                <ns0:latin typeface="Calibri"/>
                <ns0:ea typeface="Calibri"/>
                <ns0:cs typeface="Calibri"/>
              </ns0:rPr>
              <ns0:t>Halaman statis diperbarui melalui aturan revalidasi.</ns0:t>
            </ns0:r>
            <ns0:endParaRPr sz="1100"/>
          </ns0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E570BA3-799A-43AD-BB2C-90A704B5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29184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200"/>
              </ns0:spcAft>
              <ns0:buNone/>
            </ns0:pPr>
            <ns0:r>
              <ns0:rPr sz="1050">
                <ns0:solidFill>
                  <ns0:srgbClr val="059669"/>
                </ns0:solidFill>
                <ns0:latin typeface="Calibri"/>
                <ns0:ea typeface="Calibri"/>
                <ns0:cs typeface="Calibri"/>
              </ns0:rPr>
              <ns0:t>+ Cache halaman</ns0:t>
            </ns0:r>
            <ns0:endParaRPr sz="1050"/>
          </ns0:p>
          <ns1:p xmlns:ns1="http://schemas.openxmlformats.org/drawingml/2006/main">
            <ns1:pPr marL="0" indent="0">
              <ns1:spcAft>
                <ns1:spcPts val="200"/>
              </ns1:spcAft>
              <ns1:buNone/>
            </ns1:pPr>
            <ns1:r>
              <ns1:rPr sz="1050">
                <ns1:solidFill>
                  <ns1:srgbClr val="059669"/>
                </ns1:solidFill>
                <ns1:latin typeface="Calibri"/>
                <ns1:ea typeface="Calibri"/>
                <ns1:cs typeface="Calibri"/>
              </ns1:rPr>
              <ns1:t>+ Pembaruan tanpa rebuild penuh</ns1:t>
            </ns1:r>
            <ns1:endParaRPr sz="1050"/>
          </ns1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E18CA8-59F9-4B4C-B8C9-9D5DFBAC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251960"/>
            <a:ext cx="3337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200"/>
              </ns0:spcAft>
              <ns0:buNone/>
            </ns0:pPr>
            <ns0:r>
              <ns0:rPr sz="1050">
                <ns0:solidFill>
                  <ns0:srgbClr val="DC2626"/>
                </ns0:solidFill>
                <ns0:latin typeface="Calibri"/>
                <ns0:ea typeface="Calibri"/>
                <ns0:cs typeface="Calibri"/>
              </ns0:rPr>
              <ns0:t>- Konten dapat sementara lama</ns0:t>
            </ns0:r>
            <ns0:endParaRPr sz="1050"/>
          </ns0:p>
          <ns1:p xmlns:ns1="http://schemas.openxmlformats.org/drawingml/2006/main">
            <ns1:pPr marL="0" indent="0">
              <ns1:spcAft>
                <ns1:spcPts val="200"/>
              </ns1:spcAft>
              <ns1:buNone/>
            </ns1:pPr>
            <ns1:r>
              <ns1:rPr sz="1050">
                <ns1:solidFill>
                  <ns1:srgbClr val="DC2626"/>
                </ns1:solidFill>
                <ns1:latin typeface="Calibri"/>
                <ns1:ea typeface="Calibri"/>
                <ns1:cs typeface="Calibri"/>
              </ns1:rPr>
              <ns1:t>- Perlu strategi revalidasi</ns1:t>
            </ns1:r>
            <ns1:endParaRPr sz="1050"/>
          </ns1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04739AF3-5469-4458-A875-BE324804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074920"/>
            <a:ext cx="33375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6B2ABF1B-1180-44D5-A36B-EC326F26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120640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ns0:p xmlns:ns0="http://schemas.openxmlformats.org/drawingml/2006/main">
            <ns0:pPr marL="0" indent="0" algn="ctr">
              <ns0:buNone/>
            </ns0:pPr>
            <ns0:r>
              <ns0:rPr sz="1100" i="1">
                <ns0:solidFill>
                  <ns0:srgbClr val="FED7AA"/>
                </ns0:solidFill>
                <ns0:latin typeface="Calibri"/>
                <ns0:ea typeface="Calibri"/>
                <ns0:cs typeface="Calibri"/>
              </ns0:rPr>
              <ns0:t>Pakai untuk:</ns0:t>
            </ns0:r>
            <ns0:endParaRPr sz="1100"/>
          </ns0:p>
          <ns1:p xmlns:ns1="http://schemas.openxmlformats.org/drawingml/2006/main">
            <ns1:pPr marL="0" indent="0" algn="ctr">
              <ns1:buNone/>
            </ns1:pPr>
            <ns1:r>
              <ns1:rPr sz="1100" i="1">
                <ns1:solidFill>
                  <ns1:srgbClr val="FED7AA"/>
                </ns1:solidFill>
                <ns1:latin typeface="Calibri"/>
                <ns1:ea typeface="Calibri"/>
                <ns1:cs typeface="Calibri"/>
              </ns1:rPr>
              <ns1:t>Konten publik yang berkala berubah</ns1:t>
            </ns1:r>
            <ns1:endParaRPr sz="1100"/>
          </ns1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AA8CBCF-5B22-4A91-B002-A12A39AE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ns0:p xmlns:ns0="http://schemas.openxmlformats.org/drawingml/2006/main">
            <ns0:pPr marL="0" indent="0" algn="ctr">
              <ns0:buNone/>
            </ns0:pPr>
            <ns0:r>
              <ns0:rPr sz="1100" b="1" i="1">
                <ns0:solidFill>
                  <ns0:srgbClr val="F37021"/>
                </ns0:solidFill>
                <ns0:latin typeface="Calibri"/>
                <ns0:ea typeface="Calibri"/>
                <ns0:cs typeface="Calibri"/>
              </ns0:rPr>
              <ns0:t>Edge adalah pilihan runtime, terpisah dari SSG/SSR/ISR. Pilih runtime menurut API yang tersedia dan lokasi data.</ns0:t>
            </ns0:r>
            <ns0:endParaRPr sz="1100"/>
          </ns0:p>
        </p:txBody>
      </p:sp>
    </p:spTree>
    <p:extLst>
      <p:ext uri="{BB962C8B-B14F-4D97-AF65-F5344CB8AC3E}">
        <p14:creationId xmlns:p14="http://schemas.microsoft.com/office/powerpoint/2010/main" val="1610521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9C7CE9-72E9-466C-8459-F106D5BB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AF1134-45A5-48F5-AC7B-97D89304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B6C061-2D79-4E2F-863B-F5131972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9e82ce0be4f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2a2dfbe5441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CC5558D-4A16-4374-836F-F1D781C2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8B99D09-B38D-4ACC-AE19-E281FDA5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VPS Tradisional vs Modern Platform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8174192-CFCB-46FB-88B2-5BB93AD7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Kenapa frontend developer pindah dari Nginx + VPS ke Vercel/Netlify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B0017ED-999A-40F5-901A-00E8702B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32C0B60-1800-4584-AB48-937620C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AF46FD6-119B-4EBD-9A5A-D9D01413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VPS + Nginx (Tradisional)</a:t>
            </a:r>
            <a:endParaRPr sz="1400"/>
          </a:p>
        </p:txBody>
      </p:sp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41456abb0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2402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E5AFECF3-C918-4C75-8463-50A13516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488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Setup manual: install Node, build, scp, restart</a:t>
            </a:r>
            <a:endParaRPr sz="1100"/>
          </a:p>
        </p:txBody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41456abb0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880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04807400-208F-476D-A4C2-5E8A1417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78892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SSL manual: Let's Encrypt + cron renew</a:t>
            </a:r>
            <a:endParaRPr sz="1100"/>
          </a:p>
        </p:txBody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41456abb0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520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33FDF7EE-7305-4173-97B2-39DB62A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2900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Scale manual: tambah server + load balancer</a:t>
            </a:r>
            <a:endParaRPr sz="1100"/>
          </a:p>
        </p:txBody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41456abb0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1605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CC1A8DA1-ABA6-429B-AA77-E2F8EAF8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6908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CDN setup terpisah (Cloudflare/CloudFront)</a:t>
            </a:r>
            <a:endParaRPr sz="1100"/>
          </a:p>
        </p:txBody>
      </p:sp>
      <p:pic>
        <p:nvPicPr>
          <p:cNvPr id="7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ce11ca068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8006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4B70256D-0CEE-401A-B682-746579EF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70916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Full control - server config bebas</a:t>
            </a:r>
            <a:endParaRPr sz="1100"/>
          </a:p>
        </p:txBody>
      </p:sp>
      <p:pic>
        <p:nvPicPr>
          <p:cNvPr id="7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ce11ca068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4406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ext 14">
            <a:extLst xmlns:a="http://schemas.openxmlformats.org/drawingml/2006/main">
              <a:ext uri="{FF2B5EF4-FFF2-40B4-BE49-F238E27FC236}">
                <a16:creationId xmlns:a16="http://schemas.microsoft.com/office/drawing/2014/main" id="{33BA4FCF-3970-4BB6-886C-F231B65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3492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Biaya VPS bergantung penyedia dan kapasitas</a:t>
            </a:r>
            <a:endParaRPr sz="1100"/>
          </a:p>
        </p:txBody>
      </p:sp>
      <p:sp>
        <p:nvSpPr>
          <p:cNvPr id="25" name="Shape 15">
            <a:extLst xmlns:a="http://schemas.openxmlformats.org/drawingml/2006/main">
              <a:ext uri="{FF2B5EF4-FFF2-40B4-BE49-F238E27FC236}">
                <a16:creationId xmlns:a16="http://schemas.microsoft.com/office/drawing/2014/main" id="{CB8CD995-4E21-4A76-8B14-B6084B85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BB171E30-5623-4BDA-B4EA-3DFC7031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pic>
        <p:nvPicPr>
          <p:cNvPr id="8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5f89e67e84c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688B9909-4FBA-49A7-9AFB-7392CA3B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17320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 / Netlify (Modern PaaS)</a:t>
            </a:r>
            <a:endParaRPr sz="1400"/>
          </a:p>
        </p:txBody>
      </p:sp>
      <p:pic>
        <p:nvPicPr>
          <p:cNvPr id="84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ce11ca068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2402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0" name="Text 18">
            <a:extLst xmlns:a="http://schemas.openxmlformats.org/drawingml/2006/main">
              <a:ext uri="{FF2B5EF4-FFF2-40B4-BE49-F238E27FC236}">
                <a16:creationId xmlns:a16="http://schemas.microsoft.com/office/drawing/2014/main" id="{E380CAAB-5A20-4676-96B3-355FA8F7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1488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Setup nol: connect repo, push, live</a:t>
            </a:r>
            <a:endParaRPr sz="1100"/>
          </a:p>
        </p:txBody>
      </p:sp>
      <p:pic>
        <p:nvPicPr>
          <p:cNvPr id="86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ce11ca068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880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2" name="Text 19">
            <a:extLst xmlns:a="http://schemas.openxmlformats.org/drawingml/2006/main">
              <a:ext uri="{FF2B5EF4-FFF2-40B4-BE49-F238E27FC236}">
                <a16:creationId xmlns:a16="http://schemas.microsoft.com/office/drawing/2014/main" id="{917CA10B-6445-4996-BD91-FF3D48F5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8892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SSL otomatis + auto-renew (Let's Encrypt)</a:t>
            </a:r>
            <a:endParaRPr sz="1100"/>
          </a:p>
        </p:txBody>
      </p:sp>
      <p:pic>
        <p:nvPicPr>
          <p:cNvPr id="88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ce11ca068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520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4" name="Text 20">
            <a:extLst xmlns:a="http://schemas.openxmlformats.org/drawingml/2006/main">
              <a:ext uri="{FF2B5EF4-FFF2-40B4-BE49-F238E27FC236}">
                <a16:creationId xmlns:a16="http://schemas.microsoft.com/office/drawing/2014/main" id="{22606DCC-AB64-49EA-AAAB-63D35FA8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42900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Scale otomatis - 0 ke jutaan request</a:t>
            </a:r>
            <a:endParaRPr sz="1100"/>
          </a:p>
        </p:txBody>
      </p:sp>
      <p:pic>
        <p:nvPicPr>
          <p:cNvPr id="90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ce11ca068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1605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6" name="Text 21">
            <a:extLst xmlns:a="http://schemas.openxmlformats.org/drawingml/2006/main">
              <a:ext uri="{FF2B5EF4-FFF2-40B4-BE49-F238E27FC236}">
                <a16:creationId xmlns:a16="http://schemas.microsoft.com/office/drawing/2014/main" id="{FE662DC9-1B90-47C9-BB15-F8F878FE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06908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Global CDN built-in</a:t>
            </a:r>
            <a:endParaRPr sz="1100"/>
          </a:p>
        </p:txBody>
      </p:sp>
      <p:pic>
        <p:nvPicPr>
          <p:cNvPr id="92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41456abb0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8006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8" name="Text 22">
            <a:extLst xmlns:a="http://schemas.openxmlformats.org/drawingml/2006/main">
              <a:ext uri="{FF2B5EF4-FFF2-40B4-BE49-F238E27FC236}">
                <a16:creationId xmlns:a16="http://schemas.microsoft.com/office/drawing/2014/main" id="{0612EB1D-8DDC-4B7F-AEE9-DCA04F28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0916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Vendor lock-in moderat</a:t>
            </a:r>
            <a:endParaRPr sz="1100"/>
          </a:p>
        </p:txBody>
      </p:sp>
      <p:pic>
        <p:nvPicPr>
          <p:cNvPr id="94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41456abb0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4406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0" name="Text 23">
            <a:extLst xmlns:a="http://schemas.openxmlformats.org/drawingml/2006/main">
              <a:ext uri="{FF2B5EF4-FFF2-40B4-BE49-F238E27FC236}">
                <a16:creationId xmlns:a16="http://schemas.microsoft.com/office/drawing/2014/main" id="{EA4D27D2-42BD-42B3-9E28-DE5CC28C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3492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Biaya bertambah saat trafik atau tim berkembang</a:t>
            </a:r>
            <a:endParaRPr sz="1100"/>
          </a:p>
        </p:txBody>
      </p:sp>
      <p:sp>
        <p:nvSpPr>
          <p:cNvPr id="41" name="Text 24">
            <a:extLst xmlns:a="http://schemas.openxmlformats.org/drawingml/2006/main">
              <a:ext uri="{FF2B5EF4-FFF2-40B4-BE49-F238E27FC236}">
                <a16:creationId xmlns:a16="http://schemas.microsoft.com/office/drawing/2014/main" id="{23370ADD-92A6-4F9A-8E52-D149A181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Rule of thumb: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frontend (static, Next.js, React) pakai PaaS. Untuk backend Docker pakai VPS / managed.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3310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4023D2-943B-4B68-A18F-12B5C780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13728B1-44C0-4263-BC0C-10F9E42E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57BB9C-9FE7-4B0B-9608-6B2083AB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49F7B9A-BF78-47B3-BD81-6173026B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58214C4-30CD-40CF-832F-227BB735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BDA7353-9E92-47F7-90FD-5DAD44C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292F977-F917-4DD2-A2BB-D3E61B22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13475151a4d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3ee2622e4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C0D8DCE-B737-4AA0-8A06-3260A973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904F5ED-B6FE-48E5-B1C1-2CE330CF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Introduction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7552ECE-19BC-4F5F-B1FA-7BECED6B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A5DD9D8-2A9F-4D09-AA4B-EE771243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Platform deploy untuk Next.js + framework modern lainnya.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72149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2CFA0AA-2F81-402B-B37B-EC8719C3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61D7C0-88C7-458C-BA3E-B563FE96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3876CB9-B28D-4AB4-B7E9-B993B8E2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0b1d8d60843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27ee88c5f4c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62441EF-81B0-4CD2-81F9-B50CF327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B6B15F8-AD53-4B6D-9843-732EA365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Apa itu Vercel?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B46190C-04C1-400B-9466-93B81481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Frontend cloud yang bikin Next.js (creator-nya juga Vercel)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FF4808F-8FCA-4831-8EBE-DE34EECE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6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a1d2bd9444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9164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6C14A3F4-A0D2-44A2-BCE6-FC90BD3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55448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Vercel = platform deploy untuk frontend + serverless functions.</a:t>
            </a:r>
            <a:endParaRPr sz="16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8877AA6-D50A-41B8-9485-5133F760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65960"/>
            <a:ext cx="9601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dari Git, jaringan CDN, HTTPS otomatis, dan Functions. Next.js didukung erat, sementara framework lain juga tersedia.</a:t>
            </a:r>
            <a:endParaRPr sz="11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357CB68E-8880-4502-B484-3A152E79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Alternatives - Yang Mirip</a:t>
            </a:r>
            <a:endParaRPr sz="14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E1D83C6A-C1DA-4337-AF49-3A7D968D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269748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C35630C0-B9BC-42DF-8DF7-286B742D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pic>
        <p:nvPicPr>
          <p:cNvPr id="6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a1d2bd9444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4290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588A06CE-2E67-49C4-BFAB-D77C5A1D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612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</a:t>
            </a:r>
            <a:endParaRPr sz="140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24EF34DC-FA7D-43B1-93DE-76F90D7C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0624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ECD3D36F-1B54-483B-8801-6BFCD46E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196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Strength: 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Next.js gold standard</a:t>
            </a:r>
            <a:endParaRPr sz="105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274553E8-ACCB-4F36-885E-43F99921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1208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78032715-CA31-4F58-808A-20419A73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Weakness: 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Pricing scale mahal</a:t>
            </a:r>
            <a:endParaRPr sz="105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86DCC7B3-1720-464F-A0C0-E95A6A45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246120"/>
            <a:ext cx="269748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ECCAA326-F4A2-4F36-B5C9-84B5B042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2461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B7"/>
          </a:solidFill>
          <a:ln xmlns:a="http://schemas.openxmlformats.org/drawingml/2006/main" w="12700">
            <a:solidFill>
              <a:srgbClr val="00C7B7"/>
            </a:solidFill>
            <a:prstDash val="solid"/>
          </a:ln>
        </p:spPr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A4257780-C8AF-4BBC-846F-D830C37C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24612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Netlify</a:t>
            </a:r>
            <a:endParaRPr sz="140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FDFD5E92-662E-487B-B155-4AE9DD58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20624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6A9CE68D-B1B7-4B0F-8BC0-7D4E0D10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25196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Strength: 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Forms + Identity built-in</a:t>
            </a:r>
            <a:endParaRPr sz="105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E7EEB5E8-801E-433D-96E1-E373A93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521208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7F554E4B-B4C7-4ECD-9FA6-699466E2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525780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Weakness: 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Lambat di SSR</a:t>
            </a:r>
            <a:endParaRPr sz="105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D582A687-470D-4F37-A5CC-9697C5BC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246120"/>
            <a:ext cx="269748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13E8209-91AE-471B-8CC4-B79644C7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2461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8020"/>
          </a:solidFill>
          <a:ln xmlns:a="http://schemas.openxmlformats.org/drawingml/2006/main" w="12700">
            <a:solidFill>
              <a:srgbClr val="F38020"/>
            </a:solidFill>
            <a:prstDash val="solid"/>
          </a:ln>
        </p:spPr>
      </p:sp>
      <p:pic>
        <p:nvPicPr>
          <p:cNvPr id="8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8ca5ebf3f4b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4224" y="34290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298CF04-F523-4D8C-AF74-AEC76125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24612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Cloudflare Pages</a:t>
            </a:r>
            <a:endParaRPr sz="1400"/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17D937A0-F1EB-4C1B-954D-01CC4489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20624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2B3887C3-A81B-454C-B1E5-D913A801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25196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Strength: 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Free tier paling generous</a:t>
            </a:r>
            <a:endParaRPr sz="1050"/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A16F59D6-C842-44D6-9DFF-FE7FFC15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21208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A1D5D704-D5EE-4D03-9A4F-156F1677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525780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Weakness: 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Workers DX kurang</a:t>
            </a:r>
            <a:endParaRPr sz="1050"/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C33372FB-6A88-4482-A306-F7572AC6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3246120"/>
            <a:ext cx="269748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93761A9D-1DDC-4487-A7AC-E110FC43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32461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7"/>
          </a:solidFill>
          <a:ln xmlns:a="http://schemas.openxmlformats.org/drawingml/2006/main" w="12700">
            <a:solidFill>
              <a:srgbClr val="181717"/>
            </a:solidFill>
            <a:prstDash val="solid"/>
          </a:ln>
        </p:spPr>
      </p:sp>
      <p:pic>
        <p:nvPicPr>
          <p:cNvPr id="9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d6d8ff4f946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26296" y="34290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5857FDB0-2652-44DC-8613-C4D5D142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324612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 Pages</a:t>
            </a:r>
            <a:endParaRPr sz="1400"/>
          </a:p>
        </p:txBody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8FD5D295-3754-4470-952C-730C02C2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20624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EB54A7A6-98EE-4832-91A2-BDC19D14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425196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Strength: 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Gratis untuk static</a:t>
            </a:r>
            <a:endParaRPr sz="1050"/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E617F1A2-293A-4C5A-AF4B-A2DC9DEF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521208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907F385D-8A85-4BB9-805C-F3A422DD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5780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Weakness: 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Static-only, no SSR</a:t>
            </a:r>
            <a:endParaRPr sz="1050"/>
          </a:p>
        </p:txBody>
      </p:sp>
      <p:sp>
        <p:nvSpPr>
          <p:cNvPr id="46" name="Text 38">
            <a:extLst xmlns:a="http://schemas.openxmlformats.org/drawingml/2006/main">
              <a:ext uri="{FF2B5EF4-FFF2-40B4-BE49-F238E27FC236}">
                <a16:creationId xmlns:a16="http://schemas.microsoft.com/office/drawing/2014/main" id="{63C59109-B484-479B-A840-90885F5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11247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Untuk kuliah: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- karena gabung baik dengan Next.js + Supabase yang sudah kita pakai.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29446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770F92-44C6-442A-9EF9-40E8C451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776ABA-A1F9-4432-B91E-4F47B100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0832F67-21C0-4157-AB12-45B22426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48645102847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4bf57226640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4AC4C73-2953-4182-AC45-B450924B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3AB80B0-A381-4855-9890-572CDE59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Vercel Architecture - Edge + Functions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E2AE0C1-9FF8-49A2-9F37-6C8F1F7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User request -&gt; nearest edge node -&gt; serverless function kalau perlu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15A7B87-9667-452A-B7E4-00A9D28B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08033BD-8064-4D73-996A-605BE7EA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128016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b1e48f5234b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7432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69BACC6-618A-4D88-B5A5-890B5FA9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</a:t>
            </a:r>
            <a:endParaRPr sz="11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B3A975F-4B4F-44E2-8F5C-B8B21231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Jakarta</a:t>
            </a:r>
            <a:endParaRPr sz="9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67F9BEDA-C0D7-4DD7-B1B7-6741116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063240"/>
            <a:ext cx="4572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BF9B3C03-54F9-4365-878C-1E29813C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7889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HTTPS</a:t>
            </a:r>
            <a:endParaRPr sz="8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A463E0EE-2AA8-47D0-9FC1-DC82492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423160"/>
            <a:ext cx="237744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pic>
        <p:nvPicPr>
          <p:cNvPr id="7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7eef9818746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46120" y="25603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50ABB601-0240-4B91-89C0-43C79EF6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6032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Edge Node</a:t>
            </a:r>
            <a:endParaRPr sz="12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2ED01F24-793E-44D9-A6EC-FBACE79B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15468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SIN (Singapore)</a:t>
            </a:r>
            <a:endParaRPr sz="10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6388DD33-DB85-4E16-B31C-D4F2452C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47472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 Static cached</a:t>
            </a:r>
            <a:endParaRPr sz="9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90D8B85F-E36F-4086-BE8E-701960CB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7490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 ukur latensi nyata</a:t>
            </a:r>
            <a:endParaRPr sz="9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BA89AE17-9A8C-4C61-BF70-1164D4DE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063240"/>
            <a:ext cx="4572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9AB9405B-2E6F-4514-8DD4-55BE4BEB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78892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dynamic?</a:t>
            </a:r>
            <a:endParaRPr sz="800"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185410DD-CE49-4561-8BD4-2C12C84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3160"/>
            <a:ext cx="237744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ed9494b254a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640" y="25603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A2FC8AF9-090D-4A07-A058-DD06A51D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56032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Serverless Fn</a:t>
            </a:r>
            <a:endParaRPr sz="12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BA6433-53B0-493E-B075-444DB25A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5468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/api/* routes</a:t>
            </a:r>
            <a:endParaRPr sz="100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55D1778-B6E3-4989-8C31-0D988B05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47472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- Node.js / Edge</a:t>
            </a:r>
            <a:endParaRPr sz="9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1378EE98-1F3C-46FE-BA01-18466338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7490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- cold start bervariasi</a:t>
            </a:r>
            <a:endParaRPr sz="9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2776439E-97D9-4DFD-A555-59415F98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063240"/>
            <a:ext cx="4572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AF725DE0-3207-42E6-BC26-2FF3BCD1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23160"/>
            <a:ext cx="256032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12700">
            <a:solidFill>
              <a:srgbClr val="3ECF8E"/>
            </a:solidFill>
            <a:prstDash val="solid"/>
          </a:ln>
        </p:spPr>
      </p:sp>
      <p:pic>
        <p:nvPicPr>
          <p:cNvPr id="8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70b52f91349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1160" y="25603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ABBDFA78-2026-480F-945F-FC1D6E78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56032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Backend</a:t>
            </a:r>
            <a:endParaRPr sz="12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2A4B15DE-94F2-4672-AEB1-8DDC34D9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15468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Supabase / API</a:t>
            </a:r>
            <a:endParaRPr sz="100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BE06ECB6-90D2-4BC2-8ADF-B7EE16F2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47472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 Postgres + Auth</a:t>
            </a:r>
            <a:endParaRPr sz="9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F98960A0-BA51-4FE7-8153-44BDB5A3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74904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- 1 region</a:t>
            </a:r>
            <a:endParaRPr sz="9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A913CF6E-1B4F-4476-BE8B-02C5BE9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Karakteristik Vercel Network</a:t>
            </a:r>
            <a:endParaRPr sz="1400"/>
          </a:p>
        </p:txBody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7316625E-EB82-47B1-A086-33CE1083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2743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551B9217-733A-4B1E-91C7-06F81B7B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06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global</a:t>
            </a:r>
            <a:endParaRPr sz="1800"/>
          </a:p>
        </p:txBody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E43663AA-5FC4-48CF-8C07-D96BDF9D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Edge locations</a:t>
            </a:r>
            <a:endParaRPr sz="1000"/>
          </a:p>
        </p:txBody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56E2CC9A-89D2-4A57-A099-6B11DEB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349240"/>
            <a:ext cx="2743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13F9FCA1-3637-4FA5-B71F-72D6792C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4406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ukur</a:t>
            </a:r>
            <a:endParaRPr sz="1800"/>
          </a:p>
        </p:txBody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651A6D02-7DCE-4AF0-8EA1-58328342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8521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latensi dari lokasi pengguna</a:t>
            </a:r>
            <a:endParaRPr sz="1000"/>
          </a:p>
        </p:txBody>
      </p:sp>
      <p:sp>
        <p:nvSpPr>
          <p:cNvPr id="45" name="Shape 37">
            <a:extLst xmlns:a="http://schemas.openxmlformats.org/drawingml/2006/main">
              <a:ext uri="{FF2B5EF4-FFF2-40B4-BE49-F238E27FC236}">
                <a16:creationId xmlns:a16="http://schemas.microsoft.com/office/drawing/2014/main" id="{932A3E5C-AD30-4328-88B8-2D653050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349240"/>
            <a:ext cx="2743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Text 38">
            <a:extLst xmlns:a="http://schemas.openxmlformats.org/drawingml/2006/main">
              <a:ext uri="{FF2B5EF4-FFF2-40B4-BE49-F238E27FC236}">
                <a16:creationId xmlns:a16="http://schemas.microsoft.com/office/drawing/2014/main" id="{3B1AFE15-03D6-40DB-BBF9-51CF5BBB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Free</a:t>
            </a:r>
            <a:endParaRPr sz="1800"/>
          </a:p>
        </p:txBody>
      </p:sp>
      <p:sp>
        <p:nvSpPr>
          <p:cNvPr id="47" name="Text 39">
            <a:extLst xmlns:a="http://schemas.openxmlformats.org/drawingml/2006/main">
              <a:ext uri="{FF2B5EF4-FFF2-40B4-BE49-F238E27FC236}">
                <a16:creationId xmlns:a16="http://schemas.microsoft.com/office/drawing/2014/main" id="{9EC02EB7-EE84-4AF7-A2DE-B109C280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8521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SSL + HTTP/3 + CDN</a:t>
            </a:r>
            <a:endParaRPr sz="1000"/>
          </a:p>
        </p:txBody>
      </p:sp>
      <p:sp>
        <p:nvSpPr>
          <p:cNvPr id="48" name="Shape 40">
            <a:extLst xmlns:a="http://schemas.openxmlformats.org/drawingml/2006/main">
              <a:ext uri="{FF2B5EF4-FFF2-40B4-BE49-F238E27FC236}">
                <a16:creationId xmlns:a16="http://schemas.microsoft.com/office/drawing/2014/main" id="{076D53BC-31CC-4FDE-9CE7-22F16DC1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349240"/>
            <a:ext cx="2743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535A264D-D358-4BBB-A28F-154342E6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4406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Auto</a:t>
            </a:r>
            <a:endParaRPr sz="1800"/>
          </a:p>
        </p:txBody>
      </p:sp>
      <p:sp>
        <p:nvSpPr>
          <p:cNvPr id="50" name="Text 42">
            <a:extLst xmlns:a="http://schemas.openxmlformats.org/drawingml/2006/main">
              <a:ext uri="{FF2B5EF4-FFF2-40B4-BE49-F238E27FC236}">
                <a16:creationId xmlns:a16="http://schemas.microsoft.com/office/drawing/2014/main" id="{6617D746-5829-40AE-9251-DCD347C1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8521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skala sesuai paket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39363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877865-29C1-41A3-AA7B-747D19B0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96A82B5-6566-4F4B-B431-775E556F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4FD0E95-F143-44C5-B87D-6AD74558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bd9b62b444c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2abc810fb41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B202617-EF57-4267-89CC-8A0992D1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3C70F92-EDA1-4536-B7F5-4F23A895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Setup Akun + Vercel CLI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BAFE3C4-BB5C-45A1-8DEB-2A61B25E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menit dari signup ke deploy pertama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1423940-65A7-4700-8176-2BD8B249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BBBB1C8-35DF-4D63-B80A-A5693BDD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18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4F311D7-1F02-466F-B3B6-22F1A3B9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1848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d03453bb54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16916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8151FA9C-7C36-4424-B87B-D9BA1D69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50876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Signup di vercel.com</a:t>
            </a:r>
            <a:endParaRPr sz="13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C100CE88-FA2C-4B0C-936A-CA160113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7452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Login dengan GitHub (recommended). Auto-detect repository Anda.</a:t>
            </a:r>
            <a:endParaRPr sz="10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E8A101B5-EAEB-41C7-AEB9-9FFEB375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9BAB49F1-A6C7-4A9B-900D-446AE5C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15739F1F-CFBD-46AA-BF93-8E6C6A48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73c82917f44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2743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40157BC4-C18B-46A3-96C5-F3D408BA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603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Install Vercel CLI</a:t>
            </a:r>
            <a:endParaRPr sz="13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8C053827-EFC1-4669-9877-B97CFCE7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92608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npm install -g vercel. Opsional - bisa deploy 100% lewat dashboard juga.</a:t>
            </a:r>
            <a:endParaRPr sz="105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E87FA824-AABD-45C4-8965-CA429365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1B0A0FEB-90A2-43D7-A6D5-C63830CF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F71D030B-E0CD-499C-9C21-F22EBD8D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db5506b194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37947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26B3C656-AEC3-4CFC-B33A-2E571F58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61188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Login dari Terminal</a:t>
            </a:r>
            <a:endParaRPr sz="13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E02DC615-1BB9-4515-9F9D-C79D2FAC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97764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login - buka browser confirm. Token disimpan ~/.vercel/</a:t>
            </a:r>
            <a:endParaRPr sz="105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34A7B6DE-935C-485B-97E2-A2A9395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EA0CCAB2-3BC2-42A7-BFDA-6EFA22D1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31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473FA243-DB68-4764-8460-0D0789EA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316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27f0ea65b46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48463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1BD41E94-73C3-46B1-8D8F-55C8805F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66344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Deploy Pertama</a:t>
            </a:r>
            <a:endParaRPr sz="13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6BA14D25-967D-4F87-9DBA-0AF61BF6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02920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 project folder: jalankan 'vercel'. Konfirmasi setting, dapat URL preview.</a:t>
            </a:r>
            <a:endParaRPr sz="105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3C292AF5-84F7-4DB1-81C5-1181D351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417320"/>
            <a:ext cx="466344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A8E52E9C-772A-485D-960A-C2780903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417320"/>
            <a:ext cx="46634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9E0DA9B8-5318-49AC-9943-0A0DF251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6B49635B-83C2-4617-8DA2-ADFFF7D8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716321AE-CDFC-4FB1-8ACD-2D082ABD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CDBD3D8D-EB2F-4EDF-A81E-4F7EAD0D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4173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first deploy via CLI</a:t>
            </a:r>
            <a:endParaRPr sz="900"/>
          </a:p>
        </p:txBody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BCA846B6-EFAC-446E-8845-9EBF772D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83080"/>
            <a:ext cx="438912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Install + login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npm i -g vercel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vercel login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&gt;&gt;&gt; Browser opens, confirm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Success! Logged in as budi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Di folder Next.js project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vercel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? Setup and deploy? 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? Project name? my-todo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? Framework? Next.js (detected)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Building... uploading...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Production URL: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https://my-todo.vercel.app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179663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4C073C6-1EEB-4415-809A-EA898F17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0C9E473-B90C-4B34-AC73-442E845C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327F70-453D-4610-8410-22693A9D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A555FD7-C606-41D3-9844-A02AB80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68E611-1F61-4E20-89BC-946A09B0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37ADC0E-4543-4E23-9D7A-7E48D84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164D460-998F-4298-9DF6-60D6AA81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92beb9ff64d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32571ee7546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2FB13FB-9D0B-4EF4-A6EC-1D862A77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B8DBC0F-A750-4468-B625-7107254B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Workflow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C66554E-E8F2-4448-BDA2-8A08B508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D0B7770-0CED-41E2-87C0-EBDDBED5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Git-based deployment: push -&gt; auto build -&gt; live.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78923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BA91086-8C39-480F-BAB6-B5CE23FD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9F9F8F-9676-4778-A045-45796EB0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4123705-4B1D-4FC4-B57F-12C2680E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a2514fb024b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49eba844a4a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1EC2553-CEB1-496E-B59C-15D03B66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538B1BD-0161-4A65-A782-104DAA6B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Git-Based Auto Deploy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22C46FE-E69D-41C8-8C21-BAB6FB39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Pattern paling umum: push ke main = deploy ke production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3710E0F-0508-4430-A2C5-2BA43F9B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5A73DDD-224E-4819-9DD8-75E2BFC3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Workflow ideal: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kali setup connect repo, sisanya developer cuma git push - Vercel handle semuanya.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Tidak perlu SSH ke server, tidak perlu CI/CD config, tidak perlu Dockerfile.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AB0B2A5-3CF6-44F4-A0CA-2125FD2C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Pipeline yang Otomatis Jalan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614A811-D5ED-4BEF-9452-77069583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219456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2C5F0C3-658A-4B0A-BC1E-E5958E4A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4BF91CA-C0E5-4427-BBAB-F6DF57B4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600"/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85cc14fa646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0160" y="36576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7072B6BD-D828-40A1-BCA2-72975759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 push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51DF0D4F-1F06-4E61-AD6F-D5F1064E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2011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Developer push ke main branch</a:t>
            </a:r>
            <a:endParaRPr sz="95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10DEF56F-F378-4054-8D4E-D4A878B8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3977640"/>
            <a:ext cx="118872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406347EB-9158-4E40-A021-EA0D310E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063240"/>
            <a:ext cx="219456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BEF9CC06-C544-45C0-99B9-E4F73E4A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06324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3DA7E74F-1BC3-4DBA-BB48-FE0DA73B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0632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600"/>
          </a:p>
        </p:txBody>
      </p:sp>
      <p:pic>
        <p:nvPicPr>
          <p:cNvPr id="7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57f9324ae4f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1880" y="36576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FAD47159-96A8-40A5-8EBD-C815E899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2976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Webhook</a:t>
            </a:r>
            <a:endParaRPr sz="13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CDFF7D72-0117-4DFB-92CD-48E4A67F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617720"/>
            <a:ext cx="2011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GitHub trigger Vercel webhook</a:t>
            </a:r>
            <a:endParaRPr sz="95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3A4B4B69-D7F1-4D95-914A-8F94F387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3977640"/>
            <a:ext cx="118872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9DEC9C6F-BE50-4D74-AEB4-CD21A4EE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063240"/>
            <a:ext cx="219456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A35257FE-ED63-41C6-8390-1F86971C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06324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C0C03C72-96B9-4962-82DD-FAAD6C70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0632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600"/>
          </a:p>
        </p:txBody>
      </p:sp>
      <p:pic>
        <p:nvPicPr>
          <p:cNvPr id="8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b38ae59a645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36576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35B18950-F1C6-4012-ABFA-F96F3FA9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2976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Build</a:t>
            </a:r>
            <a:endParaRPr sz="1300"/>
          </a:p>
        </p:txBody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5890A7CB-DA93-4219-8ADA-CA8F55C4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617720"/>
            <a:ext cx="2011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Install deps, run build command</a:t>
            </a:r>
            <a:endParaRPr sz="950"/>
          </a:p>
        </p:txBody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2949C1FD-75E9-410D-BDA9-D7EBE02E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3977640"/>
            <a:ext cx="118872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57D08A73-515A-41E9-9A2D-67689847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63240"/>
            <a:ext cx="219456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F397CFBD-1245-4FF9-8C91-2FCDD959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6324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F5ED4001-99AA-4FCC-9E95-831882C3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632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600"/>
          </a:p>
        </p:txBody>
      </p:sp>
      <p:pic>
        <p:nvPicPr>
          <p:cNvPr id="9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4dc9c38d245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6576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74B644EA-69D6-4919-B11B-CF1DD813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976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Deploy</a:t>
            </a:r>
            <a:endParaRPr sz="1300"/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A4BBA862-E76A-489D-8772-84C427A5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17720"/>
            <a:ext cx="2011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Upload artifacts ke edge nodes</a:t>
            </a:r>
            <a:endParaRPr sz="950"/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261DAEBF-469A-4182-934D-D5303586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3977640"/>
            <a:ext cx="118872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5B59B04F-6C74-456E-A861-75669A46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063240"/>
            <a:ext cx="219456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55529AC2-B1B6-4F40-A815-4070921B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06324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6D29C4E4-F25A-42E7-934A-F429E434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0632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600"/>
          </a:p>
        </p:txBody>
      </p:sp>
      <p:pic>
        <p:nvPicPr>
          <p:cNvPr id="9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49512e4b349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7040" y="36576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74AA7AB3-C77E-4616-B93F-67F2566B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2976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Live!</a:t>
            </a:r>
            <a:endParaRPr sz="1300"/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5800FC38-C42A-4D53-8B82-F090D26A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617720"/>
            <a:ext cx="2011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DNS + cache invalidate, ready</a:t>
            </a:r>
            <a:endParaRPr sz="950"/>
          </a:p>
        </p:txBody>
      </p:sp>
      <p:sp>
        <p:nvSpPr>
          <p:cNvPr id="47" name="Text 38">
            <a:extLst xmlns:a="http://schemas.openxmlformats.org/drawingml/2006/main">
              <a:ext uri="{FF2B5EF4-FFF2-40B4-BE49-F238E27FC236}">
                <a16:creationId xmlns:a16="http://schemas.microsoft.com/office/drawing/2014/main" id="{094817C6-F9F4-440E-9929-54D82C88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7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Waktu build dan deploy bergantung ukuran proyek, dependensi, dan antrean platform.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347266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717DBB9-7635-4220-9462-A9E14F6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B29AB2-BDCD-4896-AF50-F30874AA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B1B4B27-22A9-436C-8440-2518D21E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9dfd6b7934d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ccfa4ba7c49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1DD8848-BFDA-4D41-A897-BD854CC4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2D403BA-60EC-46D7-AF27-8AC05974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Environment Variables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D4CBB45-F2A8-4AB5-8B0F-01B18F10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Secret + config per environment - dev, preview, production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E4A8913-55F6-4015-B9BA-EE11FE3D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FFA6E24-4E2E-48CC-AD90-180F769B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3 environment Vercel: </a:t>
            </a: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 (main branch), Preview (PR branch), Development (local).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Set env var berbeda per environment. Misal: production pakai Supabase prod, preview pakai staging DB.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40A51A1-AAA9-4106-BCDC-7FC456BE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51B6819-76AA-4B23-B102-3ECEDDB3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57618A4-134F-4C3E-B118-C4BC443D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0FFC1449-C06F-44E5-B6AE-43734E64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C59E4856-8CE9-4BAA-A5D3-AB797E5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EB341301-03D0-4231-A49D-18E2B066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Set lewat dashboard atau CLI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E292FFD-2589-4CDD-9F31-E7039A9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3035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200"/>
              </ns0:spcAft>
              <ns0:buNone/>
            </ns0:pPr>
            <ns0:r>
              <ns0:rPr sz="1100">
                <ns0:solidFill>
                  <ns0:srgbClr val="F8FAFC"/>
                </ns0:solidFill>
                <ns0:latin typeface="Consolas"/>
                <ns0:ea typeface="Consolas"/>
                <ns0:cs typeface="Consolas"/>
              </ns0:rPr>
              <ns0:t># Isi nama yang sama dengan source Lab 08.</ns0:t>
            </ns0:r>
            <ns0:endParaRPr sz="1100"/>
          </ns0:p>
          <ns1:p xmlns:ns1="http://schemas.openxmlformats.org/drawingml/2006/main">
            <ns1:pPr marL="0" indent="0">
              <ns1:spcAft>
                <ns1:spcPts val="200"/>
              </ns1:spcAft>
              <ns1:buNone/>
            </ns1:pPr>
            <ns1:r>
              <ns1:rPr sz="1100">
                <ns1:solidFill>
                  <ns1:srgbClr val="F8FAFC"/>
                </ns1:solidFill>
                <ns1:latin typeface="Consolas"/>
                <ns1:ea typeface="Consolas"/>
                <ns1:cs typeface="Consolas"/>
              </ns1:rPr>
              <ns1:t># Dashboard Project Settings &gt; Environment Variables:</ns1:t>
            </ns1:r>
            <ns1:endParaRPr sz="1100"/>
          </ns1:p>
          <ns2:p xmlns:ns2="http://schemas.openxmlformats.org/drawingml/2006/main">
            <ns2:pPr marL="0" indent="0">
              <ns2:spcAft>
                <ns2:spcPts val="200"/>
              </ns2:spcAft>
              <ns2:buNone/>
            </ns2:pPr>
            <ns2:r>
              <ns2:rPr sz="1100">
                <ns2:solidFill>
                  <ns2:srgbClr val="F8FAFC"/>
                </ns2:solidFill>
                <ns2:latin typeface="Consolas"/>
                <ns2:ea typeface="Consolas"/>
                <ns2:cs typeface="Consolas"/>
              </ns2:rPr>
              <ns2:t>NEXT_PUBLIC_SUPABASE_URL</ns2:t>
            </ns2:r>
            <ns2:endParaRPr sz="1100"/>
          </ns2:p>
          <ns3:p xmlns:ns3="http://schemas.openxmlformats.org/drawingml/2006/main">
            <ns3:pPr marL="0" indent="0">
              <ns3:spcAft>
                <ns3:spcPts val="200"/>
              </ns3:spcAft>
              <ns3:buNone/>
            </ns3:pPr>
            <ns3:r>
              <ns3:rPr sz="1100">
                <ns3:solidFill>
                  <ns3:srgbClr val="F8FAFC"/>
                </ns3:solidFill>
                <ns3:latin typeface="Consolas"/>
                <ns3:ea typeface="Consolas"/>
                <ns3:cs typeface="Consolas"/>
              </ns3:rPr>
              <ns3:t>NEXT_PUBLIC_SUPABASE_PUBLISHABLE_KEY</ns3:t>
            </ns3:r>
            <ns3:endParaRPr sz="1100"/>
          </ns3:p>
          <ns4:p xmlns:ns4="http://schemas.openxmlformats.org/drawingml/2006/main">
            <ns4:pPr marL="0" indent="0">
              <ns4:spcAft>
                <ns4:spcPts val="200"/>
              </ns4:spcAft>
              <ns4:buNone/>
            </ns4:pPr>
            <ns4:r>
              <ns4:rPr sz="1100">
                <ns4:solidFill>
                  <ns4:srgbClr val="F8FAFC"/>
                </ns4:solidFill>
                <ns4:latin typeface="Consolas"/>
                <ns4:ea typeface="Consolas"/>
                <ns4:cs typeface="Consolas"/>
              </ns4:rPr>
              <ns4:t/>
            </ns4:r>
            <ns4:endParaRPr sz="1100"/>
          </ns4:p>
          <ns5:p xmlns:ns5="http://schemas.openxmlformats.org/drawingml/2006/main">
            <ns5:pPr marL="0" indent="0">
              <ns5:spcAft>
                <ns5:spcPts val="200"/>
              </ns5:spcAft>
              <ns5:buNone/>
            </ns5:pPr>
            <ns5:r>
              <ns5:rPr sz="1100">
                <ns5:solidFill>
                  <ns5:srgbClr val="F8FAFC"/>
                </ns5:solidFill>
                <ns5:latin typeface="Consolas"/>
                <ns5:ea typeface="Consolas"/>
                <ns5:cs typeface="Consolas"/>
              </ns5:rPr>
              <ns5:t># Terapkan pada Production dan Preview yang dipakai.</ns5:t>
            </ns5:r>
            <ns5:endParaRPr sz="1100"/>
          </ns5:p>
          <ns6:p xmlns:ns6="http://schemas.openxmlformats.org/drawingml/2006/main">
            <ns6:pPr marL="0" indent="0">
              <ns6:spcAft>
                <ns6:spcPts val="200"/>
              </ns6:spcAft>
              <ns6:buNone/>
            </ns6:pPr>
            <ns6:r>
              <ns6:rPr sz="1100">
                <ns6:solidFill>
                  <ns6:srgbClr val="F8FAFC"/>
                </ns6:solidFill>
                <ns6:latin typeface="Consolas"/>
                <ns6:ea typeface="Consolas"/>
                <ns6:cs typeface="Consolas"/>
              </ns6:rPr>
              <ns6:t># Konfigurasi lokal berada di .env.local.</ns6:t>
            </ns6:r>
            <ns6:endParaRPr sz="1100"/>
          </ns6:p>
          <ns7:p xmlns:ns7="http://schemas.openxmlformats.org/drawingml/2006/main">
            <ns7:pPr marL="0" indent="0">
              <ns7:spcAft>
                <ns7:spcPts val="200"/>
              </ns7:spcAft>
              <ns7:buNone/>
            </ns7:pPr>
            <ns7:r>
              <ns7:rPr sz="1100">
                <ns7:solidFill>
                  <ns7:srgbClr val="F8FAFC"/>
                </ns7:solidFill>
                <ns7:latin typeface="Consolas"/>
                <ns7:ea typeface="Consolas"/>
                <ns7:cs typeface="Consolas"/>
              </ns7:rPr>
              <ns7:t># Restart dev atau redeploy setelah perubahan.</ns7:t>
            </ns7:r>
            <ns7:endParaRPr sz="1100"/>
          </ns7:p>
          <ns8:p xmlns:ns8="http://schemas.openxmlformats.org/drawingml/2006/main">
            <ns8:pPr marL="0" indent="0">
              <ns8:spcAft>
                <ns8:spcPts val="200"/>
              </ns8:spcAft>
              <ns8:buNone/>
            </ns8:pPr>
            <ns8:r>
              <ns8:rPr sz="1100">
                <ns8:solidFill>
                  <ns8:srgbClr val="F8FAFC"/>
                </ns8:solidFill>
                <ns8:latin typeface="Consolas"/>
                <ns8:ea typeface="Consolas"/>
                <ns8:cs typeface="Consolas"/>
              </ns8:rPr>
              <ns8:t># LOCAL_API_URL hanya untuk server lokal.</ns8:t>
            </ns8:r>
            <ns8:endParaRPr sz="1100"/>
          </ns8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EC40FE0-ED39-45B8-8C87-A5E023BA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B2C75F6-D05E-41B4-B7DE-841AD88D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D795789C-5F17-4524-8CD9-D16749C4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041CFBB-B12A-47F0-A444-96B361F5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B9C384A0-E3A6-4717-AFFB-BD929DA9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FB4E9EA-C929-4CBB-AAC2-8AF8E72C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46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akses env di Next.js code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64B46C9-65E4-4AAA-9C21-FC4B90C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2120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200"/>
              </ns0:spcAft>
              <ns0:buNone/>
            </ns0:pPr>
            <ns0:r>
              <ns0:rPr sz="1100">
                <ns0:solidFill>
                  <ns0:srgbClr val="F8FAFC"/>
                </ns0:solidFill>
                <ns0:latin typeface="Consolas"/>
                <ns0:ea typeface="Consolas"/>
                <ns0:cs typeface="Consolas"/>
              </ns0:rPr>
              <ns0:t>// src/lib/supabase.ts pada Lab 08</ns0:t>
            </ns0:r>
            <ns0:endParaRPr sz="1100"/>
          </ns0:p>
          <ns1:p xmlns:ns1="http://schemas.openxmlformats.org/drawingml/2006/main">
            <ns1:pPr marL="0" indent="0">
              <ns1:spcAft>
                <ns1:spcPts val="200"/>
              </ns1:spcAft>
              <ns1:buNone/>
            </ns1:pPr>
            <ns1:r>
              <ns1:rPr sz="1100">
                <ns1:solidFill>
                  <ns1:srgbClr val="F8FAFC"/>
                </ns1:solidFill>
                <ns1:latin typeface="Consolas"/>
                <ns1:ea typeface="Consolas"/>
                <ns1:cs typeface="Consolas"/>
              </ns1:rPr>
              <ns1:t>const url = process.env</ns1:t>
            </ns1:r>
            <ns1:endParaRPr sz="1100"/>
          </ns1:p>
          <ns2:p xmlns:ns2="http://schemas.openxmlformats.org/drawingml/2006/main">
            <ns2:pPr marL="0" indent="0">
              <ns2:spcAft>
                <ns2:spcPts val="200"/>
              </ns2:spcAft>
              <ns2:buNone/>
            </ns2:pPr>
            <ns2:r>
              <ns2:rPr sz="1100">
                <ns2:solidFill>
                  <ns2:srgbClr val="F8FAFC"/>
                </ns2:solidFill>
                <ns2:latin typeface="Consolas"/>
                <ns2:ea typeface="Consolas"/>
                <ns2:cs typeface="Consolas"/>
              </ns2:rPr>
              <ns2:t>  .NEXT_PUBLIC_SUPABASE_URL</ns2:t>
            </ns2:r>
            <ns2:endParaRPr sz="1100"/>
          </ns2:p>
          <ns3:p xmlns:ns3="http://schemas.openxmlformats.org/drawingml/2006/main">
            <ns3:pPr marL="0" indent="0">
              <ns3:spcAft>
                <ns3:spcPts val="200"/>
              </ns3:spcAft>
              <ns3:buNone/>
            </ns3:pPr>
            <ns3:r>
              <ns3:rPr sz="1100">
                <ns3:solidFill>
                  <ns3:srgbClr val="F8FAFC"/>
                </ns3:solidFill>
                <ns3:latin typeface="Consolas"/>
                <ns3:ea typeface="Consolas"/>
                <ns3:cs typeface="Consolas"/>
              </ns3:rPr>
              <ns3:t>const key = process.env</ns3:t>
            </ns3:r>
            <ns3:endParaRPr sz="1100"/>
          </ns3:p>
          <ns4:p xmlns:ns4="http://schemas.openxmlformats.org/drawingml/2006/main">
            <ns4:pPr marL="0" indent="0">
              <ns4:spcAft>
                <ns4:spcPts val="200"/>
              </ns4:spcAft>
              <ns4:buNone/>
            </ns4:pPr>
            <ns4:r>
              <ns4:rPr sz="1100">
                <ns4:solidFill>
                  <ns4:srgbClr val="F8FAFC"/>
                </ns4:solidFill>
                <ns4:latin typeface="Consolas"/>
                <ns4:ea typeface="Consolas"/>
                <ns4:cs typeface="Consolas"/>
              </ns4:rPr>
              <ns4:t>  .NEXT_PUBLIC_SUPABASE_PUBLISHABLE_KEY</ns4:t>
            </ns4:r>
            <ns4:endParaRPr sz="1100"/>
          </ns4:p>
          <ns5:p xmlns:ns5="http://schemas.openxmlformats.org/drawingml/2006/main">
            <ns5:pPr marL="0" indent="0">
              <ns5:spcAft>
                <ns5:spcPts val="200"/>
              </ns5:spcAft>
              <ns5:buNone/>
            </ns5:pPr>
            <ns5:r>
              <ns5:rPr sz="1100">
                <ns5:solidFill>
                  <ns5:srgbClr val="F8FAFC"/>
                </ns5:solidFill>
                <ns5:latin typeface="Consolas"/>
                <ns5:ea typeface="Consolas"/>
                <ns5:cs typeface="Consolas"/>
              </ns5:rPr>
              <ns5:t/>
            </ns5:r>
            <ns5:endParaRPr sz="1100"/>
          </ns5:p>
          <ns6:p xmlns:ns6="http://schemas.openxmlformats.org/drawingml/2006/main">
            <ns6:pPr marL="0" indent="0">
              <ns6:spcAft>
                <ns6:spcPts val="200"/>
              </ns6:spcAft>
              <ns6:buNone/>
            </ns6:pPr>
            <ns6:r>
              <ns6:rPr sz="1100">
                <ns6:solidFill>
                  <ns6:srgbClr val="F8FAFC"/>
                </ns6:solidFill>
                <ns6:latin typeface="Consolas"/>
                <ns6:ea typeface="Consolas"/>
                <ns6:cs typeface="Consolas"/>
              </ns6:rPr>
              <ns6:t>// Kedua nilai masuk bundle browser.</ns6:t>
            </ns6:r>
            <ns6:endParaRPr sz="1100"/>
          </ns6:p>
          <ns7:p xmlns:ns7="http://schemas.openxmlformats.org/drawingml/2006/main">
            <ns7:pPr marL="0" indent="0">
              <ns7:spcAft>
                <ns7:spcPts val="200"/>
              </ns7:spcAft>
              <ns7:buNone/>
            </ns7:pPr>
            <ns7:r>
              <ns7:rPr sz="1100">
                <ns7:solidFill>
                  <ns7:srgbClr val="F8FAFC"/>
                </ns7:solidFill>
                <ns7:latin typeface="Consolas"/>
                <ns7:ea typeface="Consolas"/>
                <ns7:cs typeface="Consolas"/>
              </ns7:rPr>
              <ns7:t>// Publishable key dipakai bersama Auth + RLS.</ns7:t>
            </ns7:r>
            <ns7:endParaRPr sz="1100"/>
          </ns7:p>
          <ns8:p xmlns:ns8="http://schemas.openxmlformats.org/drawingml/2006/main">
            <ns8:pPr marL="0" indent="0">
              <ns8:spcAft>
                <ns8:spcPts val="200"/>
              </ns8:spcAft>
              <ns8:buNone/>
            </ns8:pPr>
            <ns8:r>
              <ns8:rPr sz="1100">
                <ns8:solidFill>
                  <ns8:srgbClr val="F8FAFC"/>
                </ns8:solidFill>
                <ns8:latin typeface="Consolas"/>
                <ns8:ea typeface="Consolas"/>
                <ns8:cs typeface="Consolas"/>
              </ns8:rPr>
              <ns8:t>// Secret/service role tidak boleh NEXT_PUBLIC_.</ns8:t>
            </ns8:r>
            <ns8:endParaRPr sz="1100"/>
          </ns8:p>
          <ns9:p xmlns:ns9="http://schemas.openxmlformats.org/drawingml/2006/main">
            <ns9:pPr marL="0" indent="0">
              <ns9:spcAft>
                <ns9:spcPts val="200"/>
              </ns9:spcAft>
              <ns9:buNone/>
            </ns9:pPr>
            <ns9:r>
              <ns9:rPr sz="1100">
                <ns9:solidFill>
                  <ns9:srgbClr val="F8FAFC"/>
                </ns9:solidFill>
                <ns9:latin typeface="Consolas"/>
                <ns9:ea typeface="Consolas"/>
                <ns9:cs typeface="Consolas"/>
              </ns9:rPr>
              <ns9:t/>
            </ns9:r>
            <ns9:endParaRPr sz="1100"/>
          </ns9:p>
          <ns10:p xmlns:ns10="http://schemas.openxmlformats.org/drawingml/2006/main">
            <ns10:pPr marL="0" indent="0">
              <ns10:spcAft>
                <ns10:spcPts val="200"/>
              </ns10:spcAft>
              <ns10:buNone/>
            </ns10:pPr>
            <ns10:r>
              <ns10:rPr sz="1100">
                <ns10:solidFill>
                  <ns10:srgbClr val="F8FAFC"/>
                </ns10:solidFill>
                <ns10:latin typeface="Consolas"/>
                <ns10:ea typeface="Consolas"/>
                <ns10:cs typeface="Consolas"/>
              </ns10:rPr>
              <ns10:t>// Route Handler lokal saja:</ns10:t>
            </ns10:r>
            <ns10:endParaRPr sz="1100"/>
          </ns10:p>
          <ns11:p xmlns:ns11="http://schemas.openxmlformats.org/drawingml/2006/main">
            <ns11:pPr marL="0" indent="0">
              <ns11:spcAft>
                <ns11:spcPts val="200"/>
              </ns11:spcAft>
              <ns11:buNone/>
            </ns11:pPr>
            <ns11:r>
              <ns11:rPr sz="1100">
                <ns11:solidFill>
                  <ns11:srgbClr val="F8FAFC"/>
                </ns11:solidFill>
                <ns11:latin typeface="Consolas"/>
                <ns11:ea typeface="Consolas"/>
                <ns11:cs typeface="Consolas"/>
              </ns11:rPr>
              <ns11:t>const api = process.env.LOCAL_API_URL</ns11:t>
            </ns11:r>
            <ns11:endParaRPr sz="1100"/>
          </ns11:p>
        </p:txBody>
      </p:sp>
    </p:spTree>
    <p:extLst>
      <p:ext uri="{BB962C8B-B14F-4D97-AF65-F5344CB8AC3E}">
        <p14:creationId xmlns:p14="http://schemas.microsoft.com/office/powerpoint/2010/main" val="18004663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0616D5E-03FC-4480-84B7-543DE947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144CFB-21DE-47CE-A204-9353BA59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E1EB775-026F-45CB-B010-E04574EF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c6ecd6d7443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a89559cc84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1E82076-7D15-44C4-BBBF-28626EB9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2B3D3C1-28C1-40FF-B11A-C8920207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Preview Deployments - Per PR / Branch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4969412-5EF7-489F-B89E-BF739AAC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Tiap pull request dapat URL unik - QA + designer bisa review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AD233A4-B70A-4069-85B1-4BFFCFED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4984644-F966-4FAA-B731-7B6B0A7F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Magic feature: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tiap branch / PR otomatis di-deploy ke URL terpisah (my-todo-git-feature-abc.vercel.app).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Stakeholder bisa lihat fitur sebelum merge. Bisa comment + approve di dashboard.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25883C9-5AB2-46AB-9ADF-1A0510D1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72F3A9A-7F2D-4E80-95ED-6AEF836C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Setiap Branch = 1 Deployment URL</a:t>
            </a:r>
            <a:endParaRPr sz="13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0EBA8A2D-2DD3-4B08-B82C-918A63BD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15544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7E87C3B-D086-403C-9177-B6394313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main</a:t>
            </a:r>
            <a:endParaRPr sz="10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B452295-8C61-4310-857F-F1271CC2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1752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Production</a:t>
            </a:r>
            <a:endParaRPr sz="105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49FCEAD-737C-40A3-B5F8-09B83BD1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0175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my-todo.vercel.app</a:t>
            </a:r>
            <a:endParaRPr sz="10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7A253A0-7DB3-4AF4-8455-DAEF5929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0175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Live ke user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3532817-94B7-4258-B02F-5530C36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15544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C15C669-DD79-47BA-ADCD-AA4B451E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staging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C82F43F-5649-49AF-9DE8-288A7C5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472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Preview</a:t>
            </a:r>
            <a:endParaRPr sz="105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4AA7D2AB-9A5E-4B05-A8FB-BA116571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747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my-todo-git-staging-budi.vercel.app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E8A4A43-7247-4F68-B85F-C6476367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4747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QA testing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F6C69B99-37F6-4A6F-AFFD-CDE47CFF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5544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5EA90C7-1959-479F-AD83-8D06121C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feature/auth-fix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1A41101-A4F9-4D3D-A7FF-187E43C2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3192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Preview</a:t>
            </a:r>
            <a:endParaRPr sz="105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6B29538B-4342-4EB6-A462-261C72E8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9319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my-todo-git-feature-auth-fix-budi.vercel.app</a:t>
            </a:r>
            <a:endParaRPr sz="10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36FBF0E2-74C0-4D5C-9B0A-C9765C2B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9319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 review</a:t>
            </a:r>
            <a:endParaRPr sz="10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7EBC5B24-BC0F-4322-86E2-5C2949C0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15544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3F2C0C2D-5404-4C04-85F7-522A7CE3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8912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feature/dark-mode</a:t>
            </a:r>
            <a:endParaRPr sz="10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A7433AB-5AE8-41C1-88FF-4F13EFBE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912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Preview</a:t>
            </a:r>
            <a:endParaRPr sz="105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1A1E1ABE-06D5-4B54-BC4D-5A2613FE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3891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my-todo-git-feature-dark-mode-budi.vercel.app</a:t>
            </a:r>
            <a:endParaRPr sz="10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BD567CC4-C64C-4666-A67F-DAB82EC1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3891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Designer check</a:t>
            </a:r>
            <a:endParaRPr sz="10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97D857AD-1969-4C2D-A650-854E904E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Manfaat Preview Deploy</a:t>
            </a:r>
            <a:endParaRPr sz="1300"/>
          </a:p>
        </p:txBody>
      </p:sp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4488c5870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57150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27AD80D2-3C25-4F03-A407-E65839B8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6928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Reviewer bisa klik link dari PR - tidak perlu checkout local</a:t>
            </a:r>
            <a:endParaRPr sz="1050"/>
          </a:p>
        </p:txBody>
      </p:sp>
      <p:pic>
        <p:nvPicPr>
          <p:cNvPr id="8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4488c5870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9360" y="57150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A7125971-CD4B-414F-866B-E27C922A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66928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Designer / PM bisa lihat fitur tanpa setup dev environment</a:t>
            </a:r>
            <a:endParaRPr sz="1050"/>
          </a:p>
        </p:txBody>
      </p:sp>
      <p:pic>
        <p:nvPicPr>
          <p:cNvPr id="8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4488c5870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60807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C97CCF08-3E9F-4C06-A847-D4B4BED3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3504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Stakeholder approve sebelum merge - shift-left QA</a:t>
            </a:r>
            <a:endParaRPr sz="1050"/>
          </a:p>
        </p:txBody>
      </p:sp>
      <p:pic>
        <p:nvPicPr>
          <p:cNvPr id="8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4488c5870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9360" y="60807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E4F1DF51-862C-4836-AA21-B90CDDD2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Multiple branch jalan paralel - tidak rebut single staging server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1070246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0EE1E02-2E8C-4A2E-8FC9-634CF78E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61C317B-6CE3-4931-8F43-4D30C268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3A22382-97E1-4E1B-B92A-7AA94F50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DA07521-36D5-4AC9-AB3D-407FEA5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4F934EF-0419-42B9-B1F1-FAC503A1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80D29B-7931-4EFA-9E47-CD02B4D6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641E7E4-64C8-4206-9F46-91C3ED7E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ee7f745e746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5811edd714d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81E22F9-FD01-4623-974C-DE2CC758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5D4B262-7286-45EB-9A01-182A7EBD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Framework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Build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6FC3949-1A06-4811-959D-A7B63B30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BB462EC-9C5F-4CE5-B901-37D79E07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Next.js zero-config + framework lain. Pengaturan build optimal.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164812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FBB0F0-7E24-4C36-9EBF-74EF7DFB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EE4BD8-86DD-4212-86B5-72FA1DE7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796568-EE84-4E0F-A124-46B5E3A2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5c6f3220749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c363a078c48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C395182-33DE-41F9-82C2-3408F1B2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7F898FD-02E7-40C1-89CE-F6102E31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Next.js - First-Class Citizen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FA9BCD-B837-4E50-8EA6-9178D88A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Vercel creator-nya - integrasi paling tight + zero config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FB5AC8D-136C-48B3-B8BF-6C21A8D7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562b6990d41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002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E0B9EB80-1118-4BD1-8945-7AB80306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50876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Vercel detect Next.js dari package.json -&gt; auto setup semuanya.</a:t>
            </a:r>
            <a:endParaRPr sz="14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19B838F-1F31-43C0-986E-3F08DC95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6596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command, output directory, env, routing, image optimization - semua plug-and-play tanpa config tambahan.</a:t>
            </a:r>
            <a:endParaRPr sz="11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4FA813E-03B1-44D2-A036-358D9229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Fitur Next.js + Vercel yang Auto-Aktif</a:t>
            </a:r>
            <a:endParaRPr sz="14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B4D7411B-E898-4C10-AB9D-D10048A4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37033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89c06ed6448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24612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B34DAB57-0D00-4C67-B26D-44E6ABDC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0040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ISR (Incremental Static Regen)</a:t>
            </a:r>
            <a:endParaRPr sz="12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BADED92E-DD45-4E03-B61D-16FE7922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Static + revalidate berkala. Combine speed + fresh data.</a:t>
            </a:r>
            <a:endParaRPr sz="105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2C7226A5-EB71-42A8-ACDA-710674C7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108960"/>
            <a:ext cx="37033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6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15c2ba4c64c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24612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20B2CFF9-6DA6-4187-9B9D-ABC62977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Edge Runtime</a:t>
            </a:r>
            <a:endParaRPr sz="120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97750CA5-7546-4098-A2D0-799B3C90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0332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ns0:p xmlns:ns0="http://schemas.openxmlformats.org/drawingml/2006/main">
            <ns0:pPr marL="0" indent="0">
              <ns0:buNone/>
            </ns0:pPr>
            <ns0:r>
              <ns0:rPr sz="1050">
                <ns0:solidFill>
                  <ns0:srgbClr val="1E293B"/>
                </ns0:solidFill>
                <ns0:latin typeface="Calibri"/>
                <ns0:ea typeface="Calibri"/>
                <ns0:cs typeface="Calibri"/>
              </ns0:rPr>
              <ns0:t>Runtime opsional dengan subset Web API; periksa kompatibilitas paket.</ns0:t>
            </ns0:r>
            <ns0:endParaRPr sz="1050"/>
          </ns0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0E09EF75-4775-44FF-A7EA-6E73A30E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108960"/>
            <a:ext cx="37033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7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531522c424c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24612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2B56EEC6-50F7-49FA-B353-58A021DB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0040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Server Components (RSC)</a:t>
            </a:r>
            <a:endParaRPr sz="1200"/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EA700217-A55D-4BEB-BE27-4CC73B08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70332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Render di server, kirim minimal JS ke client. Bundle kecil.</a:t>
            </a:r>
            <a:endParaRPr sz="1050"/>
          </a:p>
        </p:txBody>
      </p:sp>
      <p:sp>
        <p:nvSpPr>
          <p:cNvPr id="27" name="Shape 19">
            <a:extLst xmlns:a="http://schemas.openxmlformats.org/drawingml/2006/main">
              <a:ext uri="{FF2B5EF4-FFF2-40B4-BE49-F238E27FC236}">
                <a16:creationId xmlns:a16="http://schemas.microsoft.com/office/drawing/2014/main" id="{D49B4049-C6A9-45EB-97E4-D5D1C09F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37033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7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402ec1d2348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484632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B88B654D-8C75-4A43-B1E7-B2CC27CC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0060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Streaming SSR</a:t>
            </a:r>
            <a:endParaRPr sz="1200"/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748A872B-7DEE-4B22-925D-C0CC735B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Stream HTML chunk per chunk - TTFB cepat untuk page besar.</a:t>
            </a:r>
            <a:endParaRPr sz="1050"/>
          </a:p>
        </p:txBody>
      </p:sp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E684FE26-923D-40D9-B344-0A99D16E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709160"/>
            <a:ext cx="37033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7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43e07636040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484632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447572F0-706F-4368-B3BC-C55354D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80060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Image Optimization</a:t>
            </a:r>
            <a:endParaRPr sz="1200"/>
          </a:p>
        </p:txBody>
      </p:sp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6D9C4381-4CB4-4DFC-A7AF-CA083E88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ns0:p xmlns:ns0="http://schemas.openxmlformats.org/drawingml/2006/main">
            <ns0:pPr marL="0" indent="0">
              <ns0:buNone/>
            </ns0:pPr>
            <ns0:r>
              <ns0:rPr sz="1050">
                <ns0:solidFill>
                  <ns0:srgbClr val="1E293B"/>
                </ns0:solidFill>
                <ns0:latin typeface="Calibri"/>
                <ns0:ea typeface="Calibri"/>
                <ns0:cs typeface="Calibri"/>
              </ns0:rPr>
              <ns0:t>next/image mendukung resize dan format sesuai konfigurasi.</ns0:t>
            </ns0:r>
            <ns0:endParaRPr sz="1050"/>
          </ns0:p>
        </p:txBody>
      </p:sp>
      <p:sp>
        <p:nvSpPr>
          <p:cNvPr id="35" name="Shape 25">
            <a:extLst xmlns:a="http://schemas.openxmlformats.org/drawingml/2006/main">
              <a:ext uri="{FF2B5EF4-FFF2-40B4-BE49-F238E27FC236}">
                <a16:creationId xmlns:a16="http://schemas.microsoft.com/office/drawing/2014/main" id="{CA85BBA8-F325-4CF0-8E93-6E4DA490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709160"/>
            <a:ext cx="37033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ec4de8ed6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484632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7" name="Text 26">
            <a:extLst xmlns:a="http://schemas.openxmlformats.org/drawingml/2006/main">
              <a:ext uri="{FF2B5EF4-FFF2-40B4-BE49-F238E27FC236}">
                <a16:creationId xmlns:a16="http://schemas.microsoft.com/office/drawing/2014/main" id="{ECD18958-5888-4019-93CD-56E74FBD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0060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Route Handlers</a:t>
            </a:r>
            <a:endParaRPr sz="1200"/>
          </a:p>
        </p:txBody>
      </p:sp>
      <p:sp>
        <p:nvSpPr>
          <p:cNvPr id="38" name="Text 27">
            <a:extLst xmlns:a="http://schemas.openxmlformats.org/drawingml/2006/main">
              <a:ext uri="{FF2B5EF4-FFF2-40B4-BE49-F238E27FC236}">
                <a16:creationId xmlns:a16="http://schemas.microsoft.com/office/drawing/2014/main" id="{4E41AED4-A310-4821-AB81-761B3447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api/route.ts = API endpoint, otomatis jadi serverless function.</a:t>
            </a:r>
            <a:endParaRPr sz="1050"/>
          </a:p>
        </p:txBody>
      </p:sp>
      <p:sp>
        <p:nvSpPr>
          <p:cNvPr id="39" name="Text 28">
            <a:extLst xmlns:a="http://schemas.openxmlformats.org/drawingml/2006/main">
              <a:ext uri="{FF2B5EF4-FFF2-40B4-BE49-F238E27FC236}">
                <a16:creationId xmlns:a16="http://schemas.microsoft.com/office/drawing/2014/main" id="{E445F032-4B52-40B5-BEBD-2EABACD5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App Router (Next 13+):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Server Components default, mix dengan 'use client' kalau butuh state/interactivity.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976057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942122-E2D0-424F-AE4D-2C72AD7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59F9513-7551-4581-9A1B-6DA930F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3D6630F-1834-46CC-9CAF-498BAE4E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60ec91b474c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8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963e04ccb42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E4385CC-DE57-4337-82EC-745C50D3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08FFA2B-D2EA-4294-8CEC-F403C403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Framework Support - Bukan Cuma Next.js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0DFBF3D-4C26-44DA-A78B-498F2BB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Vercel detect 30+ framework + bisa pakai output static apa pun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17A5001-B86D-4B45-90D0-990D9C93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0904826-3FC9-45DA-9345-060252BA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pic>
        <p:nvPicPr>
          <p:cNvPr id="8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88fbe78704b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554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4379FDD-84A9-4E53-8B08-7038C276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3429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Next.js</a:t>
            </a:r>
            <a:endParaRPr sz="14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AA09DEE-3DAD-47C5-9609-0453F2C6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417320"/>
            <a:ext cx="1234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First-class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A20C609-A84F-40A5-AC48-3C218985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Build command:</a:t>
            </a:r>
            <a:endParaRPr sz="9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D3164C26-D7E4-4730-85BD-2962A2B3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449F44E0-B37C-4F2C-9F8C-5742C15D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next build</a:t>
            </a:r>
            <a:endParaRPr sz="11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93AE6E78-8DE3-435D-8536-ACD208FE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Output directory:</a:t>
            </a:r>
            <a:endParaRPr sz="9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43AA8A6-F841-48EB-9119-7C1CD1A6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3338738E-9CCD-485A-BF78-BC544A1D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.next/</a:t>
            </a:r>
            <a:endParaRPr sz="110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BAF70805-EAC6-498A-A3A4-3066764C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1EE5CCF0-CF4A-4510-A04A-13DDA69A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DAFB"/>
          </a:solidFill>
          <a:ln xmlns:a="http://schemas.openxmlformats.org/drawingml/2006/main" w="12700">
            <a:solidFill>
              <a:srgbClr val="61DAFB"/>
            </a:solidFill>
            <a:prstDash val="solid"/>
          </a:ln>
        </p:spPr>
      </p:sp>
      <p:pic>
        <p:nvPicPr>
          <p:cNvPr id="9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148f1cb504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554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EE1D6985-E509-4A49-A49D-217BB26B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3429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 (Vite)</a:t>
            </a:r>
            <a:endParaRPr sz="14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467D688B-DC5A-48FE-ADCE-96A16251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17320"/>
            <a:ext cx="1234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Full support</a:t>
            </a:r>
            <a:endParaRPr sz="10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28743EFE-10C7-4EB6-AAD3-5A2ED1C8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9456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Build command:</a:t>
            </a:r>
            <a:endParaRPr sz="900"/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1FE052D2-8A45-4D0C-8873-404620DB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2316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8A1CF56E-651A-4161-BC69-6551D083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316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vite build</a:t>
            </a:r>
            <a:endParaRPr sz="11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E93E0503-2D13-4176-B418-18E83952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8036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Output directory:</a:t>
            </a:r>
            <a:endParaRPr sz="90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D271E8F-BFE1-46AF-A83A-CDDA6862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10896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0EF894F5-5DD7-4962-9F1A-ACD40A32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896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dist/</a:t>
            </a:r>
            <a:endParaRPr sz="1100"/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6719CADB-CAFC-462D-88AE-AB39E9B2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835DC5F4-14C6-4684-91ED-584B7043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08D"/>
          </a:solidFill>
          <a:ln xmlns:a="http://schemas.openxmlformats.org/drawingml/2006/main" w="12700">
            <a:solidFill>
              <a:srgbClr val="4FC08D"/>
            </a:solidFill>
            <a:prstDash val="solid"/>
          </a:ln>
        </p:spPr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EED7BEC-1CAB-464B-92A7-7EB9A5D0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Vue / Nuxt</a:t>
            </a:r>
            <a:endParaRPr sz="14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D3AF8B49-54B4-4AA2-B37C-48BDDA4D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1417320"/>
            <a:ext cx="1234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Full support</a:t>
            </a:r>
            <a:endParaRPr sz="10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F2AAF673-C6F6-42F5-90AE-EBBB0C11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9456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Build command:</a:t>
            </a:r>
            <a:endParaRPr sz="900"/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3E5ADE9F-DF18-4F99-8FC9-5350BA0C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42316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D4F21C13-82EF-4AC3-BE53-445E6F76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42316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nuxt build</a:t>
            </a:r>
            <a:endParaRPr sz="1100"/>
          </a:p>
        </p:txBody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0E48CA32-1134-42D9-AC32-CE36C3A7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88036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Output directory:</a:t>
            </a:r>
            <a:endParaRPr sz="900"/>
          </a:p>
        </p:txBody>
      </p:sp>
      <p:sp>
        <p:nvSpPr>
          <p:cNvPr id="40" name="Shape 34">
            <a:extLst xmlns:a="http://schemas.openxmlformats.org/drawingml/2006/main">
              <a:ext uri="{FF2B5EF4-FFF2-40B4-BE49-F238E27FC236}">
                <a16:creationId xmlns:a16="http://schemas.microsoft.com/office/drawing/2014/main" id="{6ED84AC5-B1E3-4D1A-B6D1-DD2F0187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10896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F1011AD7-3E2A-4E18-9A6A-461C49F0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10896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.output/</a:t>
            </a:r>
            <a:endParaRPr sz="110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237F5A8A-7CCE-483B-B5E3-2F0C4BCA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7">
            <a:extLst xmlns:a="http://schemas.openxmlformats.org/drawingml/2006/main">
              <a:ext uri="{FF2B5EF4-FFF2-40B4-BE49-F238E27FC236}">
                <a16:creationId xmlns:a16="http://schemas.microsoft.com/office/drawing/2014/main" id="{B338A921-8011-49D3-A188-0B8F2A63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01"/>
          </a:solidFill>
          <a:ln xmlns:a="http://schemas.openxmlformats.org/drawingml/2006/main" w="12700">
            <a:solidFill>
              <a:srgbClr val="FF5D01"/>
            </a:solidFill>
            <a:prstDash val="solid"/>
          </a:ln>
        </p:spPr>
      </p:sp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8008945D-345F-4C19-9EA6-E4F45632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429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Astro</a:t>
            </a:r>
            <a:endParaRPr sz="1400"/>
          </a:p>
        </p:txBody>
      </p:sp>
      <p:sp>
        <p:nvSpPr>
          <p:cNvPr id="45" name="Text 39">
            <a:extLst xmlns:a="http://schemas.openxmlformats.org/drawingml/2006/main">
              <a:ext uri="{FF2B5EF4-FFF2-40B4-BE49-F238E27FC236}">
                <a16:creationId xmlns:a16="http://schemas.microsoft.com/office/drawing/2014/main" id="{62DD523B-9344-4A02-9E9A-90231500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794760"/>
            <a:ext cx="1234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Full support</a:t>
            </a:r>
            <a:endParaRPr sz="1000"/>
          </a:p>
        </p:txBody>
      </p:sp>
      <p:sp>
        <p:nvSpPr>
          <p:cNvPr id="46" name="Text 40">
            <a:extLst xmlns:a="http://schemas.openxmlformats.org/drawingml/2006/main">
              <a:ext uri="{FF2B5EF4-FFF2-40B4-BE49-F238E27FC236}">
                <a16:creationId xmlns:a16="http://schemas.microsoft.com/office/drawing/2014/main" id="{B266B366-14F5-4F90-A92B-EAF81DCD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Build command:</a:t>
            </a:r>
            <a:endParaRPr sz="900"/>
          </a:p>
        </p:txBody>
      </p:sp>
      <p:sp>
        <p:nvSpPr>
          <p:cNvPr id="47" name="Shape 41">
            <a:extLst xmlns:a="http://schemas.openxmlformats.org/drawingml/2006/main">
              <a:ext uri="{FF2B5EF4-FFF2-40B4-BE49-F238E27FC236}">
                <a16:creationId xmlns:a16="http://schemas.microsoft.com/office/drawing/2014/main" id="{18ED0743-1D92-45FB-9251-E65923A3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60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8" name="Text 42">
            <a:extLst xmlns:a="http://schemas.openxmlformats.org/drawingml/2006/main">
              <a:ext uri="{FF2B5EF4-FFF2-40B4-BE49-F238E27FC236}">
                <a16:creationId xmlns:a16="http://schemas.microsoft.com/office/drawing/2014/main" id="{1BDD151A-3ADD-4EE1-9A9B-270411A8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astro build</a:t>
            </a:r>
            <a:endParaRPr sz="1100"/>
          </a:p>
        </p:txBody>
      </p:sp>
      <p:sp>
        <p:nvSpPr>
          <p:cNvPr id="49" name="Text 43">
            <a:extLst xmlns:a="http://schemas.openxmlformats.org/drawingml/2006/main">
              <a:ext uri="{FF2B5EF4-FFF2-40B4-BE49-F238E27FC236}">
                <a16:creationId xmlns:a16="http://schemas.microsoft.com/office/drawing/2014/main" id="{03A84C64-C4E5-41AF-AD68-2C7BE4E2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Output directory:</a:t>
            </a:r>
            <a:endParaRPr sz="900"/>
          </a:p>
        </p:txBody>
      </p:sp>
      <p:sp>
        <p:nvSpPr>
          <p:cNvPr id="50" name="Shape 44">
            <a:extLst xmlns:a="http://schemas.openxmlformats.org/drawingml/2006/main">
              <a:ext uri="{FF2B5EF4-FFF2-40B4-BE49-F238E27FC236}">
                <a16:creationId xmlns:a16="http://schemas.microsoft.com/office/drawing/2014/main" id="{932B351E-2795-42A2-B35F-B40B7846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1" name="Text 45">
            <a:extLst xmlns:a="http://schemas.openxmlformats.org/drawingml/2006/main">
              <a:ext uri="{FF2B5EF4-FFF2-40B4-BE49-F238E27FC236}">
                <a16:creationId xmlns:a16="http://schemas.microsoft.com/office/drawing/2014/main" id="{9BDB1553-49E6-4120-82F3-D1018C6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dist/</a:t>
            </a:r>
            <a:endParaRPr sz="1100"/>
          </a:p>
        </p:txBody>
      </p:sp>
      <p:sp>
        <p:nvSpPr>
          <p:cNvPr id="52" name="Shape 46">
            <a:extLst xmlns:a="http://schemas.openxmlformats.org/drawingml/2006/main">
              <a:ext uri="{FF2B5EF4-FFF2-40B4-BE49-F238E27FC236}">
                <a16:creationId xmlns:a16="http://schemas.microsoft.com/office/drawing/2014/main" id="{03B90AB9-2C58-438F-95CD-91E2A0FA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3" name="Shape 47">
            <a:extLst xmlns:a="http://schemas.openxmlformats.org/drawingml/2006/main">
              <a:ext uri="{FF2B5EF4-FFF2-40B4-BE49-F238E27FC236}">
                <a16:creationId xmlns:a16="http://schemas.microsoft.com/office/drawing/2014/main" id="{9A41911E-F136-4B1F-85A5-D02CFAD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00"/>
          </a:solidFill>
          <a:ln xmlns:a="http://schemas.openxmlformats.org/drawingml/2006/main" w="12700">
            <a:solidFill>
              <a:srgbClr val="FF3E00"/>
            </a:solidFill>
            <a:prstDash val="solid"/>
          </a:ln>
        </p:spPr>
      </p:sp>
      <p:sp>
        <p:nvSpPr>
          <p:cNvPr id="54" name="Text 48">
            <a:extLst xmlns:a="http://schemas.openxmlformats.org/drawingml/2006/main">
              <a:ext uri="{FF2B5EF4-FFF2-40B4-BE49-F238E27FC236}">
                <a16:creationId xmlns:a16="http://schemas.microsoft.com/office/drawing/2014/main" id="{DCB7894F-1535-4B89-821D-0C9CC34C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429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SvelteKit</a:t>
            </a:r>
            <a:endParaRPr sz="1400"/>
          </a:p>
        </p:txBody>
      </p:sp>
      <p:sp>
        <p:nvSpPr>
          <p:cNvPr id="55" name="Text 49">
            <a:extLst xmlns:a="http://schemas.openxmlformats.org/drawingml/2006/main">
              <a:ext uri="{FF2B5EF4-FFF2-40B4-BE49-F238E27FC236}">
                <a16:creationId xmlns:a16="http://schemas.microsoft.com/office/drawing/2014/main" id="{720B3FCD-CED3-40FD-8D96-0BE49E62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4760"/>
            <a:ext cx="1234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Full support</a:t>
            </a:r>
            <a:endParaRPr sz="1000"/>
          </a:p>
        </p:txBody>
      </p:sp>
      <p:sp>
        <p:nvSpPr>
          <p:cNvPr id="56" name="Text 50">
            <a:extLst xmlns:a="http://schemas.openxmlformats.org/drawingml/2006/main">
              <a:ext uri="{FF2B5EF4-FFF2-40B4-BE49-F238E27FC236}">
                <a16:creationId xmlns:a16="http://schemas.microsoft.com/office/drawing/2014/main" id="{EFB47414-DF1B-43AF-A80A-0E1681A0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5720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Build command:</a:t>
            </a:r>
            <a:endParaRPr sz="900"/>
          </a:p>
        </p:txBody>
      </p:sp>
      <p:sp>
        <p:nvSpPr>
          <p:cNvPr id="57" name="Shape 51">
            <a:extLst xmlns:a="http://schemas.openxmlformats.org/drawingml/2006/main">
              <a:ext uri="{FF2B5EF4-FFF2-40B4-BE49-F238E27FC236}">
                <a16:creationId xmlns:a16="http://schemas.microsoft.com/office/drawing/2014/main" id="{5E6C8748-975D-46F7-83AC-205762C1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80060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8" name="Text 52">
            <a:extLst xmlns:a="http://schemas.openxmlformats.org/drawingml/2006/main">
              <a:ext uri="{FF2B5EF4-FFF2-40B4-BE49-F238E27FC236}">
                <a16:creationId xmlns:a16="http://schemas.microsoft.com/office/drawing/2014/main" id="{3C1ABCC8-ECE2-4BA4-8452-D528A199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vite build</a:t>
            </a:r>
            <a:endParaRPr sz="1100"/>
          </a:p>
        </p:txBody>
      </p:sp>
      <p:sp>
        <p:nvSpPr>
          <p:cNvPr id="59" name="Text 53">
            <a:extLst xmlns:a="http://schemas.openxmlformats.org/drawingml/2006/main">
              <a:ext uri="{FF2B5EF4-FFF2-40B4-BE49-F238E27FC236}">
                <a16:creationId xmlns:a16="http://schemas.microsoft.com/office/drawing/2014/main" id="{A5599EEB-560A-4108-9688-9213866C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2578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Output directory:</a:t>
            </a:r>
            <a:endParaRPr sz="900"/>
          </a:p>
        </p:txBody>
      </p:sp>
      <p:sp>
        <p:nvSpPr>
          <p:cNvPr id="60" name="Shape 54">
            <a:extLst xmlns:a="http://schemas.openxmlformats.org/drawingml/2006/main">
              <a:ext uri="{FF2B5EF4-FFF2-40B4-BE49-F238E27FC236}">
                <a16:creationId xmlns:a16="http://schemas.microsoft.com/office/drawing/2014/main" id="{77D4EEA9-BFC6-40AD-AB0C-7FC337A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48640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61" name="Text 55">
            <a:extLst xmlns:a="http://schemas.openxmlformats.org/drawingml/2006/main">
              <a:ext uri="{FF2B5EF4-FFF2-40B4-BE49-F238E27FC236}">
                <a16:creationId xmlns:a16="http://schemas.microsoft.com/office/drawing/2014/main" id="{FB361707-56FF-4351-818C-8DCBC75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8640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.svelte-kit/</a:t>
            </a:r>
            <a:endParaRPr sz="1100"/>
          </a:p>
        </p:txBody>
      </p:sp>
      <p:sp>
        <p:nvSpPr>
          <p:cNvPr id="62" name="Shape 56">
            <a:extLst xmlns:a="http://schemas.openxmlformats.org/drawingml/2006/main">
              <a:ext uri="{FF2B5EF4-FFF2-40B4-BE49-F238E27FC236}">
                <a16:creationId xmlns:a16="http://schemas.microsoft.com/office/drawing/2014/main" id="{C9072C60-6738-4BA9-B594-1D8EBB6D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3" name="Shape 57">
            <a:extLst xmlns:a="http://schemas.openxmlformats.org/drawingml/2006/main">
              <a:ext uri="{FF2B5EF4-FFF2-40B4-BE49-F238E27FC236}">
                <a16:creationId xmlns:a16="http://schemas.microsoft.com/office/drawing/2014/main" id="{8107554A-6723-4C21-9E71-AE407A16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14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b7e35b3804e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93192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65" name="Text 58">
            <a:extLst xmlns:a="http://schemas.openxmlformats.org/drawingml/2006/main">
              <a:ext uri="{FF2B5EF4-FFF2-40B4-BE49-F238E27FC236}">
                <a16:creationId xmlns:a16="http://schemas.microsoft.com/office/drawing/2014/main" id="{FA44599B-2C3F-4385-9815-8CA3BCF4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3429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Static (HTML)</a:t>
            </a:r>
            <a:endParaRPr sz="1400"/>
          </a:p>
        </p:txBody>
      </p:sp>
      <p:sp>
        <p:nvSpPr>
          <p:cNvPr id="66" name="Text 59">
            <a:extLst xmlns:a="http://schemas.openxmlformats.org/drawingml/2006/main">
              <a:ext uri="{FF2B5EF4-FFF2-40B4-BE49-F238E27FC236}">
                <a16:creationId xmlns:a16="http://schemas.microsoft.com/office/drawing/2014/main" id="{FB75C1F9-68D7-4000-BD33-E250BD3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794760"/>
            <a:ext cx="1234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Drag-drop</a:t>
            </a:r>
            <a:endParaRPr sz="1000"/>
          </a:p>
        </p:txBody>
      </p:sp>
      <p:sp>
        <p:nvSpPr>
          <p:cNvPr id="67" name="Text 60">
            <a:extLst xmlns:a="http://schemas.openxmlformats.org/drawingml/2006/main">
              <a:ext uri="{FF2B5EF4-FFF2-40B4-BE49-F238E27FC236}">
                <a16:creationId xmlns:a16="http://schemas.microsoft.com/office/drawing/2014/main" id="{30DB4652-2D7D-41D5-8ED4-46E9C76A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5720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Build command:</a:t>
            </a:r>
            <a:endParaRPr sz="900"/>
          </a:p>
        </p:txBody>
      </p:sp>
      <p:sp>
        <p:nvSpPr>
          <p:cNvPr id="68" name="Shape 61">
            <a:extLst xmlns:a="http://schemas.openxmlformats.org/drawingml/2006/main">
              <a:ext uri="{FF2B5EF4-FFF2-40B4-BE49-F238E27FC236}">
                <a16:creationId xmlns:a16="http://schemas.microsoft.com/office/drawing/2014/main" id="{C0AA2D64-6F05-47F6-80FD-6B25E753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0060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69" name="Text 62">
            <a:extLst xmlns:a="http://schemas.openxmlformats.org/drawingml/2006/main">
              <a:ext uri="{FF2B5EF4-FFF2-40B4-BE49-F238E27FC236}">
                <a16:creationId xmlns:a16="http://schemas.microsoft.com/office/drawing/2014/main" id="{9E342A2C-9F21-4551-94DC-77917944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0060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(none)</a:t>
            </a:r>
            <a:endParaRPr sz="1100"/>
          </a:p>
        </p:txBody>
      </p:sp>
      <p:sp>
        <p:nvSpPr>
          <p:cNvPr id="70" name="Text 63">
            <a:extLst xmlns:a="http://schemas.openxmlformats.org/drawingml/2006/main">
              <a:ext uri="{FF2B5EF4-FFF2-40B4-BE49-F238E27FC236}">
                <a16:creationId xmlns:a16="http://schemas.microsoft.com/office/drawing/2014/main" id="{F79D9B9B-2512-4D73-836B-3E2E5341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578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Output directory:</a:t>
            </a:r>
            <a:endParaRPr sz="900"/>
          </a:p>
        </p:txBody>
      </p:sp>
      <p:sp>
        <p:nvSpPr>
          <p:cNvPr id="71" name="Shape 64">
            <a:extLst xmlns:a="http://schemas.openxmlformats.org/drawingml/2006/main">
              <a:ext uri="{FF2B5EF4-FFF2-40B4-BE49-F238E27FC236}">
                <a16:creationId xmlns:a16="http://schemas.microsoft.com/office/drawing/2014/main" id="{B864758C-7C89-4A7E-A94B-3567CA2F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8640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72" name="Text 65">
            <a:extLst xmlns:a="http://schemas.openxmlformats.org/drawingml/2006/main">
              <a:ext uri="{FF2B5EF4-FFF2-40B4-BE49-F238E27FC236}">
                <a16:creationId xmlns:a16="http://schemas.microsoft.com/office/drawing/2014/main" id="{54C5A50C-05C7-43F2-B850-E8E74CF5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486400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public/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192497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FF055F-BA39-4BE5-8E26-39A973FC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CD8214-A7DE-4FC1-9F7F-B868182C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3C95347-461A-4227-A53F-B187E7CD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bba0fdbe14e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bed0c11d1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E0C8BD1-14A6-41F2-A12A-85521860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DB63738-EE69-46FC-A782-A11679D1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Build Settings - Custom Build Pipeline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8DCBFF2-73C4-45F2-B406-74AC369A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Override default kalau project Anda special (monorepo, custom build)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ECE5BEE-459C-4B5A-BEE7-E0F8914E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889402B-BEDF-438D-8B40-8640DF04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Yang Bisa Diatur (Dashboard / vercel.json)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9C3FB9E-4843-4AE9-858A-2CDD5466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E35BD40-D745-44CB-A3CC-542CE5B8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Build Command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F3D084-0B6F-40BC-874B-4CABADF3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01168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Default auto-detect. Bisa override (e.g. yarn build:prod)</a:t>
            </a:r>
            <a:endParaRPr sz="10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929B26F-FFD0-4208-BE3C-709DB3FB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7232F18-C65A-4CD0-9233-DEB74099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Output Directory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ECCB7367-768A-4A2A-8E85-02D147D3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5146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Folder hasil build yang akan di-deploy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B0CFE16-952E-42DA-B2C3-C44C8EC4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D18C6E1-8414-4327-93AB-6FA6985F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Install Command</a:t>
            </a:r>
            <a:endParaRPr sz="11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08B5A8E-A11A-46B7-873C-6069757D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01752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Default npm install. Bisa pnpm/yarn/bun</a:t>
            </a:r>
            <a:endParaRPr sz="1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D26A3D8-80EE-4489-8674-A6DABF95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7EF75C3B-DE13-4E1D-9A1B-89D245BC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Development Command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3DFC07B-8991-47BB-8741-34FA4EEF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52044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Yang dijalankan 'vercel dev' local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7485D2B8-6CA3-41EE-86B9-B5610B73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6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BBC506A-54A3-4190-B1A7-1FF5BA20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Node Version</a:t>
            </a:r>
            <a:endParaRPr sz="1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34C2600-BE5B-46D5-A04E-A4881EBF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02336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Ikuti versi Node.js yang didukung proyek dan platform</a:t>
            </a:r>
            <a:endParaRPr sz="10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45D70A52-914C-45E6-922A-C4E7082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F21DE88-AFFD-4359-9F67-38199062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Root Directory</a:t>
            </a:r>
            <a:endParaRPr sz="11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3C044905-C235-4166-A7FD-C57C3D96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52628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monorepo - subfolder yang di-build</a:t>
            </a:r>
            <a:endParaRPr sz="10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90BFB753-23E1-4540-8733-CF92741E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E4961CF4-8CD4-4B1C-9923-01C4694D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2920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Environment Vars</a:t>
            </a:r>
            <a:endParaRPr sz="11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26D5E77C-01CC-421C-8033-819742FB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0292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 environment (prod/preview/dev)</a:t>
            </a:r>
            <a:endParaRPr sz="10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576CC267-178B-42D1-9BE5-016CDCE1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EE2B551F-834D-48AA-BB07-0EACC82D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Ignored Build</a:t>
            </a:r>
            <a:endParaRPr sz="11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54CDA088-D0B1-4949-B27E-19D04BA1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53212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Skip rebuild kalau file tertentu tidak berubah</a:t>
            </a:r>
            <a:endParaRPr sz="10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907C35D5-A63C-49EF-8D42-5B57FA20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ADB17D6D-9491-4425-B3A6-12B57BEA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B4FCF2C9-7F72-499C-99C3-F58E3D30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56193AC6-6E7A-4668-A01A-BFF4B7E5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F8D8A979-4F42-41DF-A5DA-04170EF9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50E7A1B9-5BFC-4868-A139-61A4642C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vercel.json - config as code</a:t>
            </a:r>
            <a:endParaRPr sz="9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50ABE5B0-5DFC-4BA4-9C4A-A270104B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"framework": "nextjs",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"buildCommand": "npm run build",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"outputDirectory": ".next",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"installCommand": "npm ci",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"devCommand": "npm run dev",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"regions": ["sin1"],  // Singapore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"redirects": [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{ "source": "/old", "destination": "/new" }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],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"headers": [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"source": "/api/(.*)",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"headers": [{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"key": "X-Frame-Options",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"value": "DENY"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}]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}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974304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B6855AC-D794-4AC5-AE13-57E042B7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E00C3A0-BDE2-4086-B501-98FDDBCB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99A270-1FE7-44CE-A720-D3AA6355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C3FC031-5FEA-4B8A-9E0E-877637AC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B5CC200-1511-4F0B-8CB3-35BC2DAC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39151EC-3CEB-4E02-836F-34721CE3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FC7F4FC-8F8D-4223-87B7-FE46E56A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04eb1a081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05d99840347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7E1836C-C021-42A4-ABEF-69C83A2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AC5DE96-F6EA-415C-8E0F-45363AD4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Edge Network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Performance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DFE0393-1872-4B38-91A5-5B4C3642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0C0E50A-20AB-4612-BFE7-C4523F51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Global CDN, image optimization, serverless functions.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9103980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5281492-BE54-4033-9F64-94093A7F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9499CC0-05FF-4218-89B9-1EE7644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FDEC35F-065D-4320-BB32-ACDA8845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68e2d3c6640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1f9eacf3f4b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C309B50-7227-49DF-89CE-12BBE854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0953D3B-C92C-4499-A796-3F64E80D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Global Edge Network dan pengukuran latensi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DBF11A0-572C-45BA-8513-6FD567E9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Aset statis dapat dilayani edge; fungsi dan database memakai region tersendiri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C09E347-44AC-4EB1-B34A-18C99E66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6183BDA-84FF-484D-8B28-054F344F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CDN menyajikan aset statis dari lokasi dekat pengguna.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Ukur hasil nyata dengan Web Vitals dan lokasi uji yang sesuai.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49282C7-A525-4687-BAA2-5DDEF65C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E0EDD3D-FB07-41C7-92E7-CC6C0316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Edge Region yang Strategis untuk Indonesia</a:t>
            </a:r>
            <a:endParaRPr sz="13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026780D-9461-482D-BB32-B8ADE3DF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169164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92B7AC4-4D70-4C6D-9238-D419D5C4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sin1</a:t>
            </a:r>
            <a:endParaRPr sz="14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5E553EB-F48C-4791-982B-E421C809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Singapore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BDD969B-F760-42B7-9013-931299D8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 nyata</a:t>
            </a:r>
            <a:endParaRPr sz="18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B47C898-F436-4746-84F1-BCEA8B4A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16916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B2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966252E-E3AF-4CA8-B613-B69C49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PRIMARY</a:t>
            </a:r>
            <a:endParaRPr sz="9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CE49FE0-6024-4597-BA60-B22E1E54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063240"/>
            <a:ext cx="169164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6457A11-A70E-42D5-87D5-B57EEE1B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15468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hnd1</a:t>
            </a:r>
            <a:endParaRPr sz="14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AD618C1-3EAC-4A77-B0A5-476B27BA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56616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Tokyo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A9619A7E-B5F0-4FFE-9C28-0CBB2582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93192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 nyata</a:t>
            </a:r>
            <a:endParaRPr sz="18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024F67B0-FC53-45E6-8A02-6BD6D832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063240"/>
            <a:ext cx="169164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1300FB3-0089-4E71-BACE-E31AE171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15468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syd1</a:t>
            </a:r>
            <a:endParaRPr sz="14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4EF3BE61-5450-48D0-97EE-DC75A0B7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56616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Sydney</a:t>
            </a:r>
            <a:endParaRPr sz="11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64F6090D-8E8A-4792-9465-1C9686FE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93192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 nyata</a:t>
            </a:r>
            <a:endParaRPr sz="18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FDE1DC9B-6E91-408F-81EB-CF484399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63240"/>
            <a:ext cx="169164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713D3EF7-897F-494E-B13E-820BAC89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5468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bom1</a:t>
            </a:r>
            <a:endParaRPr sz="14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B5B41BD5-83B4-42A4-8987-6F9B5ED8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6616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Mumbai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306CD0F6-D4B3-4E60-BF22-5C3BB751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3192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 nyata</a:t>
            </a:r>
            <a:endParaRPr sz="180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12E7102C-C425-4360-8305-D08C339D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063240"/>
            <a:ext cx="169164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74B7223-B9F5-48D1-ACFC-CD31E79E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15468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fra1</a:t>
            </a:r>
            <a:endParaRPr sz="14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40BA2D1-FA79-468B-94C7-1641ACF1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56616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Frankfurt</a:t>
            </a:r>
            <a:endParaRPr sz="11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28101640-463F-4454-BAA1-3247EB8F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93192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 nyata</a:t>
            </a:r>
            <a:endParaRPr sz="18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D3E4CA86-6FF0-444F-BF24-07837A73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063240"/>
            <a:ext cx="169164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1795B4C6-F9BB-449A-9784-8591AE27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15468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iad1</a:t>
            </a:r>
            <a:endParaRPr sz="14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AF7A245F-3471-4F57-8B68-0D58D105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56616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Washington DC</a:t>
            </a:r>
            <a:endParaRPr sz="11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371A6478-E0E8-4A42-8AF0-4F36FCA4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93192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 nyata</a:t>
            </a:r>
            <a:endParaRPr sz="18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519EABA5-D7A5-4D81-A9B6-E99287BB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49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Yang Otomatis di-Cache di Edge</a:t>
            </a:r>
            <a:endParaRPr sz="1300"/>
          </a:p>
        </p:txBody>
      </p:sp>
      <p:pic>
        <p:nvPicPr>
          <p:cNvPr id="9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eb4fc4d9d40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55778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DC49FD6F-DC9B-4D4F-967A-AB9F032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Static asset: JS, CSS, image, font</a:t>
            </a:r>
            <a:endParaRPr sz="1100"/>
          </a:p>
        </p:txBody>
      </p:sp>
      <p:pic>
        <p:nvPicPr>
          <p:cNvPr id="9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eb4fc4d9d40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9360" y="55778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CCF15A7E-40DB-4512-A70E-4A306D04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5321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Static page hasil SSG (HTML)</a:t>
            </a:r>
            <a:endParaRPr sz="1100"/>
          </a:p>
        </p:txBody>
      </p:sp>
      <p:pic>
        <p:nvPicPr>
          <p:cNvPr id="9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eb4fc4d9d40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59436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91F5C60A-A328-4E6A-B536-B78990DD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97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ISR pages (sampai revalidate)</a:t>
            </a:r>
            <a:endParaRPr sz="1100"/>
          </a:p>
        </p:txBody>
      </p:sp>
      <p:pic>
        <p:nvPicPr>
          <p:cNvPr id="10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6e17415024a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9360" y="59436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8" name="Text 40">
            <a:extLst xmlns:a="http://schemas.openxmlformats.org/drawingml/2006/main">
              <a:ext uri="{FF2B5EF4-FFF2-40B4-BE49-F238E27FC236}">
                <a16:creationId xmlns:a16="http://schemas.microsoft.com/office/drawing/2014/main" id="{9DBEECD8-298C-4638-AE0D-257218DB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897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SSR pages: TIDAK cached default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102973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67E837-9C31-4417-8BFF-A4E51AA3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F141D7-2A46-4FFC-B852-BB9ACD8B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961BCAF-2182-4A4A-BB95-8A4F764A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9656580ca46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7887a784e4c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B52FAA9-365C-4964-9C11-84EDFA5A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F1844EC-D34F-4C9C-8573-6CBF2A17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ns0:p xmlns:ns0="http://schemas.openxmlformats.org/drawingml/2006/main">
            <ns0:pPr marL="0" indent="0" algn="ctr">
              <ns0:buNone/>
            </ns0:pPr>
            <ns0:r>
              <ns0:rPr sz="2200" b="1">
                <ns0:solidFill>
                  <ns0:srgbClr val="1976D2"/>
                </ns0:solidFill>
                <ns0:latin typeface="Calibri"/>
                <ns0:ea typeface="Calibri"/>
                <ns0:cs typeface="Calibri"/>
              </ns0:rPr>
              <ns0:t>Image dan pengukuran performa</ns0:t>
            </ns0:r>
            <ns0:endParaRPr sz="2200"/>
          </ns0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0490A32-2814-4DB7-8988-C6AB7C54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Auto resize, format conversion (WebP/AVIF), lazy load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924CFD8-9E4C-4158-B9BE-8F31E656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3FF8C79-B408-46CA-A091-3EC81AB1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D5474DD-FD5C-4E0B-8430-3521B477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ns0:p xmlns:ns0="http://schemas.openxmlformats.org/drawingml/2006/main">
            <ns0:pPr marL="0" indent="0" algn="ctr">
              <ns0:buNone/>
            </ns0:pPr>
            <ns0:r>
              <ns0:rPr sz="1400" b="1" spc="200">
                <ns0:solidFill>
                  <ns0:srgbClr val="FFFFFF"/>
                </ns0:solidFill>
                <ns0:latin typeface="Calibri"/>
                <ns0:ea typeface="Calibri"/>
                <ns0:cs typeface="Calibri"/>
              </ns0:rPr>
              <ns0:t>Elemen img</ns0:t>
            </ns0:r>
            <ns0:endParaRPr sz="1400"/>
          </ns0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C7555E9-34C6-4C97-A88B-02225CDD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21208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064829C8-B606-4B1D-A3EA-3C0C9EBF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2120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9F4282F-700C-46D9-B876-59BE7ABD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311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ABBC084-BFB7-4F90-A61B-CD8BB2DC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311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D86900E-C764-4208-A82F-D8B92892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311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18A9339-8AE4-4EA9-AA04-5BADE9F9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14884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tanpa optimization</a:t>
            </a:r>
            <a:endParaRPr sz="9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0EC2435F-025E-43F9-89DE-23C39ECF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200"/>
              </ns0:spcAft>
              <ns0:buNone/>
            </ns0:pPr>
            <ns0:r>
              <ns0:rPr sz="1100">
                <ns0:solidFill>
                  <ns0:srgbClr val="F8FAFC"/>
                </ns0:solidFill>
                <ns0:latin typeface="Consolas"/>
                <ns0:ea typeface="Consolas"/>
                <ns0:cs typeface="Consolas"/>
              </ns0:rPr>
              <ns0:t>&lt;img</ns0:t>
            </ns0:r>
            <ns0:endParaRPr sz="1100"/>
          </ns0:p>
          <ns1:p xmlns:ns1="http://schemas.openxmlformats.org/drawingml/2006/main">
            <ns1:pPr marL="0" indent="0">
              <ns1:spcAft>
                <ns1:spcPts val="200"/>
              </ns1:spcAft>
              <ns1:buNone/>
            </ns1:pPr>
            <ns1:r>
              <ns1:rPr sz="1100">
                <ns1:solidFill>
                  <ns1:srgbClr val="F8FAFC"/>
                </ns1:solidFill>
                <ns1:latin typeface="Consolas"/>
                <ns1:ea typeface="Consolas"/>
                <ns1:cs typeface="Consolas"/>
              </ns1:rPr>
              <ns1:t>  src="/hero.jpg"</ns1:t>
            </ns1:r>
            <ns1:endParaRPr sz="1100"/>
          </ns1:p>
          <ns2:p xmlns:ns2="http://schemas.openxmlformats.org/drawingml/2006/main">
            <ns2:pPr marL="0" indent="0">
              <ns2:spcAft>
                <ns2:spcPts val="200"/>
              </ns2:spcAft>
              <ns2:buNone/>
            </ns2:pPr>
            <ns2:r>
              <ns2:rPr sz="1100">
                <ns2:solidFill>
                  <ns2:srgbClr val="F8FAFC"/>
                </ns2:solidFill>
                <ns2:latin typeface="Consolas"/>
                <ns2:ea typeface="Consolas"/>
                <ns2:cs typeface="Consolas"/>
              </ns2:rPr>
              <ns2:t>  alt="Hero"</ns2:t>
            </ns2:r>
            <ns2:endParaRPr sz="1100"/>
          </ns2:p>
          <ns3:p xmlns:ns3="http://schemas.openxmlformats.org/drawingml/2006/main">
            <ns3:pPr marL="0" indent="0">
              <ns3:spcAft>
                <ns3:spcPts val="200"/>
              </ns3:spcAft>
              <ns3:buNone/>
            </ns3:pPr>
            <ns3:r>
              <ns3:rPr sz="1100">
                <ns3:solidFill>
                  <ns3:srgbClr val="F8FAFC"/>
                </ns3:solidFill>
                <ns3:latin typeface="Consolas"/>
                <ns3:ea typeface="Consolas"/>
                <ns3:cs typeface="Consolas"/>
              </ns3:rPr>
              <ns3:t>  width="800"</ns3:t>
            </ns3:r>
            <ns3:endParaRPr sz="1100"/>
          </ns3:p>
          <ns4:p xmlns:ns4="http://schemas.openxmlformats.org/drawingml/2006/main">
            <ns4:pPr marL="0" indent="0">
              <ns4:spcAft>
                <ns4:spcPts val="200"/>
              </ns4:spcAft>
              <ns4:buNone/>
            </ns4:pPr>
            <ns4:r>
              <ns4:rPr sz="1100">
                <ns4:solidFill>
                  <ns4:srgbClr val="F8FAFC"/>
                </ns4:solidFill>
                <ns4:latin typeface="Consolas"/>
                <ns4:ea typeface="Consolas"/>
                <ns4:cs typeface="Consolas"/>
              </ns4:rPr>
              <ns4:t>  height="600"</ns4:t>
            </ns4:r>
            <ns4:endParaRPr sz="1100"/>
          </ns4:p>
          <ns5:p xmlns:ns5="http://schemas.openxmlformats.org/drawingml/2006/main">
            <ns5:pPr marL="0" indent="0">
              <ns5:spcAft>
                <ns5:spcPts val="200"/>
              </ns5:spcAft>
              <ns5:buNone/>
            </ns5:pPr>
            <ns5:r>
              <ns5:rPr sz="1100">
                <ns5:solidFill>
                  <ns5:srgbClr val="F8FAFC"/>
                </ns5:solidFill>
                <ns5:latin typeface="Consolas"/>
                <ns5:ea typeface="Consolas"/>
                <ns5:cs typeface="Consolas"/>
              </ns5:rPr>
              <ns5:t>/&gt;</ns5:t>
            </ns5:r>
            <ns5:endParaRPr sz="1100"/>
          </ns5:p>
          <ns6:p xmlns:ns6="http://schemas.openxmlformats.org/drawingml/2006/main">
            <ns6:pPr marL="0" indent="0">
              <ns6:spcAft>
                <ns6:spcPts val="200"/>
              </ns6:spcAft>
              <ns6:buNone/>
            </ns6:pPr>
            <ns6:r>
              <ns6:rPr sz="1100">
                <ns6:solidFill>
                  <ns6:srgbClr val="F8FAFC"/>
                </ns6:solidFill>
                <ns6:latin typeface="Consolas"/>
                <ns6:ea typeface="Consolas"/>
                <ns6:cs typeface="Consolas"/>
              </ns6:rPr>
              <ns6:t>// Ukuran intrinsik menyediakan rasio layout.</ns6:t>
            </ns6:r>
            <ns6:endParaRPr sz="1100"/>
          </ns6:p>
          <ns7:p xmlns:ns7="http://schemas.openxmlformats.org/drawingml/2006/main">
            <ns7:pPr marL="0" indent="0">
              <ns7:spcAft>
                <ns7:spcPts val="200"/>
              </ns7:spcAft>
              <ns7:buNone/>
            </ns7:pPr>
            <ns7:r>
              <ns7:rPr sz="1100">
                <ns7:solidFill>
                  <ns7:srgbClr val="F8FAFC"/>
                </ns7:solidFill>
                <ns7:latin typeface="Consolas"/>
                <ns7:ea typeface="Consolas"/>
                <ns7:cs typeface="Consolas"/>
              </ns7:rPr>
              <ns7:t>// File ini dikirim tanpa resize server Next.</ns7:t>
            </ns7:r>
            <ns7:endParaRPr sz="1100"/>
          </ns7:p>
          <ns8:p xmlns:ns8="http://schemas.openxmlformats.org/drawingml/2006/main">
            <ns8:pPr marL="0" indent="0">
              <ns8:spcAft>
                <ns8:spcPts val="200"/>
              </ns8:spcAft>
              <ns8:buNone/>
            </ns8:pPr>
            <ns8:r>
              <ns8:rPr sz="1100">
                <ns8:solidFill>
                  <ns8:srgbClr val="F8FAFC"/>
                </ns8:solidFill>
                <ns8:latin typeface="Consolas"/>
                <ns8:ea typeface="Consolas"/>
                <ns8:cs typeface="Consolas"/>
              </ns8:rPr>
              <ns8:t>// Ukur ukuran transfer dan LCP nyata.</ns8:t>
            </ns8:r>
            <ns8:endParaRPr sz="1100"/>
          </ns8:p>
          <ns9:p xmlns:ns9="http://schemas.openxmlformats.org/drawingml/2006/main">
            <ns9:pPr marL="0" indent="0">
              <ns9:spcAft>
                <ns9:spcPts val="200"/>
              </ns9:spcAft>
              <ns9:buNone/>
            </ns9:pPr>
            <ns9:r>
              <ns9:rPr sz="1100">
                <ns9:solidFill>
                  <ns9:srgbClr val="F8FAFC"/>
                </ns9:solidFill>
                <ns9:latin typeface="Consolas"/>
                <ns9:ea typeface="Consolas"/>
                <ns9:cs typeface="Consolas"/>
              </ns9:rPr>
              <ns9:t>// Tidak ada hasil benchmark pada contoh ini.</ns9:t>
            </ns9:r>
            <ns9:endParaRPr sz="1100"/>
          </ns9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5D7C4BEC-E0D0-48A8-8D92-729F0A8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9205C0D-1DAB-421C-A528-8B26056A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408E0AD-5DD1-4F7B-A19E-0359953B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ns0:p xmlns:ns0="http://schemas.openxmlformats.org/drawingml/2006/main">
            <ns0:pPr marL="0" indent="0" algn="ctr">
              <ns0:buNone/>
            </ns0:pPr>
            <ns0:r>
              <ns0:rPr sz="1400" b="1" spc="200">
                <ns0:solidFill>
                  <ns0:srgbClr val="FFFFFF"/>
                </ns0:solidFill>
                <ns0:latin typeface="Calibri"/>
                <ns0:ea typeface="Calibri"/>
                <ns0:cs typeface="Calibri"/>
              </ns0:rPr>
              <ns0:t>Komponen next/image</ns0:t>
            </ns0:r>
            <ns0:endParaRPr sz="1400"/>
          </ns0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1C11870A-07D5-4436-B47A-16891065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12064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F828BCA5-78A4-4505-A810-C7F9C5BE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1206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E6DB174E-F237-4855-B91C-7335722B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311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EEA5618-45EA-4376-9E04-DA91E1C5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311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ACD28899-8F73-43F6-A912-3F132B3F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311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75BFEA5-AA07-420B-AAE8-6C852250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4884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dengan Next/Image</a:t>
            </a:r>
            <a:endParaRPr sz="9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049D7923-597C-44EC-8A8A-CCA0C096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14600"/>
            <a:ext cx="4846320" cy="3520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200"/>
              </ns0:spcAft>
              <ns0:buNone/>
            </ns0:pPr>
            <ns0:r>
              <ns0:rPr sz="1100" b="1">
                <ns0:solidFill>
                  <ns0:srgbClr val="F8FAFC"/>
                </ns0:solidFill>
                <ns0:latin typeface="Consolas"/>
                <ns0:ea typeface="Consolas"/>
                <ns0:cs typeface="Consolas"/>
              </ns0:rPr>
              <ns0:t>import Image from 'next/image'</ns0:t>
            </ns0:r>
            <ns0:endParaRPr sz="1100"/>
          </ns0:p>
          <ns1:p xmlns:ns1="http://schemas.openxmlformats.org/drawingml/2006/main">
            <ns1:pPr marL="0" indent="0">
              <ns1:spcAft>
                <ns1:spcPts val="200"/>
              </ns1:spcAft>
              <ns1:buNone/>
            </ns1:pPr>
            <ns1:r>
              <ns1:rPr sz="1100" b="1">
                <ns1:solidFill>
                  <ns1:srgbClr val="F8FAFC"/>
                </ns1:solidFill>
                <ns1:latin typeface="Consolas"/>
                <ns1:ea typeface="Consolas"/>
                <ns1:cs typeface="Consolas"/>
              </ns1:rPr>
              <ns1:t>&lt;Image</ns1:t>
            </ns1:r>
            <ns1:endParaRPr sz="1100"/>
          </ns1:p>
          <ns2:p xmlns:ns2="http://schemas.openxmlformats.org/drawingml/2006/main">
            <ns2:pPr marL="0" indent="0">
              <ns2:spcAft>
                <ns2:spcPts val="200"/>
              </ns2:spcAft>
              <ns2:buNone/>
            </ns2:pPr>
            <ns2:r>
              <ns2:rPr sz="1100" b="1">
                <ns2:solidFill>
                  <ns2:srgbClr val="F8FAFC"/>
                </ns2:solidFill>
                <ns2:latin typeface="Consolas"/>
                <ns2:ea typeface="Consolas"/>
                <ns2:cs typeface="Consolas"/>
              </ns2:rPr>
              <ns2:t>  src="/hero.jpg"</ns2:t>
            </ns2:r>
            <ns2:endParaRPr sz="1100"/>
          </ns2:p>
          <ns3:p xmlns:ns3="http://schemas.openxmlformats.org/drawingml/2006/main">
            <ns3:pPr marL="0" indent="0">
              <ns3:spcAft>
                <ns3:spcPts val="200"/>
              </ns3:spcAft>
              <ns3:buNone/>
            </ns3:pPr>
            <ns3:r>
              <ns3:rPr sz="1100" b="1">
                <ns3:solidFill>
                  <ns3:srgbClr val="F8FAFC"/>
                </ns3:solidFill>
                <ns3:latin typeface="Consolas"/>
                <ns3:ea typeface="Consolas"/>
                <ns3:cs typeface="Consolas"/>
              </ns3:rPr>
              <ns3:t>  alt="Hero"</ns3:t>
            </ns3:r>
            <ns3:endParaRPr sz="1100"/>
          </ns3:p>
          <ns4:p xmlns:ns4="http://schemas.openxmlformats.org/drawingml/2006/main">
            <ns4:pPr marL="0" indent="0">
              <ns4:spcAft>
                <ns4:spcPts val="200"/>
              </ns4:spcAft>
              <ns4:buNone/>
            </ns4:pPr>
            <ns4:r>
              <ns4:rPr sz="1100" b="1">
                <ns4:solidFill>
                  <ns4:srgbClr val="F8FAFC"/>
                </ns4:solidFill>
                <ns4:latin typeface="Consolas"/>
                <ns4:ea typeface="Consolas"/>
                <ns4:cs typeface="Consolas"/>
              </ns4:rPr>
              <ns4:t>  width={800} height={600}</ns4:t>
            </ns4:r>
            <ns4:endParaRPr sz="1100"/>
          </ns4:p>
          <ns5:p xmlns:ns5="http://schemas.openxmlformats.org/drawingml/2006/main">
            <ns5:pPr marL="0" indent="0">
              <ns5:spcAft>
                <ns5:spcPts val="200"/>
              </ns5:spcAft>
              <ns5:buNone/>
            </ns5:pPr>
            <ns5:r>
              <ns5:rPr sz="1100" b="1">
                <ns5:solidFill>
                  <ns5:srgbClr val="F8FAFC"/>
                </ns5:solidFill>
                <ns5:latin typeface="Consolas"/>
                <ns5:ea typeface="Consolas"/>
                <ns5:cs typeface="Consolas"/>
              </ns5:rPr>
              <ns5:t>/&gt;</ns5:t>
            </ns5:r>
            <ns5:endParaRPr sz="1100"/>
          </ns5:p>
          <ns6:p xmlns:ns6="http://schemas.openxmlformats.org/drawingml/2006/main">
            <ns6:pPr marL="0" indent="0">
              <ns6:spcAft>
                <ns6:spcPts val="200"/>
              </ns6:spcAft>
              <ns6:buNone/>
            </ns6:pPr>
            <ns6:r>
              <ns6:rPr sz="1100" b="1">
                <ns6:solidFill>
                  <ns6:srgbClr val="F8FAFC"/>
                </ns6:solidFill>
                <ns6:latin typeface="Consolas"/>
                <ns6:ea typeface="Consolas"/>
                <ns6:cs typeface="Consolas"/>
              </ns6:rPr>
              <ns6:t>// Default loading: lazy.</ns6:t>
            </ns6:r>
            <ns6:endParaRPr sz="1100"/>
          </ns6:p>
          <ns7:p xmlns:ns7="http://schemas.openxmlformats.org/drawingml/2006/main">
            <ns7:pPr marL="0" indent="0">
              <ns7:spcAft>
                <ns7:spcPts val="200"/>
              </ns7:spcAft>
              <ns7:buNone/>
            </ns7:pPr>
            <ns7:r>
              <ns7:rPr sz="1100" b="1">
                <ns7:solidFill>
                  <ns7:srgbClr val="F8FAFC"/>
                </ns7:solidFill>
                <ns7:latin typeface="Consolas"/>
                <ns7:ea typeface="Consolas"/>
                <ns7:cs typeface="Consolas"/>
              </ns7:rPr>
              <ns7:t>// Format mengikuti konfigurasi dan browser.</ns7:t>
            </ns7:r>
            <ns7:endParaRPr sz="1100"/>
          </ns7:p>
          <ns8:p xmlns:ns8="http://schemas.openxmlformats.org/drawingml/2006/main">
            <ns8:pPr marL="0" indent="0">
              <ns8:spcAft>
                <ns8:spcPts val="200"/>
              </ns8:spcAft>
              <ns8:buNone/>
            </ns8:pPr>
            <ns8:r>
              <ns8:rPr sz="1100" b="1">
                <ns8:solidFill>
                  <ns8:srgbClr val="F8FAFC"/>
                </ns8:solidFill>
                <ns8:latin typeface="Consolas"/>
                <ns8:ea typeface="Consolas"/>
                <ns8:cs typeface="Consolas"/>
              </ns8:rPr>
              <ns8:t>// Default placeholder: empty.</ns8:t>
            </ns8:r>
            <ns8:endParaRPr sz="1100"/>
          </ns8:p>
          <ns9:p xmlns:ns9="http://schemas.openxmlformats.org/drawingml/2006/main">
            <ns9:pPr marL="0" indent="0">
              <ns9:spcAft>
                <ns9:spcPts val="200"/>
              </ns9:spcAft>
              <ns9:buNone/>
            </ns9:pPr>
            <ns9:r>
              <ns9:rPr sz="1100" b="1">
                <ns9:solidFill>
                  <ns9:srgbClr val="F8FAFC"/>
                </ns9:solidFill>
                <ns9:latin typeface="Consolas"/>
                <ns9:ea typeface="Consolas"/>
                <ns9:cs typeface="Consolas"/>
              </ns9:rPr>
              <ns9:t>// Blur memerlukan placeholder + blurDataURL.</ns9:t>
            </ns9:r>
            <ns9:endParaRPr sz="1100"/>
          </ns9:p>
          <ns10:p xmlns:ns10="http://schemas.openxmlformats.org/drawingml/2006/main">
            <ns10:pPr marL="0" indent="0">
              <ns10:spcAft>
                <ns10:spcPts val="200"/>
              </ns10:spcAft>
              <ns10:buNone/>
            </ns10:pPr>
            <ns10:r>
              <ns10:rPr sz="1100" b="1">
                <ns10:solidFill>
                  <ns10:srgbClr val="F8FAFC"/>
                </ns10:solidFill>
                <ns10:latin typeface="Consolas"/>
                <ns10:ea typeface="Consolas"/>
                <ns10:cs typeface="Consolas"/>
              </ns10:rPr>
              <ns10:t>// Bandingkan transfer dan Web Vitals nyata.</ns10:t>
            </ns10:r>
            <ns10:endParaRPr sz="1100"/>
          </ns10:p>
        </p:txBody>
      </p:sp>
    </p:spTree>
    <p:extLst>
      <p:ext uri="{BB962C8B-B14F-4D97-AF65-F5344CB8AC3E}">
        <p14:creationId xmlns:p14="http://schemas.microsoft.com/office/powerpoint/2010/main" val="13238409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562967-6761-4FD8-8ED1-DD8F2492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9D07CC5-31DD-4950-8B93-0309D835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85E3B83-B660-4653-A179-7B52417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f961e05cb4d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1f4c986ee40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AD2417D-7D42-4191-86B9-060C042E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49CF23F-40B8-4609-89C3-F06A1801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Serverless Functions - API Routes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A40FF5E-B4A5-487F-BC0F-CEC8A3A7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Folder /api di Next.js auto jadi endpoint serverless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9F038D1-5117-4E07-801D-D2650BED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816D2F2-1D5A-4FBF-B565-CC7213B3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Route Handler dapat menjadi endpoint Function setelah deploy.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Cold start bergantung runtime, region, dan trafik. Periksa model biaya saat deploy.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F4A15A3-3456-4F25-ADA6-80A5E73D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9C1EAF2-F730-48CD-AC55-094DFB89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D912787-75EB-4366-969D-D7FF2677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27010F0-7AA8-4803-A658-F08952A3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8F96ECE-3E11-4A72-BE4A-FEA7C6F7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13CFEE2-F01C-4ADE-9B4F-66060A4A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app/api/public-demo/route.ts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D2D25E0-5905-4AC7-81FB-ADC1AEF9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3035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200"/>
              </ns0:spcAft>
              <ns0:buNone/>
            </ns0:pPr>
            <ns0:r>
              <ns0:rPr sz="1000">
                <ns0:solidFill>
                  <ns0:srgbClr val="F8FAFC"/>
                </ns0:solidFill>
                <ns0:latin typeface="Consolas"/>
                <ns0:ea typeface="Consolas"/>
                <ns0:cs typeface="Consolas"/>
              </ns0:rPr>
              <ns0:t>// Contoh data publik, bukan tabel notes privat.</ns0:t>
            </ns0:r>
            <ns0:endParaRPr sz="1000"/>
          </ns0:p>
          <ns1:p xmlns:ns1="http://schemas.openxmlformats.org/drawingml/2006/main">
            <ns1:pPr marL="0" indent="0">
              <ns1:spcAft>
                <ns1:spcPts val="200"/>
              </ns1:spcAft>
              <ns1:buNone/>
            </ns1:pPr>
            <ns1:r>
              <ns1:rPr sz="1000">
                <ns1:solidFill>
                  <ns1:srgbClr val="F8FAFC"/>
                </ns1:solidFill>
                <ns1:latin typeface="Consolas"/>
                <ns1:ea typeface="Consolas"/>
                <ns1:cs typeface="Consolas"/>
              </ns1:rPr>
              <ns1:t>import { createClient } from '@supabase/supabase-js'</ns1:t>
            </ns1:r>
            <ns1:endParaRPr sz="1000"/>
          </ns1:p>
          <ns2:p xmlns:ns2="http://schemas.openxmlformats.org/drawingml/2006/main">
            <ns2:pPr marL="0" indent="0">
              <ns2:spcAft>
                <ns2:spcPts val="200"/>
              </ns2:spcAft>
              <ns2:buNone/>
            </ns2:pPr>
            <ns2:r>
              <ns2:rPr sz="1000">
                <ns2:solidFill>
                  <ns2:srgbClr val="F8FAFC"/>
                </ns2:solidFill>
                <ns2:latin typeface="Consolas"/>
                <ns2:ea typeface="Consolas"/>
                <ns2:cs typeface="Consolas"/>
              </ns2:rPr>
              <ns2:t>const db = createClient(</ns2:t>
            </ns2:r>
            <ns2:endParaRPr sz="1000"/>
          </ns2:p>
          <ns3:p xmlns:ns3="http://schemas.openxmlformats.org/drawingml/2006/main">
            <ns3:pPr marL="0" indent="0">
              <ns3:spcAft>
                <ns3:spcPts val="200"/>
              </ns3:spcAft>
              <ns3:buNone/>
            </ns3:pPr>
            <ns3:r>
              <ns3:rPr sz="1000">
                <ns3:solidFill>
                  <ns3:srgbClr val="F8FAFC"/>
                </ns3:solidFill>
                <ns3:latin typeface="Consolas"/>
                <ns3:ea typeface="Consolas"/>
                <ns3:cs typeface="Consolas"/>
              </ns3:rPr>
              <ns3:t>  process.env.NEXT_PUBLIC_SUPABASE_URL!,</ns3:t>
            </ns3:r>
            <ns3:endParaRPr sz="1000"/>
          </ns3:p>
          <ns4:p xmlns:ns4="http://schemas.openxmlformats.org/drawingml/2006/main">
            <ns4:pPr marL="0" indent="0">
              <ns4:spcAft>
                <ns4:spcPts val="200"/>
              </ns4:spcAft>
              <ns4:buNone/>
            </ns4:pPr>
            <ns4:r>
              <ns4:rPr sz="1000">
                <ns4:solidFill>
                  <ns4:srgbClr val="F8FAFC"/>
                </ns4:solidFill>
                <ns4:latin typeface="Consolas"/>
                <ns4:ea typeface="Consolas"/>
                <ns4:cs typeface="Consolas"/>
              </ns4:rPr>
              <ns4:t>  process.env.NEXT_PUBLIC_SUPABASE_PUBLISHABLE_KEY!</ns4:t>
            </ns4:r>
            <ns4:endParaRPr sz="1000"/>
          </ns4:p>
          <ns5:p xmlns:ns5="http://schemas.openxmlformats.org/drawingml/2006/main">
            <ns5:pPr marL="0" indent="0">
              <ns5:spcAft>
                <ns5:spcPts val="200"/>
              </ns5:spcAft>
              <ns5:buNone/>
            </ns5:pPr>
            <ns5:r>
              <ns5:rPr sz="1000">
                <ns5:solidFill>
                  <ns5:srgbClr val="F8FAFC"/>
                </ns5:solidFill>
                <ns5:latin typeface="Consolas"/>
                <ns5:ea typeface="Consolas"/>
                <ns5:cs typeface="Consolas"/>
              </ns5:rPr>
              <ns5:t>)</ns5:t>
            </ns5:r>
            <ns5:endParaRPr sz="1000"/>
          </ns5:p>
          <ns6:p xmlns:ns6="http://schemas.openxmlformats.org/drawingml/2006/main">
            <ns6:pPr marL="0" indent="0">
              <ns6:spcAft>
                <ns6:spcPts val="200"/>
              </ns6:spcAft>
              <ns6:buNone/>
            </ns6:pPr>
            <ns6:r>
              <ns6:rPr sz="1000">
                <ns6:solidFill>
                  <ns6:srgbClr val="F8FAFC"/>
                </ns6:solidFill>
                <ns6:latin typeface="Consolas"/>
                <ns6:ea typeface="Consolas"/>
                <ns6:cs typeface="Consolas"/>
              </ns6:rPr>
              <ns6:t>export async function GET() {</ns6:t>
            </ns6:r>
            <ns6:endParaRPr sz="1000"/>
          </ns6:p>
          <ns7:p xmlns:ns7="http://schemas.openxmlformats.org/drawingml/2006/main">
            <ns7:pPr marL="0" indent="0">
              <ns7:spcAft>
                <ns7:spcPts val="200"/>
              </ns7:spcAft>
              <ns7:buNone/>
            </ns7:pPr>
            <ns7:r>
              <ns7:rPr sz="1000">
                <ns7:solidFill>
                  <ns7:srgbClr val="F8FAFC"/>
                </ns7:solidFill>
                <ns7:latin typeface="Consolas"/>
                <ns7:ea typeface="Consolas"/>
                <ns7:cs typeface="Consolas"/>
              </ns7:rPr>
              <ns7:t>  const { data, error } = await db</ns7:t>
            </ns7:r>
            <ns7:endParaRPr sz="1000"/>
          </ns7:p>
          <ns8:p xmlns:ns8="http://schemas.openxmlformats.org/drawingml/2006/main">
            <ns8:pPr marL="0" indent="0">
              <ns8:spcAft>
                <ns8:spcPts val="200"/>
              </ns8:spcAft>
              <ns8:buNone/>
            </ns8:pPr>
            <ns8:r>
              <ns8:rPr sz="1000">
                <ns8:solidFill>
                  <ns8:srgbClr val="F8FAFC"/>
                </ns8:solidFill>
                <ns8:latin typeface="Consolas"/>
                <ns8:ea typeface="Consolas"/>
                <ns8:cs typeface="Consolas"/>
              </ns8:rPr>
              <ns8:t>    .from('public_demo').select('*')</ns8:t>
            </ns8:r>
            <ns8:endParaRPr sz="1000"/>
          </ns8:p>
          <ns9:p xmlns:ns9="http://schemas.openxmlformats.org/drawingml/2006/main">
            <ns9:pPr marL="0" indent="0">
              <ns9:spcAft>
                <ns9:spcPts val="200"/>
              </ns9:spcAft>
              <ns9:buNone/>
            </ns9:pPr>
            <ns9:r>
              <ns9:rPr sz="1000">
                <ns9:solidFill>
                  <ns9:srgbClr val="F8FAFC"/>
                </ns9:solidFill>
                <ns9:latin typeface="Consolas"/>
                <ns9:ea typeface="Consolas"/>
                <ns9:cs typeface="Consolas"/>
              </ns9:rPr>
              <ns9:t>  return Response.json(error ? { error: error.message } : data,</ns9:t>
            </ns9:r>
            <ns9:endParaRPr sz="1000"/>
          </ns9:p>
          <ns10:p xmlns:ns10="http://schemas.openxmlformats.org/drawingml/2006/main">
            <ns10:pPr marL="0" indent="0">
              <ns10:spcAft>
                <ns10:spcPts val="200"/>
              </ns10:spcAft>
              <ns10:buNone/>
            </ns10:pPr>
            <ns10:r>
              <ns10:rPr sz="1000">
                <ns10:solidFill>
                  <ns10:srgbClr val="F8FAFC"/>
                </ns10:solidFill>
                <ns10:latin typeface="Consolas"/>
                <ns10:ea typeface="Consolas"/>
                <ns10:cs typeface="Consolas"/>
              </ns10:rPr>
              <ns10:t>    { status: error ? 500 : 200 })</ns10:t>
            </ns10:r>
            <ns10:endParaRPr sz="1000"/>
          </ns10:p>
          <ns11:p xmlns:ns11="http://schemas.openxmlformats.org/drawingml/2006/main">
            <ns11:pPr marL="0" indent="0">
              <ns11:spcAft>
                <ns11:spcPts val="200"/>
              </ns11:spcAft>
              <ns11:buNone/>
            </ns11:pPr>
            <ns11:r>
              <ns11:rPr sz="1000">
                <ns11:solidFill>
                  <ns11:srgbClr val="F8FAFC"/>
                </ns11:solidFill>
                <ns11:latin typeface="Consolas"/>
                <ns11:ea typeface="Consolas"/>
                <ns11:cs typeface="Consolas"/>
              </ns11:rPr>
              <ns11:t>}</ns11:t>
            </ns11:r>
            <ns11:endParaRPr sz="1000"/>
          </ns11:p>
          <ns12:p xmlns:ns12="http://schemas.openxmlformats.org/drawingml/2006/main">
            <ns12:pPr marL="0" indent="0">
              <ns12:spcAft>
                <ns12:spcPts val="200"/>
              </ns12:spcAft>
              <ns12:buNone/>
            </ns12:pPr>
            <ns12:r>
              <ns12:rPr sz="1000">
                <ns12:solidFill>
                  <ns12:srgbClr val="F8FAFC"/>
                </ns12:solidFill>
                <ns12:latin typeface="Consolas"/>
                <ns12:ea typeface="Consolas"/>
                <ns12:cs typeface="Consolas"/>
              </ns12:rPr>
              <ns12:t>// Tabel public_demo perlu schema dan policy publik sendiri.</ns12:t>
            </ns12:r>
            <ns12:endParaRPr sz="1000"/>
          </ns12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5E45FB1-BA4B-4BE3-A0EE-543912C4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A775C700-93D8-4EA6-99A5-23014877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91C975A-B854-46B0-9573-09AF9478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0602432-92A2-42DE-9514-1D235658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046257B2-D1BC-4C8B-BE8A-CF218FC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E8D9A07-9E3A-44E4-A242-942681FC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46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Edge runtime: subset Web APIs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E4BB597-9C1F-41D8-B8E3-24EDA6C1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2120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app/api/hello/route.ts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Pilih edge runtime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export const runtime = 'edge'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export async function GET(req) 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return Response.json({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region: process.env.VERCEL_REGION,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timestamp: Date.now()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})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Node vs Edge runtime: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// + Edge: runtime ringan; ukur latensi nyata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// + Edge: lokasi eksekusi mengikuti konfigurasi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// - Edge: no Node API (fs, child_process)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// - Edge: package terbatas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Pilih Edge bila subset Web API cukup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Node.js default; uji performa dengan data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08400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D26A402-1EA0-43A9-8650-46879D56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7CF27B1-DE58-433A-9560-012FACEC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3E63008-FD90-4CC9-8AC6-171F4D5A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374A932-96C7-4EB3-AB2F-C4900C31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2FE21DF-6081-4D51-A178-A86DFD0E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3429787-A398-49D2-A7C6-4A864EB7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3BB8758-960D-47DE-BB63-846D95E3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d8ede94a34d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df928d6d74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491D1EE-8B83-48C9-AB4E-682F62B6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3CD6D0B-56FA-4A32-AFF5-9A0A3F06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 Domain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SSL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CAF3D35-68FB-47E6-8DA2-DA164A3E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1FBC9D9-1C42-484D-BCD6-FF781337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myapp.com bukan myapp.vercel.app - + SSL otomatis.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535429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7C604D-2DD2-46E3-BE4A-DC2E5342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C81055-C57B-4779-A321-E2495C85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2961574-1D78-450A-BCD4-9298AD1B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4dd9685094c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72474e3174d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98F1A4D-439D-42B5-9516-EF859BA2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CAB93C4-08B4-445A-9C8F-F6032058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Add Custom Domain - DNS Setup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D3FD4CD-7B78-4B98-B1F7-FCAF8A80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Hubungkan domain Anda (mis. budijuarto.com) ke deployment Vercel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268169A-1480-41CD-BF47-99B7324C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9436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72BDEC9-D161-43FE-8A29-5ABB1667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18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8264B80-8478-45E7-A43C-C839F2AD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1848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658027cd848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16916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85F2916C-5486-4332-93BD-7A89F0A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508760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Beli Domain</a:t>
            </a:r>
            <a:endParaRPr sz="13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C4A53D2-035E-4455-AC9D-02447685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74520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Cloudflare Registrar / Namecheap / Niagahoster. 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Harga domain bergantung registrar dan TLD</a:t>
            </a:r>
            <a:endParaRPr sz="10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A69014DB-6CE9-4669-AA19-5DC31C56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59436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B04B7EE0-BDA2-4115-A006-5E98E322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9C30B056-3D1A-4B32-B105-20E27E5D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3ef29d48d49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2743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992E668F-5FA3-42E7-AD32-A9B275A3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60320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Add Domain di Vercel</a:t>
            </a:r>
            <a:endParaRPr sz="13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FE376700-811E-4D43-BD61-239E8B3A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926080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Project Settings -&gt; Domains -&gt; Add. Pilih production (atau preview) deployment.</a:t>
            </a:r>
            <a:endParaRPr sz="105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C26A4757-F583-4C3D-9F4C-7850F75F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59436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185CA5F5-4A76-458F-8DBF-08E0080B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BBB6A30F-B787-4BCC-A60C-34CB29B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cccb7d2574f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37947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8F23D26C-E777-40F6-92F9-CC5A649A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611880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Set DNS Record</a:t>
            </a:r>
            <a:endParaRPr sz="13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BEE30034-460B-480B-9813-7A0B2A2C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977640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 registrar, tambah CNAME atau A record sesuai instruksi Vercel.</a:t>
            </a:r>
            <a:endParaRPr sz="105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2D8D422E-6F3B-4634-8D76-592E37CA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436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6C9DD9A9-DFD9-44C8-8661-8691A462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31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87E326ED-7F27-451D-9491-047F7E97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316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035343ff142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48463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57D73BC5-475B-4CBC-833C-4E2CC774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663440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Tunggu Propagasi</a:t>
            </a:r>
            <a:endParaRPr sz="13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5563BC9E-5C89-40B8-9764-A6DB1540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029200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Waktu propagasi DNS bervariasi. Ikuti status verifikasi di Vercel.</a:t>
            </a:r>
            <a:endParaRPr sz="105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C1674551-B084-475E-8C94-32C6DE52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17320"/>
            <a:ext cx="512064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AA56C89D-9F56-4778-BCF6-D7C71D41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17320"/>
            <a:ext cx="51206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FC65320F-4566-426D-86D8-0A126726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9D77473B-B98C-4757-A483-D1C35080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52367EA9-5ABE-4462-A3ED-96618104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B01F4155-DCAC-455E-B94F-FD14386C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41732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DNS records yang Vercel minta</a:t>
            </a:r>
            <a:endParaRPr sz="900"/>
          </a:p>
        </p:txBody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210A1CF5-1A29-4D83-B38C-74B401FE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83080"/>
            <a:ext cx="484632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Untuk APEX domain (budijuarto.com)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Type:   A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Name:   @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Value:  </a:t>
            </a: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&lt;IP_DARI_DASHBOARD_VERCEL&gt;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Untuk subdomain (app.budijuarto.com)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Type:   CNAME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Name:   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Value:  </a:t>
            </a: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&lt;CNAME_DARI_DASHBOARD_VERCEL&gt;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Verify dari CLI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dig budijuarto.com +short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&lt;IP_DARI_DASHBOARD_VERCEL&gt;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curl -I https://budijuarto.com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HTTP/2 200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server: Vercel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x-vercel-cache: HIT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345431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35AD17D-316E-4A21-A61D-401EDBF5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26E91C-06BA-415C-93B9-689954B1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5DA906D-CD33-4EE1-9C96-8ECF15AA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13c22fb204e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b5f7f2140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17D62CD-437E-4033-918A-18FAB8CB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BD01934-2BE6-44B1-A0D6-5B3BDA55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SSL Auto + Web Analytics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D987AD1-3147-490B-A2C7-19066292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HTTPS dari Let's Encrypt + Core Web Vitals monitoring built-in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1FD80EC-8F40-4D7E-8270-A1179D07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7945004-4665-4956-92E2-F88FA2E1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0b21a20ee4b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08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F7CFA2F8-A308-41DD-AD80-10A14772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417320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SSL/TLS Otomatis</a:t>
            </a:r>
            <a:endParaRPr sz="1400"/>
          </a:p>
        </p:txBody>
      </p:sp>
      <p:pic>
        <p:nvPicPr>
          <p:cNvPr id="7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91cbdbbc2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2402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D5C0E964-9D22-4396-BF88-114B00F7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488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Cert dari Let's Encrypt - free, trusted</a:t>
            </a:r>
            <a:endParaRPr sz="1100"/>
          </a:p>
        </p:txBody>
      </p:sp>
      <p:pic>
        <p:nvPicPr>
          <p:cNvPr id="7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91cbdbbc2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880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1DB9BE97-C019-47AB-95CD-C1198824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78892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Sertifikat terbit setelah domain terverifikasi</a:t>
            </a:r>
            <a:endParaRPr sz="1100"/>
          </a:p>
        </p:txBody>
      </p:sp>
      <p:pic>
        <p:nvPicPr>
          <p:cNvPr id="8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91cbdbbc2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520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358948E9-FCB4-499B-95C3-F284EDF2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2900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Platform mengelola perpanjangan sertifikat</a:t>
            </a:r>
            <a:endParaRPr sz="1100"/>
          </a:p>
        </p:txBody>
      </p:sp>
      <p:pic>
        <p:nvPicPr>
          <p:cNvPr id="8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91cbdbbc2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1605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493A94BF-5963-48EC-8A51-813C6CD3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6908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HTTP/2 + HTTP/3 built-in</a:t>
            </a:r>
            <a:endParaRPr sz="1100"/>
          </a:p>
        </p:txBody>
      </p:sp>
      <p:pic>
        <p:nvPicPr>
          <p:cNvPr id="8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91cbdbbc2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8006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40D66461-5052-44E2-B3AB-0AC3B61C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70916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Aktifkan HSTS setelah HTTPS terverifikasi</a:t>
            </a:r>
            <a:endParaRPr sz="1100"/>
          </a:p>
        </p:txBody>
      </p:sp>
      <p:pic>
        <p:nvPicPr>
          <p:cNvPr id="8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91cbdbbc2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4406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291CE98E-9162-4DA2-973D-953F9D77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3492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TLS 1.3 - cipher modern</a:t>
            </a:r>
            <a:endParaRPr sz="1100"/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624FC1A3-E774-4C22-8F53-29CAE939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16">
            <a:extLst xmlns:a="http://schemas.openxmlformats.org/drawingml/2006/main">
              <a:ext uri="{FF2B5EF4-FFF2-40B4-BE49-F238E27FC236}">
                <a16:creationId xmlns:a16="http://schemas.microsoft.com/office/drawing/2014/main" id="{7276CEA0-D1E3-43FD-BAD5-43CAA5B2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9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5d2bedefc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08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9" name="Text 17">
            <a:extLst xmlns:a="http://schemas.openxmlformats.org/drawingml/2006/main">
              <a:ext uri="{FF2B5EF4-FFF2-40B4-BE49-F238E27FC236}">
                <a16:creationId xmlns:a16="http://schemas.microsoft.com/office/drawing/2014/main" id="{1629D4C3-8561-4E4D-A1D0-FB889740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417320"/>
            <a:ext cx="4663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 Analytics + Vitals</a:t>
            </a:r>
            <a:endParaRPr sz="1400"/>
          </a:p>
        </p:txBody>
      </p:sp>
      <p:sp>
        <p:nvSpPr>
          <p:cNvPr id="30" name="Text 18">
            <a:extLst xmlns:a="http://schemas.openxmlformats.org/drawingml/2006/main">
              <a:ext uri="{FF2B5EF4-FFF2-40B4-BE49-F238E27FC236}">
                <a16:creationId xmlns:a16="http://schemas.microsoft.com/office/drawing/2014/main" id="{BD6FECE6-D203-4F04-B8DE-83C12D72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Real User Monitoring (RUM) - tracking metric real user</a:t>
            </a:r>
            <a:endParaRPr sz="1100"/>
          </a:p>
        </p:txBody>
      </p:sp>
      <p:sp>
        <p:nvSpPr>
          <p:cNvPr id="31" name="Shape 19">
            <a:extLst xmlns:a="http://schemas.openxmlformats.org/drawingml/2006/main">
              <a:ext uri="{FF2B5EF4-FFF2-40B4-BE49-F238E27FC236}">
                <a16:creationId xmlns:a16="http://schemas.microsoft.com/office/drawing/2014/main" id="{2FEA751D-DA4C-48EF-B386-D77B46A4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06040"/>
            <a:ext cx="25603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0">
            <a:extLst xmlns:a="http://schemas.openxmlformats.org/drawingml/2006/main">
              <a:ext uri="{FF2B5EF4-FFF2-40B4-BE49-F238E27FC236}">
                <a16:creationId xmlns:a16="http://schemas.microsoft.com/office/drawing/2014/main" id="{84055FFF-8C33-4068-8D97-599EC962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06040"/>
            <a:ext cx="640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3" name="Text 21">
            <a:extLst xmlns:a="http://schemas.openxmlformats.org/drawingml/2006/main">
              <a:ext uri="{FF2B5EF4-FFF2-40B4-BE49-F238E27FC236}">
                <a16:creationId xmlns:a16="http://schemas.microsoft.com/office/drawing/2014/main" id="{5D1C49A9-59BC-4445-B42B-CBDA5397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06040"/>
            <a:ext cx="640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LCP</a:t>
            </a:r>
            <a:endParaRPr sz="1400"/>
          </a:p>
        </p:txBody>
      </p:sp>
      <p:sp>
        <p:nvSpPr>
          <p:cNvPr id="34" name="Text 22">
            <a:extLst xmlns:a="http://schemas.openxmlformats.org/drawingml/2006/main">
              <a:ext uri="{FF2B5EF4-FFF2-40B4-BE49-F238E27FC236}">
                <a16:creationId xmlns:a16="http://schemas.microsoft.com/office/drawing/2014/main" id="{15A6A77B-6B26-4F81-A02D-321F4B5C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604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Largest Contentful Paint</a:t>
            </a:r>
            <a:endParaRPr sz="1000"/>
          </a:p>
        </p:txBody>
      </p:sp>
      <p:sp>
        <p:nvSpPr>
          <p:cNvPr id="35" name="Text 23">
            <a:extLst xmlns:a="http://schemas.openxmlformats.org/drawingml/2006/main">
              <a:ext uri="{FF2B5EF4-FFF2-40B4-BE49-F238E27FC236}">
                <a16:creationId xmlns:a16="http://schemas.microsoft.com/office/drawing/2014/main" id="{7D16F0A0-B5FA-465E-AFE4-27A14B97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1752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&lt; 2.5s</a:t>
            </a:r>
            <a:endParaRPr sz="900"/>
          </a:p>
        </p:txBody>
      </p:sp>
      <p:sp>
        <p:nvSpPr>
          <p:cNvPr id="36" name="Shape 24">
            <a:extLst xmlns:a="http://schemas.openxmlformats.org/drawingml/2006/main">
              <a:ext uri="{FF2B5EF4-FFF2-40B4-BE49-F238E27FC236}">
                <a16:creationId xmlns:a16="http://schemas.microsoft.com/office/drawing/2014/main" id="{25B5EDB9-8BB1-42C2-B180-0B71A06B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606040"/>
            <a:ext cx="25603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Shape 25">
            <a:extLst xmlns:a="http://schemas.openxmlformats.org/drawingml/2006/main">
              <a:ext uri="{FF2B5EF4-FFF2-40B4-BE49-F238E27FC236}">
                <a16:creationId xmlns:a16="http://schemas.microsoft.com/office/drawing/2014/main" id="{4626292B-14EE-459B-AD4D-77700625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606040"/>
            <a:ext cx="640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8" name="Text 26">
            <a:extLst xmlns:a="http://schemas.openxmlformats.org/drawingml/2006/main">
              <a:ext uri="{FF2B5EF4-FFF2-40B4-BE49-F238E27FC236}">
                <a16:creationId xmlns:a16="http://schemas.microsoft.com/office/drawing/2014/main" id="{EAD1643A-5654-4082-A46B-81245018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606040"/>
            <a:ext cx="640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</a:t>
            </a:r>
            <a:endParaRPr sz="1400"/>
          </a:p>
        </p:txBody>
      </p:sp>
      <p:sp>
        <p:nvSpPr>
          <p:cNvPr id="39" name="Text 27">
            <a:extLst xmlns:a="http://schemas.openxmlformats.org/drawingml/2006/main">
              <a:ext uri="{FF2B5EF4-FFF2-40B4-BE49-F238E27FC236}">
                <a16:creationId xmlns:a16="http://schemas.microsoft.com/office/drawing/2014/main" id="{8069A2CF-6998-42EA-98F8-D82C85E9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60604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Interaction to Next Paint</a:t>
            </a:r>
            <a:endParaRPr sz="1000"/>
          </a:p>
        </p:txBody>
      </p:sp>
      <p:sp>
        <p:nvSpPr>
          <p:cNvPr id="40" name="Text 28">
            <a:extLst xmlns:a="http://schemas.openxmlformats.org/drawingml/2006/main">
              <a:ext uri="{FF2B5EF4-FFF2-40B4-BE49-F238E27FC236}">
                <a16:creationId xmlns:a16="http://schemas.microsoft.com/office/drawing/2014/main" id="{756384DF-A8F0-4497-A146-F3961185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01752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≤ 200 ms</a:t>
            </a:r>
            <a:endParaRPr sz="900"/>
          </a:p>
        </p:txBody>
      </p:sp>
      <p:sp>
        <p:nvSpPr>
          <p:cNvPr id="41" name="Shape 29">
            <a:extLst xmlns:a="http://schemas.openxmlformats.org/drawingml/2006/main">
              <a:ext uri="{FF2B5EF4-FFF2-40B4-BE49-F238E27FC236}">
                <a16:creationId xmlns:a16="http://schemas.microsoft.com/office/drawing/2014/main" id="{217D673D-CD6B-4373-95C7-B7DB0957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66160"/>
            <a:ext cx="25603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2" name="Shape 30">
            <a:extLst xmlns:a="http://schemas.openxmlformats.org/drawingml/2006/main">
              <a:ext uri="{FF2B5EF4-FFF2-40B4-BE49-F238E27FC236}">
                <a16:creationId xmlns:a16="http://schemas.microsoft.com/office/drawing/2014/main" id="{C36DF40A-367C-4FD9-9D82-B838625B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66160"/>
            <a:ext cx="640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3" name="Text 31">
            <a:extLst xmlns:a="http://schemas.openxmlformats.org/drawingml/2006/main">
              <a:ext uri="{FF2B5EF4-FFF2-40B4-BE49-F238E27FC236}">
                <a16:creationId xmlns:a16="http://schemas.microsoft.com/office/drawing/2014/main" id="{ADB1D65A-1F27-4472-AA83-7DA84FF0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66160"/>
            <a:ext cx="640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CLS</a:t>
            </a:r>
            <a:endParaRPr sz="1400"/>
          </a:p>
        </p:txBody>
      </p:sp>
      <p:sp>
        <p:nvSpPr>
          <p:cNvPr id="44" name="Text 32">
            <a:extLst xmlns:a="http://schemas.openxmlformats.org/drawingml/2006/main">
              <a:ext uri="{FF2B5EF4-FFF2-40B4-BE49-F238E27FC236}">
                <a16:creationId xmlns:a16="http://schemas.microsoft.com/office/drawing/2014/main" id="{17836E53-BEE3-4F53-8DE7-1F944E6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616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Cumulative Layout Shift</a:t>
            </a:r>
            <a:endParaRPr sz="1000"/>
          </a:p>
        </p:txBody>
      </p:sp>
      <p:sp>
        <p:nvSpPr>
          <p:cNvPr id="45" name="Text 33">
            <a:extLst xmlns:a="http://schemas.openxmlformats.org/drawingml/2006/main">
              <a:ext uri="{FF2B5EF4-FFF2-40B4-BE49-F238E27FC236}">
                <a16:creationId xmlns:a16="http://schemas.microsoft.com/office/drawing/2014/main" id="{7D0B0BF7-0051-45C9-9A50-3F4CD834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7764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&lt; 0.1</a:t>
            </a:r>
            <a:endParaRPr sz="900"/>
          </a:p>
        </p:txBody>
      </p:sp>
      <p:sp>
        <p:nvSpPr>
          <p:cNvPr id="46" name="Shape 34">
            <a:extLst xmlns:a="http://schemas.openxmlformats.org/drawingml/2006/main">
              <a:ext uri="{FF2B5EF4-FFF2-40B4-BE49-F238E27FC236}">
                <a16:creationId xmlns:a16="http://schemas.microsoft.com/office/drawing/2014/main" id="{7FF57EE5-B229-4F14-9C8B-D09A43E4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566160"/>
            <a:ext cx="25603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35">
            <a:extLst xmlns:a="http://schemas.openxmlformats.org/drawingml/2006/main">
              <a:ext uri="{FF2B5EF4-FFF2-40B4-BE49-F238E27FC236}">
                <a16:creationId xmlns:a16="http://schemas.microsoft.com/office/drawing/2014/main" id="{DED467D2-ABA8-4502-B973-653004AF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566160"/>
            <a:ext cx="640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8" name="Text 36">
            <a:extLst xmlns:a="http://schemas.openxmlformats.org/drawingml/2006/main">
              <a:ext uri="{FF2B5EF4-FFF2-40B4-BE49-F238E27FC236}">
                <a16:creationId xmlns:a16="http://schemas.microsoft.com/office/drawing/2014/main" id="{7181C25B-6329-4300-8AA1-3C6C75F0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566160"/>
            <a:ext cx="640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TTFB</a:t>
            </a:r>
            <a:endParaRPr sz="1400"/>
          </a:p>
        </p:txBody>
      </p:sp>
      <p:sp>
        <p:nvSpPr>
          <p:cNvPr id="49" name="Text 37">
            <a:extLst xmlns:a="http://schemas.openxmlformats.org/drawingml/2006/main">
              <a:ext uri="{FF2B5EF4-FFF2-40B4-BE49-F238E27FC236}">
                <a16:creationId xmlns:a16="http://schemas.microsoft.com/office/drawing/2014/main" id="{50AF7F8B-7418-44CE-AD79-5841AA07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56616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Time to First Byte</a:t>
            </a:r>
            <a:endParaRPr sz="1000"/>
          </a:p>
        </p:txBody>
      </p:sp>
      <p:sp>
        <p:nvSpPr>
          <p:cNvPr id="50" name="Text 38">
            <a:extLst xmlns:a="http://schemas.openxmlformats.org/drawingml/2006/main">
              <a:ext uri="{FF2B5EF4-FFF2-40B4-BE49-F238E27FC236}">
                <a16:creationId xmlns:a16="http://schemas.microsoft.com/office/drawing/2014/main" id="{4F58CA63-85C9-4A1D-AF6F-EA5C18A5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97764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&lt; 600ms</a:t>
            </a:r>
            <a:endParaRPr sz="900"/>
          </a:p>
        </p:txBody>
      </p:sp>
      <p:sp>
        <p:nvSpPr>
          <p:cNvPr id="51" name="Shape 39">
            <a:extLst xmlns:a="http://schemas.openxmlformats.org/drawingml/2006/main">
              <a:ext uri="{FF2B5EF4-FFF2-40B4-BE49-F238E27FC236}">
                <a16:creationId xmlns:a16="http://schemas.microsoft.com/office/drawing/2014/main" id="{1BFB1AF2-33C5-407E-A3AC-A20887BB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00"/>
            <a:ext cx="521208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92A19231-11DD-4986-8D08-95B5CCA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6634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Enable Web Analytics di Vercel:</a:t>
            </a:r>
            <a:endParaRPr sz="1000"/>
          </a:p>
        </p:txBody>
      </p:sp>
      <p:sp>
        <p:nvSpPr>
          <p:cNvPr id="53" name="Text 41">
            <a:extLst xmlns:a="http://schemas.openxmlformats.org/drawingml/2006/main">
              <a:ext uri="{FF2B5EF4-FFF2-40B4-BE49-F238E27FC236}">
                <a16:creationId xmlns:a16="http://schemas.microsoft.com/office/drawing/2014/main" id="{375EC797-FC20-44F3-8ED4-D80263FB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937760"/>
            <a:ext cx="5029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npm i @vercel/analytics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app/layout.tsx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{ Analytics } from '@vercel/analytics/react'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&lt;Analytics /&gt;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264048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7DA9EF0-870F-4AE9-8269-AF923C61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95A1C7E-EF67-4F39-B3BC-A685E391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3A6A65-5C04-426C-9DB5-A612DCD4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55D776F-C6C8-4B08-A862-3BE1B3AB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375AC51-FFCD-4482-915A-FFFEDF7B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2E87FB0-ED2D-40D5-A7C9-C880E5A3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FDD6AB4-F6BA-4297-8FAE-E7A46CC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1299f9feb4a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1039ff22f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9ECB4A9-C956-4428-A4F8-97F50F43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07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6D9A494-50D3-4F09-887A-6B8CF594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Tips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29C58AD-D27A-4BC3-B946-91A71F4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1FDACAE-24A2-4FA8-B80B-F6F765D0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Free tier limits, common pitfalls, dan kapan upgrade.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9503228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9E0B84A-EDBD-4B23-9FE0-7A771067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8B757D-1515-4187-8918-D29C18D2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BECB130-079E-482B-808C-A70163DC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f577e587e4b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042956b064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290F92D-14E2-48D8-818D-2B2A095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F9D695A-9DF6-459A-98E3-AD2CF5B4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Hobby (Free) Tier + Kapan Upgrade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DD174D6-F228-4D3A-AEBF-9D8D789C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Yang gratis, yang harus diwaspadai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24A8925-BB58-4899-85D9-E7E8BBFA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2120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13457D7-4442-43E3-B785-284C2E74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95CB2F8-628D-4573-9C53-905BD674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212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Hobby Tier Specs (Free)</a:t>
            </a:r>
            <a:endParaRPr sz="13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B6B2ECE-159A-492B-8405-38841B52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A5532CE-852E-47A1-BA04-4473318C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Bandwidth: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FE94A94-1019-47A0-BAF5-7A5FED1B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01168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Cek kuota resmi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4BF09E2-1FFC-4377-AE1C-DAB50092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6032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C51F421-2E12-49D1-A52D-30C2B36F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Function exec: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19F877DA-3CA6-4E45-B37B-B997AE67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56032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Cek kuota resmi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34FE0DD-2B07-4CE7-8F16-E93CE225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0768DA68-7848-449F-9DAD-E5891914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Build minutes:</a:t>
            </a:r>
            <a:endParaRPr sz="11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43AF576-8D26-4581-8666-8A1F6712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10896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Cek kuota resmi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400031-A006-4EEF-B936-82C6F69D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4A6B3BEE-6B39-452A-960B-5A200F5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Image opt: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0E01A8E-1C57-4CBE-A5A8-021D0025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65760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Cek kuota resmi</a:t>
            </a:r>
            <a:endParaRPr sz="11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44357999-E352-446E-86CA-54A58AF8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4211FC72-D865-4B3B-B872-63AB538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0624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Edge requests:</a:t>
            </a:r>
            <a:endParaRPr sz="11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83E8FE6-92D2-4BE5-BB21-EB2BC162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20624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Cek kuota resmi</a:t>
            </a:r>
            <a:endParaRPr sz="11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86E73D06-BEE4-4277-8EE4-8459C38E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139BCAA-03FE-45BF-A68B-1EDB0DD4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5488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Team members: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77DE3162-32AD-4D7C-AB33-A6C513E9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75488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Kolaborasi terbatas</a:t>
            </a:r>
            <a:endParaRPr sz="11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C21AB9EA-F2B8-4246-ADB3-EEE0F98B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7CF80A5-23AD-4FCA-A42A-A4B58A10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0352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Commercial use:</a:t>
            </a:r>
            <a:endParaRPr sz="11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A69C120-FA6A-493B-93D9-6951AE72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0352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DC2626"/>
                </a:solidFill>
                <a:latin typeface="Consolas"/>
                <a:ea typeface="Consolas"/>
                <a:cs typeface="Consolas"/>
              </a:rPr>
              <a:t>Nonkomersial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FC41B972-2D04-4AE7-AB67-86219645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17320"/>
            <a:ext cx="585216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07733580-699F-4B77-9D9C-5C4EC94E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17320"/>
            <a:ext cx="5852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C14E3117-4A76-4FB3-9087-3A6623E9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1732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Kapan perlu paket Pro?</a:t>
            </a:r>
            <a:endParaRPr sz="1300"/>
          </a:p>
        </p:txBody>
      </p:sp>
      <p:pic>
        <p:nvPicPr>
          <p:cNvPr id="9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0498dea03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2103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BB7FF7A8-859C-4DDD-8615-CAE04385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116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Commercial / monetisasi</a:t>
            </a:r>
            <a:endParaRPr sz="1100"/>
          </a:p>
        </p:txBody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3E60B717-3124-493D-B93C-BE1D5DC4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011680"/>
            <a:ext cx="2788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Hobby tier TOS larang commercial use</a:t>
            </a:r>
            <a:endParaRPr sz="1000"/>
          </a:p>
        </p:txBody>
      </p:sp>
      <p:pic>
        <p:nvPicPr>
          <p:cNvPr id="10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0498dea03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27889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8DE99648-7B62-4CA0-80A1-1BE54FED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974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Pemakaian melewati kuota</a:t>
            </a:r>
            <a:endParaRPr sz="1100"/>
          </a:p>
        </p:txBody>
      </p:sp>
      <p:sp>
        <p:nvSpPr>
          <p:cNvPr id="42" name="Text 36">
            <a:extLst xmlns:a="http://schemas.openxmlformats.org/drawingml/2006/main">
              <a:ext uri="{FF2B5EF4-FFF2-40B4-BE49-F238E27FC236}">
                <a16:creationId xmlns:a16="http://schemas.microsoft.com/office/drawing/2014/main" id="{93FD050F-4B8E-4BCA-9CE1-F59F4023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697480"/>
            <a:ext cx="2788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Biaya sesuai paket dan penggunaan</a:t>
            </a:r>
            <a:endParaRPr sz="1000"/>
          </a:p>
        </p:txBody>
      </p:sp>
      <p:pic>
        <p:nvPicPr>
          <p:cNvPr id="10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a8bd6e350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3474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60FBC0B2-38DB-418F-BF17-00EEB3BE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3832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Team collaboration</a:t>
            </a:r>
            <a:endParaRPr sz="11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2E95E75D-46C3-4646-A896-DAA562EC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383280"/>
            <a:ext cx="2788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Pro: invite member, comment, role-based</a:t>
            </a:r>
            <a:endParaRPr sz="1000"/>
          </a:p>
        </p:txBody>
      </p:sp>
      <p:pic>
        <p:nvPicPr>
          <p:cNvPr id="10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a8bd6e350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41605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7" name="Text 39">
            <a:extLst xmlns:a="http://schemas.openxmlformats.org/drawingml/2006/main">
              <a:ext uri="{FF2B5EF4-FFF2-40B4-BE49-F238E27FC236}">
                <a16:creationId xmlns:a16="http://schemas.microsoft.com/office/drawing/2014/main" id="{DE286B51-7F0A-4D5F-9719-E0F9A39A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690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Password protection</a:t>
            </a:r>
            <a:endParaRPr sz="1100"/>
          </a:p>
        </p:txBody>
      </p:sp>
      <p:sp>
        <p:nvSpPr>
          <p:cNvPr id="48" name="Text 40">
            <a:extLst xmlns:a="http://schemas.openxmlformats.org/drawingml/2006/main">
              <a:ext uri="{FF2B5EF4-FFF2-40B4-BE49-F238E27FC236}">
                <a16:creationId xmlns:a16="http://schemas.microsoft.com/office/drawing/2014/main" id="{4305810D-1F8C-4043-B54F-32795C0E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069080"/>
            <a:ext cx="2788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Pro: protect preview deployment dgn password</a:t>
            </a:r>
            <a:endParaRPr sz="1000"/>
          </a:p>
        </p:txBody>
      </p:sp>
      <p:pic>
        <p:nvPicPr>
          <p:cNvPr id="11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a8bd6e350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48463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FF0D0603-93A9-4776-A2A3-837065F8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7548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More function timeout</a:t>
            </a:r>
            <a:endParaRPr sz="1100"/>
          </a:p>
        </p:txBody>
      </p:sp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1F14C509-02AF-46EB-A826-269CAF8C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754880"/>
            <a:ext cx="2788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Durasi tergantung Fluid Compute; cek dokumentasi resmi</a:t>
            </a:r>
            <a:endParaRPr sz="1000"/>
          </a:p>
        </p:txBody>
      </p:sp>
      <p:pic>
        <p:nvPicPr>
          <p:cNvPr id="113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a8bd6e350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5532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53" name="Text 43">
            <a:extLst xmlns:a="http://schemas.openxmlformats.org/drawingml/2006/main">
              <a:ext uri="{FF2B5EF4-FFF2-40B4-BE49-F238E27FC236}">
                <a16:creationId xmlns:a16="http://schemas.microsoft.com/office/drawing/2014/main" id="{0DA91658-406F-4D5B-9B91-173FFA95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4406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DDoS Mitigation</a:t>
            </a:r>
            <a:endParaRPr sz="1100"/>
          </a:p>
        </p:txBody>
      </p:sp>
      <p:sp>
        <p:nvSpPr>
          <p:cNvPr id="54" name="Text 44">
            <a:extLst xmlns:a="http://schemas.openxmlformats.org/drawingml/2006/main">
              <a:ext uri="{FF2B5EF4-FFF2-40B4-BE49-F238E27FC236}">
                <a16:creationId xmlns:a16="http://schemas.microsoft.com/office/drawing/2014/main" id="{C17C8B0F-35CE-4BF9-802F-00D9023F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5440680"/>
            <a:ext cx="2788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Pro: enhanced + dedicated support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717175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6DD00B-4BF6-45A7-9D81-A1CFCA35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441E9A-8CED-4808-AF28-3761AFA5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2CD9B2-7200-4EE6-BE4D-0C4AF9DB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187b6cb0d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be2d4286445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99C54B9-D556-4042-B2CA-BF833A38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A717B21-CBE0-4B07-8FC8-FF0A1275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Common Pitfalls + Troubleshooting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49FA752-B8DE-432B-8AD7-2F75F57D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Masalah yang akan Anda temui di praktikum + cara fix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56EF542-F3A1-479B-8C6C-D83AAD2A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90D98D2-AFB0-46F2-ABC0-7EA281D9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EEC7B75-5A76-4FCB-959C-A7BAE7F8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fail di Vercel, OK di local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A71F8F7-9396-469F-A505-3FD6F890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Case-sensitive filesystem (Linux) vs macOS/Windows. Import 'Button' != 'button'.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88EEED9-E1CD-4F02-B799-D6EDEAA7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1776E2E-8E7B-410D-AD92-908E7D83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case import. Run 'next build' local sebelum push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6B1D064-D7CD-40F1-966A-DFB07877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759C378-BA8B-4E7C-9B7D-772A2962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B0745A7-269D-4A82-BCBA-D66EE190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Env var tidak terbaca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17CBDE6-89AA-4D9A-9996-B3B96A78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 di Vercel dashboard tapi NEXT_PUBLIC_ tidak ada -&gt; client tidak dapat.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BEE7E186-4A94-4871-BF6B-F91C873E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E01A091-A25B-4D92-8418-F04B6BBA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Prefix NEXT_PUBLIC_ untuk client-side var. Redeploy setelah set.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7671D16C-D78A-412C-8944-174A91CE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49B38156-3154-4041-9ED1-36E8DC68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59E17904-A29C-43AB-8C75-C0093FCB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Function timeout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91EF045-8BF7-4BF3-A1D9-02AC8722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Long-running task (PDF gen, image process) timeout di Hobby tier.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876E57B2-B861-48AF-9CB3-01831F15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CA962F8D-63A6-4AC9-8BEF-7900964D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718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Optimalkan pekerjaan, gunakan background job, atau cek paket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082C992B-53A3-44DD-B4B1-79100CDA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1D8F15F-B150-4535-9B42-47629B76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D3940A9-C36B-428D-81D2-AF21BD8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Bundle size warning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B2032840-2E62-4DD7-8399-18B3A9F1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JS bundle &gt; 1 MB - load slow di mobile / slow network.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9AE7B764-CB25-4183-BC52-9C63009E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A95246D-1960-4A07-9BD0-528A098D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Dynamic import untuk komponen besar, code-split per route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AA8AB1CA-613F-4AE4-B9E8-40E93D98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FBC2D136-D419-44F4-B37E-212642A9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F3FEE4E6-82A4-4265-9DA3-1F22B543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ISR tidak revalidate</a:t>
            </a:r>
            <a:endParaRPr sz="12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639344AD-AEB7-441C-B1DF-23433EDC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Page sudah update di source, tapi production masih lama.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074D5C1E-2B77-413D-AFFE-6EAA221A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EB6441AC-DCD4-48EA-A372-6EBD60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92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Gunakan revalidate atau revalidateTag() sesuai App Router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28C5C0C4-0E2C-4207-BA59-AC849320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4D0C4528-D8FD-4070-AD90-8C11A900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DAAD4D88-6318-454E-8231-FB89A054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CORS error pada API call</a:t>
            </a:r>
            <a:endParaRPr sz="12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73E09EB-A28F-480D-9D11-D21E7FA6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Frontend call API di domain lain dapat CORS error.</a:t>
            </a:r>
            <a:endParaRPr sz="10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B6479E04-BF04-48FC-BA6E-9FFCF3A8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D1A5DB4E-E1EF-458B-BBA3-8DEAAC2B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492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 CORS header di route handler, atau pakai Next.js rewrites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75631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DE26AF-A1BA-4257-97C4-CF618419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A6C68A-0B52-4C2E-9C0B-70CCCD1C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949E52-C879-4258-A8A1-BC902C70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9964d93564a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3711cec3843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02EAFA2-F648-4B0C-B8A3-B6252524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760FBD8-4A2C-4F51-8C7F-D23205BD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Vercel CLI - Commands Sehari-Hari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885AD87-BAC6-48AD-A02C-576AC3B9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Power user workflow lewat terminal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65A40D-A96C-4D97-B584-C32EF5A8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1E3174C-7F24-42E8-AF39-2C045E26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3801526-5173-400E-A2DD-7A4AAAA0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</a:t>
            </a:r>
            <a:endParaRPr sz="10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7114B86-E9DD-47E4-84DC-28E60C10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 project current ke preview URL</a:t>
            </a:r>
            <a:endParaRPr sz="10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1CD75ED-628E-405B-B7AB-3C14394F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6F863DBA-D71A-420E-95E6-A47E12D7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7462A9B-AED6-4347-8365-0351867E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--prod</a:t>
            </a:r>
            <a:endParaRPr sz="105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DD988E77-0140-4A09-BF4D-74E3F098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28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 langsung ke production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784DD3D-5A35-4B71-8F9D-385F736A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6F8F31C-FA80-45A0-BB25-0C767835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8FA8AB3-DCB5-459B-AE9E-E45E5AE7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dev</a:t>
            </a:r>
            <a:endParaRPr sz="105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085F092-5D75-4E55-92D7-8AB48335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828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Run dev server local dgn env Vercel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01522D2-69FD-4BAB-B009-782EED20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BF90F6E-B07B-405F-B8A8-7C259890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FC67389-042F-40A7-B3FA-6A049F76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env add KEY</a:t>
            </a:r>
            <a:endParaRPr sz="10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42F0D89-C00A-41D2-AEC4-361BA2E8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Tambah env var (prompt interactive)</a:t>
            </a:r>
            <a:endParaRPr sz="10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75CC60D6-918C-41CE-81D5-B19FE0B7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60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CEC2729D-2201-4DC7-AD3C-9C390BAB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60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10CE4465-769C-407B-9595-6F310755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560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env pull</a:t>
            </a:r>
            <a:endParaRPr sz="105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2C6223CB-CFC3-4BD8-96FD-35E70E00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71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Download env ke .env.local</a:t>
            </a:r>
            <a:endParaRPr sz="10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7518D179-D429-420D-AF93-F0698B86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60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6971BDB6-3EF3-4A93-B57B-1D82EE02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60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7FDF13D4-820A-4A4F-90C9-0359EE23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560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env ls</a:t>
            </a:r>
            <a:endParaRPr sz="105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40D5366B-5211-405E-A4C7-E931DF4A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71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List semua env var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C4909219-9D9E-40C4-BAAA-D0AD2370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C1353758-0D8B-435B-B34E-FF9F3C6C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E1208511-E8B3-44DB-8CE0-42AF88EB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logs &lt;url&gt;</a:t>
            </a:r>
            <a:endParaRPr sz="105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E518E366-0E09-4975-BB40-F76C0464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Lihat runtime log dari deployment</a:t>
            </a:r>
            <a:endParaRPr sz="10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241F1E6C-14B4-4B13-BE67-3D6B6013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03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640C8BA6-773F-4112-B8DA-7426C1B9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03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FB73D5EA-C165-4D8B-95FA-D762E093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03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inspect &lt;url&gt;</a:t>
            </a:r>
            <a:endParaRPr sz="105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2C60428-67A0-46E7-94F0-18E65A2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114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Detail deployment (build log, fn list)</a:t>
            </a:r>
            <a:endParaRPr sz="10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BA8BB799-6A2F-44D2-8C7B-852ED75D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03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1E56CF35-8ED4-4E8B-B36E-733B7A33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03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B60C1065-D62C-4527-929F-9A700F36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03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domains add</a:t>
            </a:r>
            <a:endParaRPr sz="105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73128791-5123-4E44-B83F-951E96BD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114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Tambah custom domain</a:t>
            </a:r>
            <a:endParaRPr sz="1000"/>
          </a:p>
        </p:txBody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6027FF66-8262-4BF1-8379-A2A796A1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6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D03F25D1-0855-47F5-887C-81256D6F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6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828F65DF-5573-40AB-A452-7B7B5868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46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rollback &lt;url&gt;</a:t>
            </a:r>
            <a:endParaRPr sz="105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31C56C88-C71B-41E7-B7A9-3D0265FE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Rollback ke deployment lama</a:t>
            </a:r>
            <a:endParaRPr sz="1000"/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1E5B703F-8331-4082-9DCA-47634A92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846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BE97AAE8-B2B3-4E93-BE08-167C85FD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846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60405AEC-67CD-4EB8-B176-021AE71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846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project rm</a:t>
            </a:r>
            <a:endParaRPr sz="1050"/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4C758764-03DC-4CE1-BBE2-0FECB552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257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Hapus project</a:t>
            </a:r>
            <a:endParaRPr sz="1000"/>
          </a:p>
        </p:txBody>
      </p:sp>
      <p:sp>
        <p:nvSpPr>
          <p:cNvPr id="54" name="Shape 50">
            <a:extLst xmlns:a="http://schemas.openxmlformats.org/drawingml/2006/main">
              <a:ext uri="{FF2B5EF4-FFF2-40B4-BE49-F238E27FC236}">
                <a16:creationId xmlns:a16="http://schemas.microsoft.com/office/drawing/2014/main" id="{4B32BB65-A11F-4D4E-8C67-78979FA1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5" name="Shape 51">
            <a:extLst xmlns:a="http://schemas.openxmlformats.org/drawingml/2006/main">
              <a:ext uri="{FF2B5EF4-FFF2-40B4-BE49-F238E27FC236}">
                <a16:creationId xmlns:a16="http://schemas.microsoft.com/office/drawing/2014/main" id="{0984CAA9-B0E0-435A-908E-4751985E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43A6997B-7705-454E-B998-F801E519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846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vercel ls</a:t>
            </a:r>
            <a:endParaRPr sz="1050"/>
          </a:p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23926ED6-C286-4545-95C0-D0A45CFE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5780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List semua project di account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23832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F2A7C3-B261-4372-96D6-DCEABAC8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6F0A29-0F4A-489A-8E12-BE6B8B28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EE1D0DB-17EE-4E93-A7B4-5DB329E3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4f044796842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e919c25d24a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BC8C550-CAE3-475F-828C-64E76AAE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B522E0A-12B0-434C-875E-896A2AAA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- Vercel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54F6864-50FB-4688-BC81-CBC262D5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Print, tempel di samping laptop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2A7AFCB-D5C1-482E-8402-BBB9B262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17E2EEA-93E9-47ED-BF05-DAF5272A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F28C019-105F-454D-BCA0-9DB67C14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Setup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F4AE9EC-DBA0-4563-951A-EC2B2679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vercel.com signup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Login w/ GitHub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Import repo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Auto-detect Next.js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Set env vars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First deploy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743045E-6775-45E4-86E2-5CB68FC7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0AFEF74-90C8-4482-BC39-A5FE1F56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4798E3A-447E-4C12-ABD0-C0FB6AB4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A05459C8-82C8-4CE7-841F-A1A2B7AB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 push (auto)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(preview)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--prod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Preview per PR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Rollback support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Custom domain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48A35321-96F8-45CF-81A4-7F071FC9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AAA333A-EDB5-4147-82FB-E64CA071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1F95D53-33A3-4A95-962F-4333E47C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B725049-5018-4637-871D-BC0125F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npm i -g vercel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login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dev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env pull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logs &lt;url&gt;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inspect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4C770DE9-D791-49AF-AAB8-FC728DAD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41C396F0-9B1D-47F1-96C6-E7520BF3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FDCB28E5-FC29-4ECC-BEBB-DDFE93A4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Env Vars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4AEE29F-E9D6-4F4F-9316-4BD87DB3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NEXT_PUBLIC_* client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Tanpa prefix = server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Per environment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env add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Redeploy after set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Pull ke .env.local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76E2378F-9866-4F2B-92AF-50DE9F4F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1BAF980E-78CF-48DC-91F8-4BBA02B3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8DBEA47-8853-4FF9-BCB5-ADF2A514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Edge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0D74E30C-778D-4BC1-834B-B39B3F40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jaringan global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Static auto-cached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SSR not cached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ISR + revalidate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runtime = 'edge'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Region: pilih dekat data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700DEF28-13AB-4D86-ADBC-489A9141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91B2F447-9AE4-4069-8F7D-C768A7DB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93BB25EC-0BA2-4835-A4C1-BE93EFF8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Next.js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8583C60E-3807-4010-AE27-B9CDAD64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App Router (13+)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Server Components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next/image opt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api/route.ts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use client directive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ISR + SSG mix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7EFA8FD0-9D7E-4959-B5AB-D9D413D1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80E6AEE0-7B72-4029-8FED-7AF69BFE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608E8B4B-75D6-4621-9776-8C49C3C4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Domain + SSL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427CAAD9-7DFB-43DB-A30D-88ED0F73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300"/>
              </ns0:spcAft>
              <ns0:buNone/>
            </ns0:pPr>
            <ns0:r>
              <ns0:rPr sz="1050">
                <ns0:solidFill>
                  <ns0:srgbClr val="F8FAFC"/>
                </ns0:solidFill>
                <ns0:latin typeface="Consolas"/>
                <ns0:ea typeface="Consolas"/>
                <ns0:cs typeface="Consolas"/>
              </ns0:rPr>
              <ns0:t>DNS A: lihat dashboard</ns0:t>
            </ns0:r>
            <ns0:endParaRPr sz="1050"/>
          </ns0:p>
          <ns1:p xmlns:ns1="http://schemas.openxmlformats.org/drawingml/2006/main">
            <ns1:pPr marL="0" indent="0">
              <ns1:spcAft>
                <ns1:spcPts val="300"/>
              </ns1:spcAft>
              <ns1:buNone/>
            </ns1:pPr>
            <ns1:r>
              <ns1:rPr sz="1050">
                <ns1:solidFill>
                  <ns1:srgbClr val="F8FAFC"/>
                </ns1:solidFill>
                <ns1:latin typeface="Consolas"/>
                <ns1:ea typeface="Consolas"/>
                <ns1:cs typeface="Consolas"/>
              </ns1:rPr>
              <ns1:t>DNS CNAME: lihat dashboard</ns1:t>
            </ns1:r>
            <ns1:endParaRPr sz="1050"/>
          </ns1:p>
          <ns2:p xmlns:ns2="http://schemas.openxmlformats.org/drawingml/2006/main">
            <ns2:pPr marL="0" indent="0">
              <ns2:spcAft>
                <ns2:spcPts val="300"/>
              </ns2:spcAft>
              <ns2:buNone/>
            </ns2:pPr>
            <ns2:r>
              <ns2:rPr sz="1050">
                <ns2:solidFill>
                  <ns2:srgbClr val="F8FAFC"/>
                </ns2:solidFill>
                <ns2:latin typeface="Consolas"/>
                <ns2:ea typeface="Consolas"/>
                <ns2:cs typeface="Consolas"/>
              </ns2:rPr>
              <ns2:t>SSL setelah domain valid</ns2:t>
            </ns2:r>
            <ns2:endParaRPr sz="1050"/>
          </ns2:p>
          <ns3:p xmlns:ns3="http://schemas.openxmlformats.org/drawingml/2006/main">
            <ns3:pPr marL="0" indent="0">
              <ns3:spcAft>
                <ns3:spcPts val="300"/>
              </ns3:spcAft>
              <ns3:buNone/>
            </ns3:pPr>
            <ns3:r>
              <ns3:rPr sz="1050">
                <ns3:solidFill>
                  <ns3:srgbClr val="F8FAFC"/>
                </ns3:solidFill>
                <ns3:latin typeface="Consolas"/>
                <ns3:ea typeface="Consolas"/>
                <ns3:cs typeface="Consolas"/>
              </ns3:rPr>
              <ns3:t>HSTS sesuai konfigurasi</ns3:t>
            </ns3:r>
            <ns3:endParaRPr sz="1050"/>
          </ns3:p>
          <ns4:p xmlns:ns4="http://schemas.openxmlformats.org/drawingml/2006/main">
            <ns4:pPr marL="0" indent="0">
              <ns4:spcAft>
                <ns4:spcPts val="300"/>
              </ns4:spcAft>
              <ns4:buNone/>
            </ns4:pPr>
            <ns4:r>
              <ns4:rPr sz="1050">
                <ns4:solidFill>
                  <ns4:srgbClr val="F8FAFC"/>
                </ns4:solidFill>
                <ns4:latin typeface="Consolas"/>
                <ns4:ea typeface="Consolas"/>
                <ns4:cs typeface="Consolas"/>
              </ns4:rPr>
              <ns4:t>HTTP/2 + HTTP/3</ns4:t>
            </ns4:r>
            <ns4:endParaRPr sz="1050"/>
          </ns4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4A2C32DF-8978-4654-8813-19E8FF49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30074EF6-8000-4FED-877D-994CB92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536782A8-4B5A-4D7F-937E-3142039F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Performance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A10D8A5-D1EC-42EC-9E61-F0CA3B03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300"/>
              </ns0:spcAft>
              <ns0:buNone/>
            </ns0:pPr>
            <ns0:r>
              <ns0:rPr sz="1050">
                <ns0:solidFill>
                  <ns0:srgbClr val="F8FAFC"/>
                </ns0:solidFill>
                <ns0:latin typeface="Consolas"/>
                <ns0:ea typeface="Consolas"/>
                <ns0:cs typeface="Consolas"/>
              </ns0:rPr>
              <ns0:t>Web Vitals: LCP/INP/CLS</ns0:t>
            </ns0:r>
            <ns0:endParaRPr sz="1050"/>
          </ns0:p>
          <ns1:p xmlns:ns1="http://schemas.openxmlformats.org/drawingml/2006/main">
            <ns1:pPr marL="0" indent="0">
              <ns1:spcAft>
                <ns1:spcPts val="300"/>
              </ns1:spcAft>
              <ns1:buNone/>
            </ns1:pPr>
            <ns1:r>
              <ns1:rPr sz="1050">
                <ns1:solidFill>
                  <ns1:srgbClr val="F8FAFC"/>
                </ns1:solidFill>
                <ns1:latin typeface="Consolas"/>
                <ns1:ea typeface="Consolas"/>
                <ns1:cs typeface="Consolas"/>
              </ns1:rPr>
              <ns1:t>@vercel/analytics</ns1:t>
            </ns1:r>
            <ns1:endParaRPr sz="1050"/>
          </ns1:p>
          <ns2:p xmlns:ns2="http://schemas.openxmlformats.org/drawingml/2006/main">
            <ns2:pPr marL="0" indent="0">
              <ns2:spcAft>
                <ns2:spcPts val="300"/>
              </ns2:spcAft>
              <ns2:buNone/>
            </ns2:pPr>
            <ns2:r>
              <ns2:rPr sz="1050">
                <ns2:solidFill>
                  <ns2:srgbClr val="F8FAFC"/>
                </ns2:solidFill>
                <ns2:latin typeface="Consolas"/>
                <ns2:ea typeface="Consolas"/>
                <ns2:cs typeface="Consolas"/>
              </ns2:rPr>
              <ns2:t>Image: next/image</ns2:t>
            </ns2:r>
            <ns2:endParaRPr sz="1050"/>
          </ns2:p>
          <ns3:p xmlns:ns3="http://schemas.openxmlformats.org/drawingml/2006/main">
            <ns3:pPr marL="0" indent="0">
              <ns3:spcAft>
                <ns3:spcPts val="300"/>
              </ns3:spcAft>
              <ns3:buNone/>
            </ns3:pPr>
            <ns3:r>
              <ns3:rPr sz="1050">
                <ns3:solidFill>
                  <ns3:srgbClr val="F8FAFC"/>
                </ns3:solidFill>
                <ns3:latin typeface="Consolas"/>
                <ns3:ea typeface="Consolas"/>
                <ns3:cs typeface="Consolas"/>
              </ns3:rPr>
              <ns3:t>Code-split routes</ns3:t>
            </ns3:r>
            <ns3:endParaRPr sz="1050"/>
          </ns3:p>
          <ns4:p xmlns:ns4="http://schemas.openxmlformats.org/drawingml/2006/main">
            <ns4:pPr marL="0" indent="0">
              <ns4:spcAft>
                <ns4:spcPts val="300"/>
              </ns4:spcAft>
              <ns4:buNone/>
            </ns4:pPr>
            <ns4:r>
              <ns4:rPr sz="1050">
                <ns4:solidFill>
                  <ns4:srgbClr val="F8FAFC"/>
                </ns4:solidFill>
                <ns4:latin typeface="Consolas"/>
                <ns4:ea typeface="Consolas"/>
                <ns4:cs typeface="Consolas"/>
              </ns4:rPr>
              <ns4:t>Runtime sesuai kebutuhan</ns4:t>
            </ns4:r>
            <ns4:endParaRPr sz="1050"/>
          </ns4:p>
          <ns5:p xmlns:ns5="http://schemas.openxmlformats.org/drawingml/2006/main">
            <ns5:pPr marL="0" indent="0">
              <ns5:spcAft>
                <ns5:spcPts val="300"/>
              </ns5:spcAft>
              <ns5:buNone/>
            </ns5:pPr>
            <ns5:r>
              <ns5:rPr sz="1050">
                <ns5:solidFill>
                  <ns5:srgbClr val="F8FAFC"/>
                </ns5:solidFill>
                <ns5:latin typeface="Consolas"/>
                <ns5:ea typeface="Consolas"/>
                <ns5:cs typeface="Consolas"/>
              </ns5:rPr>
              <ns5:t>Ukur bundle dan Web Vitals</ns5:t>
            </ns5:r>
            <ns5:endParaRPr sz="1050"/>
          </ns5:p>
        </p:txBody>
      </p:sp>
    </p:spTree>
    <p:extLst>
      <p:ext uri="{BB962C8B-B14F-4D97-AF65-F5344CB8AC3E}">
        <p14:creationId xmlns:p14="http://schemas.microsoft.com/office/powerpoint/2010/main" val="17070635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7ED01D-34F1-416E-B1E7-F0AECD3E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933567-CD33-47EF-871C-8F5AB97B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F474686-6F74-4C49-8354-0F7B9647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5c6fa2c0b4f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d373590c844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602D6A9-4555-472C-A52C-CD9A74FE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9743329-45C4-45A1-A2EC-8CBFF895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Wrap-Up &amp; Persiapan Pertemuan 9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48C80B9-8691-4E0C-A47A-E5D01948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Hugging Face Spaces + ML deployment minggu depan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BF9F128-5DD9-4761-BC6F-0756F6EE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Key Takeaways Hari Ini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DCEC8BA-604E-4501-9142-D6942A30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5658DB5-31CC-4B7C-829C-1FFCCBD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5BC10E8-D13F-4CE0-B482-920118C6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ns0:p xmlns:ns0="http://schemas.openxmlformats.org/drawingml/2006/main">
            <ns0:pPr marL="0" indent="0">
              <ns0:buNone/>
            </ns0:pPr>
            <ns0:r>
              <ns0:rPr sz="1050">
                <ns0:solidFill>
                  <ns0:srgbClr val="1E293B"/>
                </ns0:solidFill>
                <ns0:latin typeface="Calibri"/>
                <ns0:ea typeface="Calibri"/>
                <ns0:cs typeface="Calibri"/>
              </ns0:rPr>
              <ns0:t>SSG, SSR, dan ISR mengatur waktu rendering. Edge adalah pilihan runtime.</ns0:t>
            </ns0:r>
            <ns0:endParaRPr sz="1050"/>
          </ns0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4889BAB-1E15-4917-A589-4E510365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13BE8410-4CC6-40BA-AD5B-C1C7BD0A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C8ABE8C-5F55-489B-8CDE-FE14A2AB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dapat membangun dan deploy dari perubahan Git.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85F401C-0695-4A7D-91A5-D094D365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E5C1FF7-9691-4690-8FEF-65EFE4C8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13E5CD8-1356-4EDE-856C-E7D1CD28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Next.js + Vercel = zero-config + first-class integration.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817462DC-6F3F-47D8-BEEA-7E00260F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B168014-E99F-4B10-B124-0833DE5D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FD4444B-9E2F-489E-900F-6FA7DE15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Preview deployment per branch - QA sebelum merge.</a:t>
            </a:r>
            <a:endParaRPr sz="10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895EA56-D8F3-486A-A897-B170B221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976345D-8C8B-4BE5-ADBC-A761972E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B978299-033C-4F46-BC9E-B4C5A115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NEXT_PUBLIC_ untuk client-side env, tanpa prefix = server-only.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0CC28FB-C5B0-4570-AC63-5C2494DB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E9D8583-4EE1-46A5-A182-ACB6499C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1E30555-5840-42E7-A8FB-A3BBAEF5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Optimasi gambar dan runtime perlu diuji dengan Web Vitals.</a:t>
            </a:r>
            <a:endParaRPr sz="10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CC1486F4-43F8-43D4-96C0-4A84B53A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638981E1-6300-4FB9-9AF8-1CFE580E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1F788737-D194-4679-84E3-EC46494B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Periksa syarat paket Vercel sebelum deploy publik.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C493480C-A127-43EF-8863-271ABA3D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8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3180863b7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15FA2FAE-00CF-4519-B6AD-78C25A42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8 - LATIHAN SESI INI</a:t>
            </a:r>
            <a:endParaRPr sz="1100"/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F3AF5132-118F-40D7-879E-BDD4A401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Jalankan Cloud Notes Next.js dan uji deploy</a:t>
            </a:r>
            <a:endParaRPr sz="1300"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A1FA7FE5-DC3A-4F15-B81E-75467628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5120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Jalankan Cloud Notes Next.js secara lokal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Hubungkan API Lab 06 lewat route handler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 /api/notes, /api/health, /api/ready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Coba preview Git/Vercel bila akun tersedia</a:t>
            </a:r>
            <a:endParaRPr sz="1050"/>
          </a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9BC2F2DA-9BE0-4774-9B5C-EC0DD48D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48640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8faf403e84c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794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9B7EA6C6-97C1-49D3-93F1-BBBD8B2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PERTEMUAN 9</a:t>
            </a:r>
            <a:endParaRPr sz="1100"/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7B090651-C3DE-4F98-885F-E9BC590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196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Hugging Face Spaces</a:t>
            </a:r>
            <a:endParaRPr sz="1400"/>
          </a:p>
        </p:txBody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2B657490-EB68-4942-B644-1493D9CE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Gradio lokal; deploy HF Spaces jika akun memenuhi syarat.</a:t>
            </a:r>
            <a:endParaRPr sz="110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00E55FD3-5F9E-4019-B47C-8B50CAD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7d2c26eec4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25780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E74D7EAA-040A-4472-8EEB-944F5756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0749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Pertanyaan?</a:t>
            </a:r>
            <a:endParaRPr sz="22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1EBC6309-5D93-4658-BE1D-70EB8CF4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7784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Diskusi sebelum praktikum</a:t>
            </a:r>
            <a:endParaRPr sz="1200"/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7FFF30A8-0A17-417E-A5E1-3983B360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15331617-AEFC-4D04-89B3-CA87DD92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LO2 (Apply)</a:t>
            </a:r>
            <a:r>
              <a:rPr sz="1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  +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LO1 (Analyze)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2253426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F0A720E-6925-7892-06C9-02D9C401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800"/>
            <a:ext cx="88900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BINUS UNIVERSITY  |  Cloud Services  |  Pertemuan 8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9947C0-2ECD-E996-0662-5F250ED0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3100"/>
            <a:ext cx="112776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4690"/>
                </a:solidFill>
                <a:latin typeface="Calibri"/>
                <a:ea typeface="Calibri"/>
                <a:cs typeface="Calibri"/>
              </a:rPr>
              <a:t>Next.js App Router hingga deploy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3F22FE5-F676-40F1-19C5-77DB0D4F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i="1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Latihan kode dan perbedaan data server/client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C9B4BC-339B-8338-CC46-568B922F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0447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Gunakan versi Node.js yang didukung proyek Lab 08.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B6FE1A3-05D2-91A5-2EAB-BCD0BD3F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Bangun page, layout, komponen, serta route handler GET dan POST.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931668F-3485-7AFB-ACF1-53E2C875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6449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Bandingkan rendering statis, dinamis, dan revalidasi pada satu halaman.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F1D5CD-C11A-1AF8-0A17-D929B252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450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Supabase opsional; NEXT_PUBLIC_ hanya untuk nilai aman di browser.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E3AB908-3465-E3F9-7B42-7134A039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2451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Uji lokal, commit GitHub, lalu hubungkan repo ke Vercel di 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meet8CloudService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7DDDEC7-2787-A64E-BB53-7C3B27F2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3500"/>
            <a:ext cx="112776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Materi praktik: 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cc460a8e1bb4ae9"/>
              </a:rPr>
              <a:t>SeedFlora/meet8CloudService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  |  Sumber: RPS COMP6991031</a:t>
            </a:r>
          </a:p>
        </p:txBody>
      </p:sp>
    </p:spTree>
    <p:extLst>
      <p:ext uri="{BB962C8B-B14F-4D97-AF65-F5344CB8AC3E}">
        <p14:creationId xmlns:p14="http://schemas.microsoft.com/office/powerpoint/2010/main" val="2111608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75463-31AB-4B60-B277-5A39A205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BINUS UNIVERSITY  |  Cloud Services  |  Pertemuan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FCB3F-885B-4652-B295-7B8E8335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64C8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64C8C"/>
                </a:solidFill>
                <a:latin typeface="Arial"/>
                <a:ea typeface="Arial"/>
                <a:cs typeface="Arial"/>
              </a:rPr>
              <a:t>Dari Next.js ke Lab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9D933-8F5A-446F-AB1E-02557606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81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Kasus kerja: tim ingin UI Cloud Notes yang mudah diuji lokal dan punya pratinjau deploy setelah tiap perubahan Git.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85288-4EB3-4562-86A7-C87AA36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55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36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3678"/>
                </a:solidFill>
                <a:latin typeface="Arial"/>
                <a:ea typeface="Arial"/>
                <a:cs typeface="Arial"/>
              </a:rPr>
              <a:t>Sebelum praktikum (10–15 menit)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B133F-ED27-4FD3-8C17-01084E95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5810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Prediksi: mengapa URL localhost API Lab 06 tidak bisa dipakai dari deployment Vercel?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4080A-E263-4428-BF99-BBA9A997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69A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69AD"/>
                </a:solidFill>
                <a:latin typeface="Arial"/>
                <a:ea typeface="Arial"/>
                <a:cs typeface="Arial"/>
                <a:hlinkClick xmlns:r="http://schemas.openxmlformats.org/officeDocument/2006/relationships" r:id="R1160eda262954171"/>
              </a:rPr>
              <a:t>Bacaan: Deploy Git repositories with Vercel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D3171-6BF0-440C-B36E-D42C187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69A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69AD"/>
                </a:solidFill>
                <a:latin typeface="Arial"/>
                <a:ea typeface="Arial"/>
                <a:cs typeface="Arial"/>
                <a:hlinkClick xmlns:r="http://schemas.openxmlformats.org/officeDocument/2006/relationships" r:id="R5ae00f872abe4b62"/>
              </a:rPr>
              <a:t>Video: Vercel Foundations, Account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BC7B0-5014-42C6-8EC1-12A3D938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69A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69AD"/>
                </a:solidFill>
                <a:latin typeface="Arial"/>
                <a:ea typeface="Arial"/>
                <a:cs typeface="Arial"/>
                <a:hlinkClick xmlns:r="http://schemas.openxmlformats.org/officeDocument/2006/relationships" r:id="R84c9f17852e04baf"/>
              </a:rPr>
              <a:t>Buka repo Lab 08: SeedFlora/meet8CloudService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66551-3AE9-4838-A083-E315F799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Proyek kelompok 3 orang: presentasi UTS minggu 7 dan UAS minggu 14.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71312b8fc42b9"/>
          <a:stretch xmlns:a="http://schemas.openxmlformats.org/drawingml/2006/main"/>
        </p:blipFill>
        <p:spPr>
          <a:xfrm xmlns:a="http://schemas.openxmlformats.org/drawingml/2006/main">
            <a:off x="6534150" y="1970302"/>
            <a:ext cx="5200650" cy="29269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88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2026-10-07T18:59:25.1680000Z</dcterms:created>
  <dcterms:modified xsi:type="dcterms:W3CDTF">2026-10-07T18:59:25.1690000Z</dcterms:modified>
</coreProperties>
</file>